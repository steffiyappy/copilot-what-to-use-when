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earn.microsoft.com/en-us/microsoft-365/copilot/which-copilot-for-your-organization" TargetMode="External"/><Relationship Id="rId3" Type="http://schemas.openxmlformats.org/officeDocument/2006/relationships/hyperlink" Target="https://learn.microsoft.com/en-us/microsoft-365/copilot/cowork/" TargetMode="External"/><Relationship Id="rId4" Type="http://schemas.openxmlformats.org/officeDocument/2006/relationships/hyperlink" Target="https://learn.microsoft.com/en-us/microsoft-365/copilot/cowork/cowork-faq" TargetMode="External"/><Relationship Id="rId5" Type="http://schemas.openxmlformats.org/officeDocument/2006/relationships/hyperlink" Target="https://learn.microsoft.com/en-us/microsoft-copilot-studio/fundamentals-what-is-copilot-studio" TargetMode="External"/><Relationship Id="rId6" Type="http://schemas.openxmlformats.org/officeDocument/2006/relationships/hyperlink" Target="https://learn.microsoft.com/en-us/microsoft-365/copilot/extensibility/copilot-studio-experience" TargetMode="External"/><Relationship Id="rId7" Type="http://schemas.openxmlformats.org/officeDocument/2006/relationships/hyperlink" Target="https://learn.microsoft.com/en-us/microsoft-365/copilot/researcher-agent" TargetMode="External"/><Relationship Id="rId8" Type="http://schemas.openxmlformats.org/officeDocument/2006/relationships/hyperlink" Target="https://learn.microsoft.com/en-us/copilot/agents" TargetMode="External"/><Relationship Id="rId9" Type="http://schemas.openxmlformats.org/officeDocument/2006/relationships/hyperlink" Target="https://learn.microsoft.com/microsoft-scou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822960" y="1828800"/>
            <a:ext cx="9601200" cy="1645920"/>
          </a:xfrm>
        </p:spPr>
        <p:txBody>
          <a:bodyPr wrap="square"/>
          <a:lstStyle/>
          <a:p>
            <a:r>
              <a:rPr sz="3800" b="1">
                <a:solidFill>
                  <a:srgbClr val="F5F7FF"/>
                </a:solidFill>
                <a:latin typeface="Segoe UI"/>
              </a:rPr>
              <a:t>Copilot, Cowork, Studio &amp; Scout: what to use when</a:t>
            </a:r>
          </a:p>
        </p:txBody>
      </p:sp>
      <p:sp>
        <p:nvSpPr>
          <p:cNvPr id="3" name="Subtitle 2"/>
          <p:cNvSpPr>
            <a:spLocks noGrp="1"/>
          </p:cNvSpPr>
          <p:nvPr>
            <p:ph type="subTitle" idx="1"/>
          </p:nvPr>
        </p:nvSpPr>
        <p:spPr>
          <a:xfrm>
            <a:off x="841248" y="3703320"/>
            <a:ext cx="10058400" cy="1463040"/>
          </a:xfrm>
        </p:spPr>
        <p:txBody>
          <a:bodyPr wrap="square"/>
          <a:lstStyle/>
          <a:p>
            <a:r>
              <a:rPr sz="180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 Preview features are labelled and may change.</a:t>
            </a:r>
          </a:p>
        </p:txBody>
      </p:sp>
      <p:sp>
        <p:nvSpPr>
          <p:cNvPr id="4" name="Oval 3"/>
          <p:cNvSpPr/>
          <p:nvPr/>
        </p:nvSpPr>
        <p:spPr>
          <a:xfrm>
            <a:off x="10241280" y="-548640"/>
            <a:ext cx="2560320" cy="256032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5897880"/>
            <a:ext cx="5486400" cy="365760"/>
          </a:xfrm>
          <a:prstGeom prst="rect">
            <a:avLst/>
          </a:prstGeom>
          <a:noFill/>
        </p:spPr>
        <p:txBody>
          <a:bodyPr wrap="square" lIns="45720" rIns="45720" tIns="27432" bIns="27432">
            <a:spAutoFit/>
          </a:bodyPr>
          <a:lstStyle/>
          <a:p>
            <a:r>
              <a:rPr sz="14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The four tools at a glance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01</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Verbatim from Microsoft Learn and microsoft.com.</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Microsoft 365 Copilot</a:t>
            </a:r>
          </a:p>
          <a:p>
            <a:pPr>
              <a:lnSpc>
                <a:spcPct val="115000"/>
              </a:lnSpc>
              <a:spcAft>
                <a:spcPts val="700"/>
              </a:spcAft>
              <a:defRPr sz="1400">
                <a:solidFill>
                  <a:srgbClr val="F5F7FF"/>
                </a:solidFill>
                <a:latin typeface="Segoe UI"/>
              </a:defRPr>
            </a:pPr>
            <a:r>
              <a:t>•  Microsoft 365 Copilot Cowork</a:t>
            </a:r>
          </a:p>
          <a:p>
            <a:pPr>
              <a:lnSpc>
                <a:spcPct val="115000"/>
              </a:lnSpc>
              <a:spcAft>
                <a:spcPts val="700"/>
              </a:spcAft>
              <a:defRPr sz="1400">
                <a:solidFill>
                  <a:srgbClr val="F5F7FF"/>
                </a:solidFill>
                <a:latin typeface="Segoe UI"/>
              </a:defRPr>
            </a:pPr>
            <a:r>
              <a:t>•  Copilot Studio</a:t>
            </a:r>
          </a:p>
          <a:p>
            <a:pPr>
              <a:lnSpc>
                <a:spcPct val="115000"/>
              </a:lnSpc>
              <a:spcAft>
                <a:spcPts val="700"/>
              </a:spcAft>
              <a:defRPr sz="1400">
                <a:solidFill>
                  <a:srgbClr val="F5F7FF"/>
                </a:solidFill>
                <a:latin typeface="Segoe UI"/>
              </a:defRPr>
            </a:pPr>
            <a:r>
              <a:t>•  Microsoft Scout</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What should I use for each task?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02</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From simplest and fastest to most powerful and automated.</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Quick question, brainstorm, or short reply</a:t>
            </a:r>
          </a:p>
          <a:p>
            <a:pPr>
              <a:lnSpc>
                <a:spcPct val="115000"/>
              </a:lnSpc>
              <a:spcAft>
                <a:spcPts val="700"/>
              </a:spcAft>
              <a:defRPr sz="1400">
                <a:solidFill>
                  <a:srgbClr val="F5F7FF"/>
                </a:solidFill>
                <a:latin typeface="Segoe UI"/>
              </a:defRPr>
            </a:pPr>
            <a:r>
              <a:t>•  Draft or reply in Outlook, summarise a Teams meeting, edit a Word, Excel, or PowerPoint file</a:t>
            </a:r>
          </a:p>
          <a:p>
            <a:pPr>
              <a:lnSpc>
                <a:spcPct val="115000"/>
              </a:lnSpc>
              <a:spcAft>
                <a:spcPts val="700"/>
              </a:spcAft>
              <a:defRPr sz="1400">
                <a:solidFill>
                  <a:srgbClr val="F5F7FF"/>
                </a:solidFill>
                <a:latin typeface="Segoe UI"/>
              </a:defRPr>
            </a:pPr>
            <a:r>
              <a:t>•  Deep, multi-source research with citations and a shareable report</a:t>
            </a:r>
          </a:p>
          <a:p>
            <a:pPr>
              <a:lnSpc>
                <a:spcPct val="115000"/>
              </a:lnSpc>
              <a:spcAft>
                <a:spcPts val="700"/>
              </a:spcAft>
              <a:defRPr sz="1400">
                <a:solidFill>
                  <a:srgbClr val="F5F7FF"/>
                </a:solidFill>
                <a:latin typeface="Segoe UI"/>
              </a:defRPr>
            </a:pPr>
            <a:r>
              <a:t>•  Take real action across Microsoft 365 (send emails, schedule meetings, post in Teams, organise files)</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One prompt, multiple deliverables (for example: a Word brief, an Excel model, and a deck)</a:t>
            </a:r>
          </a:p>
          <a:p>
            <a:pPr>
              <a:lnSpc>
                <a:spcPct val="115000"/>
              </a:lnSpc>
              <a:spcAft>
                <a:spcPts val="700"/>
              </a:spcAft>
              <a:defRPr sz="1400">
                <a:solidFill>
                  <a:srgbClr val="F5F7FF"/>
                </a:solidFill>
                <a:latin typeface="Segoe UI"/>
              </a:defRPr>
            </a:pPr>
            <a:r>
              <a:t>•  A small, content-focused Q&amp;A bot for yourself or a small team (for example: answer questions from a team SharePoint)</a:t>
            </a:r>
          </a:p>
          <a:p>
            <a:pPr>
              <a:lnSpc>
                <a:spcPct val="115000"/>
              </a:lnSpc>
              <a:spcAft>
                <a:spcPts val="700"/>
              </a:spcAft>
              <a:defRPr sz="14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Which Copilot for each app's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03</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Use this page section as the decision checkpoint for the workflow.</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How to ask Cowork well</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04</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Verbatim from the Microsoft Adoption AI user guidance.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The five-part prompt structure for Cowork</a:t>
            </a:r>
          </a:p>
          <a:p>
            <a:pPr>
              <a:lnSpc>
                <a:spcPct val="115000"/>
              </a:lnSpc>
              <a:spcAft>
                <a:spcPts val="700"/>
              </a:spcAft>
              <a:defRPr sz="1400">
                <a:solidFill>
                  <a:srgbClr val="F5F7FF"/>
                </a:solidFill>
                <a:latin typeface="Segoe UI"/>
              </a:defRPr>
            </a:pPr>
            <a:r>
              <a:t>•  "Help me prep for my offsite next week."</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Scenarios by department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05</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How the tools play together in real work, across the functions most teams have.</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Monday pipeline review</a:t>
            </a:r>
          </a:p>
          <a:p>
            <a:pPr>
              <a:lnSpc>
                <a:spcPct val="115000"/>
              </a:lnSpc>
              <a:spcAft>
                <a:spcPts val="700"/>
              </a:spcAft>
              <a:defRPr sz="1400">
                <a:solidFill>
                  <a:srgbClr val="F5F7FF"/>
                </a:solidFill>
                <a:latin typeface="Segoe UI"/>
              </a:defRPr>
            </a:pPr>
            <a:r>
              <a:t>•  Campaign launch pack</a:t>
            </a:r>
          </a:p>
          <a:p>
            <a:pPr>
              <a:lnSpc>
                <a:spcPct val="115000"/>
              </a:lnSpc>
              <a:spcAft>
                <a:spcPts val="700"/>
              </a:spcAft>
              <a:defRPr sz="1400">
                <a:solidFill>
                  <a:srgbClr val="F5F7FF"/>
                </a:solidFill>
                <a:latin typeface="Segoe UI"/>
              </a:defRPr>
            </a:pPr>
            <a:r>
              <a:t>•  Month-end variance pack</a:t>
            </a:r>
          </a:p>
          <a:p>
            <a:pPr>
              <a:lnSpc>
                <a:spcPct val="115000"/>
              </a:lnSpc>
              <a:spcAft>
                <a:spcPts val="700"/>
              </a:spcAft>
              <a:defRPr sz="1400">
                <a:solidFill>
                  <a:srgbClr val="F5F7FF"/>
                </a:solidFill>
                <a:latin typeface="Segoe UI"/>
              </a:defRPr>
            </a:pPr>
            <a:r>
              <a:t>•  New-hire 30-day onboarding journey</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Internal helpdesk triage</a:t>
            </a:r>
          </a:p>
          <a:p>
            <a:pPr>
              <a:lnSpc>
                <a:spcPct val="115000"/>
              </a:lnSpc>
              <a:spcAft>
                <a:spcPts val="700"/>
              </a:spcAft>
              <a:defRPr sz="1400">
                <a:solidFill>
                  <a:srgbClr val="F5F7FF"/>
                </a:solidFill>
                <a:latin typeface="Segoe UI"/>
              </a:defRPr>
            </a:pPr>
            <a:r>
              <a:t>•  Supplier and inventory risk</a:t>
            </a:r>
          </a:p>
          <a:p>
            <a:pPr>
              <a:lnSpc>
                <a:spcPct val="115000"/>
              </a:lnSpc>
              <a:spcAft>
                <a:spcPts val="700"/>
              </a:spcAft>
              <a:defRPr sz="14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Before building your own agent, check this order</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SECTION 06</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72800" cy="502920"/>
          </a:xfrm>
          <a:prstGeom prst="rect">
            <a:avLst/>
          </a:prstGeom>
          <a:noFill/>
        </p:spPr>
        <p:txBody>
          <a:bodyPr wrap="square" lIns="45720" rIns="45720" tIns="27432" bIns="27432">
            <a:spAutoFit/>
          </a:bodyPr>
          <a:lstStyle/>
          <a:p>
            <a:r>
              <a:rPr sz="1500" b="0">
                <a:solidFill>
                  <a:srgbClr val="AEB8E0"/>
                </a:solidFill>
                <a:latin typeface="Segoe UI"/>
              </a:rPr>
              <a:t>Building should be the last step, not the first.</a:t>
            </a:r>
          </a:p>
        </p:txBody>
      </p:sp>
      <p:sp>
        <p:nvSpPr>
          <p:cNvPr id="6" name="Rounded Rectangle 5"/>
          <p:cNvSpPr/>
          <p:nvPr/>
        </p:nvSpPr>
        <p:spPr>
          <a:xfrm>
            <a:off x="64008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94560"/>
            <a:ext cx="5440680" cy="82296"/>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23160"/>
            <a:ext cx="5074920" cy="3840479"/>
          </a:xfrm>
          <a:prstGeom prst="rect">
            <a:avLst/>
          </a:prstGeom>
          <a:noFill/>
        </p:spPr>
        <p:txBody>
          <a:bodyPr wrap="square" tIns="54864" bIns="54864">
            <a:spAutoFit/>
          </a:bodyPr>
          <a:lstStyle/>
          <a:p>
            <a:pPr>
              <a:lnSpc>
                <a:spcPct val="115000"/>
              </a:lnSpc>
              <a:spcAft>
                <a:spcPts val="700"/>
              </a:spcAft>
              <a:defRPr sz="1400">
                <a:solidFill>
                  <a:srgbClr val="F5F7FF"/>
                </a:solidFill>
                <a:latin typeface="Segoe UI"/>
              </a:defRPr>
            </a:pPr>
            <a:r>
              <a:t>•  Can a saved or scheduled prompt do it?</a:t>
            </a:r>
          </a:p>
          <a:p>
            <a:pPr>
              <a:lnSpc>
                <a:spcPct val="115000"/>
              </a:lnSpc>
              <a:spcAft>
                <a:spcPts val="700"/>
              </a:spcAft>
              <a:defRPr sz="1400">
                <a:solidFill>
                  <a:srgbClr val="F5F7FF"/>
                </a:solidFill>
                <a:latin typeface="Segoe UI"/>
              </a:defRPr>
            </a:pPr>
            <a:r>
              <a:t>•  Is there already a ready Microsoft agent?</a:t>
            </a:r>
          </a:p>
          <a:p>
            <a:pPr>
              <a:lnSpc>
                <a:spcPct val="115000"/>
              </a:lnSpc>
              <a:spcAft>
                <a:spcPts val="700"/>
              </a:spcAft>
              <a:defRPr sz="1400">
                <a:solidFill>
                  <a:srgbClr val="F5F7FF"/>
                </a:solidFill>
                <a:latin typeface="Segoe UI"/>
              </a:defRPr>
            </a:pPr>
            <a:r>
              <a:t>•  Does Cowork already cover the full process?</a:t>
            </a:r>
          </a:p>
          <a:p>
            <a:pPr>
              <a:lnSpc>
                <a:spcPct val="115000"/>
              </a:lnSpc>
              <a:spcAft>
                <a:spcPts val="700"/>
              </a:spcAft>
              <a:defRPr sz="1400">
                <a:solidFill>
                  <a:srgbClr val="F5F7FF"/>
                </a:solidFill>
                <a:latin typeface="Segoe UI"/>
              </a:defRPr>
            </a:pPr>
            <a:r>
              <a:t>•  Use Agent Builder or Copilot Studio</a:t>
            </a:r>
          </a:p>
        </p:txBody>
      </p:sp>
      <p:sp>
        <p:nvSpPr>
          <p:cNvPr id="9" name="Rounded Rectangle 8"/>
          <p:cNvSpPr/>
          <p:nvPr/>
        </p:nvSpPr>
        <p:spPr>
          <a:xfrm>
            <a:off x="6263640" y="2194560"/>
            <a:ext cx="5440680" cy="420624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2194560"/>
            <a:ext cx="54406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468879"/>
            <a:ext cx="5029200" cy="365760"/>
          </a:xfrm>
          <a:prstGeom prst="rect">
            <a:avLst/>
          </a:prstGeom>
          <a:noFill/>
        </p:spPr>
        <p:txBody>
          <a:bodyPr wrap="square" lIns="45720" rIns="45720" tIns="27432" bIns="27432">
            <a:spAutoFit/>
          </a:bodyPr>
          <a:lstStyle/>
          <a:p>
            <a:r>
              <a:rPr sz="1700" b="1">
                <a:solidFill>
                  <a:srgbClr val="F5F7FF"/>
                </a:solidFill>
                <a:latin typeface="Segoe UI"/>
              </a:rPr>
              <a:t>Key takeaway</a:t>
            </a:r>
          </a:p>
        </p:txBody>
      </p:sp>
      <p:sp>
        <p:nvSpPr>
          <p:cNvPr id="12" name="TextBox 11"/>
          <p:cNvSpPr txBox="1"/>
          <p:nvPr/>
        </p:nvSpPr>
        <p:spPr>
          <a:xfrm>
            <a:off x="6492240" y="2971800"/>
            <a:ext cx="5029200" cy="1463040"/>
          </a:xfrm>
          <a:prstGeom prst="rect">
            <a:avLst/>
          </a:prstGeom>
          <a:noFill/>
        </p:spPr>
        <p:txBody>
          <a:bodyPr wrap="square" lIns="45720" rIns="45720" tIns="27432" bIns="27432">
            <a:spAutoFit/>
          </a:bodyPr>
          <a:lstStyle/>
          <a:p>
            <a:r>
              <a:rPr sz="15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light, medium,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COPILOT COWORK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8658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6587" y="1874519"/>
            <a:ext cx="352044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6587" y="2194560"/>
            <a:ext cx="3520440" cy="548640"/>
          </a:xfrm>
          <a:prstGeom prst="rect">
            <a:avLst/>
          </a:prstGeom>
          <a:noFill/>
        </p:spPr>
        <p:txBody>
          <a:bodyPr wrap="square" lIns="45720" rIns="45720" tIns="27432" bIns="27432">
            <a:spAutoFit/>
          </a:bodyPr>
          <a:lstStyle/>
          <a:p>
            <a:pPr algn="ctr"/>
            <a:r>
              <a:rPr sz="2800" b="1">
                <a:solidFill>
                  <a:srgbClr val="3E8E22"/>
                </a:solidFill>
                <a:latin typeface="Segoe UI"/>
              </a:rPr>
              <a:t>Light</a:t>
            </a:r>
          </a:p>
        </p:txBody>
      </p:sp>
      <p:sp>
        <p:nvSpPr>
          <p:cNvPr id="8" name="TextBox 7"/>
          <p:cNvSpPr txBox="1"/>
          <p:nvPr/>
        </p:nvSpPr>
        <p:spPr>
          <a:xfrm>
            <a:off x="86090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Quick everyday handoffs, minutes to finish, a source or two.</a:t>
            </a:r>
          </a:p>
        </p:txBody>
      </p:sp>
      <p:sp>
        <p:nvSpPr>
          <p:cNvPr id="9" name="Rounded Rectangle 8"/>
          <p:cNvSpPr/>
          <p:nvPr/>
        </p:nvSpPr>
        <p:spPr>
          <a:xfrm>
            <a:off x="433562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35627" y="1874519"/>
            <a:ext cx="352044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35627" y="2194560"/>
            <a:ext cx="3520440" cy="548640"/>
          </a:xfrm>
          <a:prstGeom prst="rect">
            <a:avLst/>
          </a:prstGeom>
          <a:noFill/>
        </p:spPr>
        <p:txBody>
          <a:bodyPr wrap="square" lIns="45720" rIns="45720" tIns="27432" bIns="27432">
            <a:spAutoFit/>
          </a:bodyPr>
          <a:lstStyle/>
          <a:p>
            <a:pPr algn="ctr"/>
            <a:r>
              <a:rPr sz="2800" b="1">
                <a:solidFill>
                  <a:srgbClr val="0E8E92"/>
                </a:solidFill>
                <a:latin typeface="Segoe UI"/>
              </a:rPr>
              <a:t>Medium</a:t>
            </a:r>
          </a:p>
        </p:txBody>
      </p:sp>
      <p:sp>
        <p:nvSpPr>
          <p:cNvPr id="12" name="TextBox 11"/>
          <p:cNvSpPr txBox="1"/>
          <p:nvPr/>
        </p:nvSpPr>
        <p:spPr>
          <a:xfrm>
            <a:off x="460994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Recurring multi-step work that reasons across several sources.</a:t>
            </a:r>
          </a:p>
        </p:txBody>
      </p:sp>
      <p:sp>
        <p:nvSpPr>
          <p:cNvPr id="13" name="Rounded Rectangle 12"/>
          <p:cNvSpPr/>
          <p:nvPr/>
        </p:nvSpPr>
        <p:spPr>
          <a:xfrm>
            <a:off x="8084667" y="1874519"/>
            <a:ext cx="3520440" cy="3383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4667" y="1874519"/>
            <a:ext cx="352044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4667" y="2194560"/>
            <a:ext cx="3520440" cy="548640"/>
          </a:xfrm>
          <a:prstGeom prst="rect">
            <a:avLst/>
          </a:prstGeom>
          <a:noFill/>
        </p:spPr>
        <p:txBody>
          <a:bodyPr wrap="square" lIns="45720" rIns="45720" tIns="27432" bIns="27432">
            <a:spAutoFit/>
          </a:bodyPr>
          <a:lstStyle/>
          <a:p>
            <a:pPr algn="ctr"/>
            <a:r>
              <a:rPr sz="2800" b="1">
                <a:solidFill>
                  <a:srgbClr val="C73E78"/>
                </a:solidFill>
                <a:latin typeface="Segoe UI"/>
              </a:rPr>
              <a:t>Heavy</a:t>
            </a:r>
          </a:p>
        </p:txBody>
      </p:sp>
      <p:sp>
        <p:nvSpPr>
          <p:cNvPr id="16" name="TextBox 15"/>
          <p:cNvSpPr txBox="1"/>
          <p:nvPr/>
        </p:nvSpPr>
        <p:spPr>
          <a:xfrm>
            <a:off x="8358987" y="2926080"/>
            <a:ext cx="2971800" cy="1828800"/>
          </a:xfrm>
          <a:prstGeom prst="rect">
            <a:avLst/>
          </a:prstGeom>
          <a:noFill/>
        </p:spPr>
        <p:txBody>
          <a:bodyPr wrap="square" lIns="45720" rIns="45720" tIns="27432" bIns="27432">
            <a:spAutoFit/>
          </a:bodyPr>
          <a:lstStyle/>
          <a:p>
            <a:pPr algn="ctr"/>
            <a:r>
              <a:rPr sz="1500" b="0">
                <a:solidFill>
                  <a:srgbClr val="AEB8E0"/>
                </a:solidFill>
                <a:latin typeface="Segoe UI"/>
              </a:rPr>
              <a:t>Large multi-part jobs that produce a full set of artifacts.</a:t>
            </a:r>
          </a:p>
        </p:txBody>
      </p:sp>
      <p:sp>
        <p:nvSpPr>
          <p:cNvPr id="17" name="TextBox 16"/>
          <p:cNvSpPr txBox="1"/>
          <p:nvPr/>
        </p:nvSpPr>
        <p:spPr>
          <a:xfrm>
            <a:off x="822960" y="5897880"/>
            <a:ext cx="10515600" cy="365760"/>
          </a:xfrm>
          <a:prstGeom prst="rect">
            <a:avLst/>
          </a:prstGeom>
          <a:noFill/>
        </p:spPr>
        <p:txBody>
          <a:bodyPr wrap="square" lIns="45720" rIns="45720" tIns="27432" bIns="27432">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light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All teams</a:t>
            </a:r>
          </a:p>
        </p:txBody>
      </p:sp>
      <p:sp>
        <p:nvSpPr>
          <p:cNvPr id="8" name="TextBox 7"/>
          <p:cNvSpPr txBox="1"/>
          <p:nvPr/>
        </p:nvSpPr>
        <p:spPr>
          <a:xfrm>
            <a:off x="822959" y="2423160"/>
            <a:ext cx="3322320" cy="594360"/>
          </a:xfrm>
          <a:prstGeom prst="rect">
            <a:avLst/>
          </a:prstGeom>
          <a:noFill/>
        </p:spPr>
        <p:txBody>
          <a:bodyPr wrap="square" lIns="45720" rIns="45720" tIns="27432" bIns="27432">
            <a:spAutoFit/>
          </a:bodyPr>
          <a:lstStyle/>
          <a:p>
            <a:r>
              <a:rPr sz="1300" b="1">
                <a:solidFill>
                  <a:srgbClr val="F5F7FF"/>
                </a:solidFill>
                <a:latin typeface="Segoe UI"/>
              </a:rPr>
              <a:t>Rebalance your week and protect focus time</a:t>
            </a:r>
          </a:p>
        </p:txBody>
      </p:sp>
      <p:sp>
        <p:nvSpPr>
          <p:cNvPr id="9" name="TextBox 8"/>
          <p:cNvSpPr txBox="1"/>
          <p:nvPr/>
        </p:nvSpPr>
        <p:spPr>
          <a:xfrm>
            <a:off x="822959" y="3017520"/>
            <a:ext cx="3322320" cy="502919"/>
          </a:xfrm>
          <a:prstGeom prst="rect">
            <a:avLst/>
          </a:prstGeom>
          <a:noFill/>
        </p:spPr>
        <p:txBody>
          <a:bodyPr wrap="square" lIns="45720" rIns="45720" tIns="27432" bIns="27432">
            <a:spAutoFit/>
          </a:bodyPr>
          <a:lstStyle/>
          <a:p>
            <a:r>
              <a:rPr sz="1100" b="0">
                <a:solidFill>
                  <a:srgbClr val="AEB8E0"/>
                </a:solidFill>
                <a:latin typeface="Segoe UI"/>
              </a:rPr>
              <a:t>Rebalance the week, resolve conflicts, and protect focus blocks.</a:t>
            </a:r>
          </a:p>
        </p:txBody>
      </p:sp>
      <p:sp>
        <p:nvSpPr>
          <p:cNvPr id="10" name="TextBox 9"/>
          <p:cNvSpPr txBox="1"/>
          <p:nvPr/>
        </p:nvSpPr>
        <p:spPr>
          <a:xfrm>
            <a:off x="822959" y="3566160"/>
            <a:ext cx="3322320" cy="594360"/>
          </a:xfrm>
          <a:prstGeom prst="rect">
            <a:avLst/>
          </a:prstGeom>
          <a:noFill/>
        </p:spPr>
        <p:txBody>
          <a:bodyPr wrap="square" lIns="45720" rIns="45720" tIns="27432" bIns="27432">
            <a:spAutoFit/>
          </a:bodyPr>
          <a:lstStyle/>
          <a:p>
            <a:r>
              <a:rPr sz="1300" b="1">
                <a:solidFill>
                  <a:srgbClr val="F5F7FF"/>
                </a:solidFill>
                <a:latin typeface="Segoe UI"/>
              </a:rPr>
              <a:t>Wrap up projects and organize all related work</a:t>
            </a:r>
          </a:p>
        </p:txBody>
      </p:sp>
      <p:sp>
        <p:nvSpPr>
          <p:cNvPr id="11" name="TextBox 10"/>
          <p:cNvSpPr txBox="1"/>
          <p:nvPr/>
        </p:nvSpPr>
        <p:spPr>
          <a:xfrm>
            <a:off x="822959" y="4160520"/>
            <a:ext cx="3322320" cy="502919"/>
          </a:xfrm>
          <a:prstGeom prst="rect">
            <a:avLst/>
          </a:prstGeom>
          <a:noFill/>
        </p:spPr>
        <p:txBody>
          <a:bodyPr wrap="square" lIns="45720" rIns="45720" tIns="27432" bIns="27432">
            <a:spAutoFit/>
          </a:bodyPr>
          <a:lstStyle/>
          <a:p>
            <a:r>
              <a:rPr sz="1100" b="0">
                <a:solidFill>
                  <a:srgbClr val="AEB8E0"/>
                </a:solidFill>
                <a:latin typeface="Segoe UI"/>
              </a:rPr>
              <a:t>Close the project with a clean, shareable OneDrive archive.</a:t>
            </a:r>
          </a:p>
        </p:txBody>
      </p:sp>
      <p:sp>
        <p:nvSpPr>
          <p:cNvPr id="12" name="TextBox 11"/>
          <p:cNvSpPr txBox="1"/>
          <p:nvPr/>
        </p:nvSpPr>
        <p:spPr>
          <a:xfrm>
            <a:off x="822959" y="4709160"/>
            <a:ext cx="3322320" cy="594360"/>
          </a:xfrm>
          <a:prstGeom prst="rect">
            <a:avLst/>
          </a:prstGeom>
          <a:noFill/>
        </p:spPr>
        <p:txBody>
          <a:bodyPr wrap="square" lIns="45720" rIns="45720" tIns="27432" bIns="27432">
            <a:spAutoFit/>
          </a:bodyPr>
          <a:lstStyle/>
          <a:p>
            <a:r>
              <a:rPr sz="1300" b="1">
                <a:solidFill>
                  <a:srgbClr val="F5F7FF"/>
                </a:solidFill>
                <a:latin typeface="Segoe UI"/>
              </a:rPr>
              <a:t>Catch up on messages and send replies automatically</a:t>
            </a:r>
          </a:p>
        </p:txBody>
      </p:sp>
      <p:sp>
        <p:nvSpPr>
          <p:cNvPr id="13" name="TextBox 12"/>
          <p:cNvSpPr txBox="1"/>
          <p:nvPr/>
        </p:nvSpPr>
        <p:spPr>
          <a:xfrm>
            <a:off x="822959" y="5303520"/>
            <a:ext cx="3322320" cy="502919"/>
          </a:xfrm>
          <a:prstGeom prst="rect">
            <a:avLst/>
          </a:prstGeom>
          <a:noFill/>
        </p:spPr>
        <p:txBody>
          <a:bodyPr wrap="square" lIns="45720" rIns="45720" tIns="27432" bIns="27432">
            <a:spAutoFit/>
          </a:bodyPr>
          <a:lstStyle/>
          <a:p>
            <a:r>
              <a:rPr sz="1100" b="0">
                <a:solidFill>
                  <a:srgbClr val="AEB8E0"/>
                </a:solidFill>
                <a:latin typeface="Segoe UI"/>
              </a:rPr>
              <a:t>Handle routine replies and draft higher-stakes responses for review.</a:t>
            </a:r>
          </a:p>
        </p:txBody>
      </p:sp>
      <p:sp>
        <p:nvSpPr>
          <p:cNvPr id="14" name="Rounded Rectangle 13"/>
          <p:cNvSpPr/>
          <p:nvPr/>
        </p:nvSpPr>
        <p:spPr>
          <a:xfrm>
            <a:off x="455676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676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3E8E22"/>
                </a:solidFill>
                <a:latin typeface="Segoe UI"/>
              </a:rPr>
              <a:t>Sales</a:t>
            </a:r>
          </a:p>
        </p:txBody>
      </p:sp>
      <p:sp>
        <p:nvSpPr>
          <p:cNvPr id="17" name="TextBox 16"/>
          <p:cNvSpPr txBox="1"/>
          <p:nvPr/>
        </p:nvSpPr>
        <p:spPr>
          <a:xfrm>
            <a:off x="4739640" y="2423160"/>
            <a:ext cx="3322320" cy="640080"/>
          </a:xfrm>
          <a:prstGeom prst="rect">
            <a:avLst/>
          </a:prstGeom>
          <a:noFill/>
        </p:spPr>
        <p:txBody>
          <a:bodyPr wrap="square" lIns="45720" rIns="45720" tIns="27432" bIns="27432">
            <a:spAutoFit/>
          </a:bodyPr>
          <a:lstStyle/>
          <a:p>
            <a:r>
              <a:rPr sz="1400" b="1">
                <a:solidFill>
                  <a:srgbClr val="F5F7FF"/>
                </a:solidFill>
                <a:latin typeface="Segoe UI"/>
              </a:rPr>
              <a:t>Pricing screenshot to customer presentation</a:t>
            </a:r>
          </a:p>
        </p:txBody>
      </p:sp>
      <p:sp>
        <p:nvSpPr>
          <p:cNvPr id="18" name="TextBox 17"/>
          <p:cNvSpPr txBox="1"/>
          <p:nvPr/>
        </p:nvSpPr>
        <p:spPr>
          <a:xfrm>
            <a:off x="4739640" y="3063240"/>
            <a:ext cx="3322320" cy="685800"/>
          </a:xfrm>
          <a:prstGeom prst="rect">
            <a:avLst/>
          </a:prstGeom>
          <a:noFill/>
        </p:spPr>
        <p:txBody>
          <a:bodyPr wrap="square" lIns="45720" rIns="45720" tIns="27432" bIns="27432">
            <a:spAutoFit/>
          </a:bodyPr>
          <a:lstStyle/>
          <a:p>
            <a:r>
              <a:rPr sz="1200" b="0">
                <a:solidFill>
                  <a:srgbClr val="AEB8E0"/>
                </a:solidFill>
                <a:latin typeface="Segoe UI"/>
              </a:rPr>
              <a:t>Turn approved pricing into a customer-ready deck and draft email.</a:t>
            </a:r>
          </a:p>
        </p:txBody>
      </p:sp>
      <p:sp>
        <p:nvSpPr>
          <p:cNvPr id="19" name="TextBox 18"/>
          <p:cNvSpPr txBox="1"/>
          <p:nvPr/>
        </p:nvSpPr>
        <p:spPr>
          <a:xfrm>
            <a:off x="4739640" y="3794760"/>
            <a:ext cx="3322320" cy="640080"/>
          </a:xfrm>
          <a:prstGeom prst="rect">
            <a:avLst/>
          </a:prstGeom>
          <a:noFill/>
        </p:spPr>
        <p:txBody>
          <a:bodyPr wrap="square" lIns="45720" rIns="45720" tIns="27432" bIns="27432">
            <a:spAutoFit/>
          </a:bodyPr>
          <a:lstStyle/>
          <a:p>
            <a:r>
              <a:rPr sz="1400" b="1">
                <a:solidFill>
                  <a:srgbClr val="F5F7FF"/>
                </a:solidFill>
                <a:latin typeface="Segoe UI"/>
              </a:rPr>
              <a:t>Weekly external customer email review</a:t>
            </a:r>
          </a:p>
        </p:txBody>
      </p:sp>
      <p:sp>
        <p:nvSpPr>
          <p:cNvPr id="20" name="TextBox 19"/>
          <p:cNvSpPr txBox="1"/>
          <p:nvPr/>
        </p:nvSpPr>
        <p:spPr>
          <a:xfrm>
            <a:off x="4739640" y="4434840"/>
            <a:ext cx="3322320" cy="685800"/>
          </a:xfrm>
          <a:prstGeom prst="rect">
            <a:avLst/>
          </a:prstGeom>
          <a:noFill/>
        </p:spPr>
        <p:txBody>
          <a:bodyPr wrap="square" lIns="45720" rIns="45720" tIns="27432" bIns="27432">
            <a:spAutoFit/>
          </a:bodyPr>
          <a:lstStyle/>
          <a:p>
            <a:r>
              <a:rPr sz="1200" b="0">
                <a:solidFill>
                  <a:srgbClr val="AEB8E0"/>
                </a:solidFill>
                <a:latin typeface="Segoe UI"/>
              </a:rPr>
              <a:t>Surface action items, draft replies, and send a Teams reminder.</a:t>
            </a:r>
          </a:p>
        </p:txBody>
      </p:sp>
      <p:sp>
        <p:nvSpPr>
          <p:cNvPr id="21" name="Rounded Rectangle 20"/>
          <p:cNvSpPr/>
          <p:nvPr/>
        </p:nvSpPr>
        <p:spPr>
          <a:xfrm>
            <a:off x="847344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73440" y="1691640"/>
            <a:ext cx="36880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3E8E22"/>
                </a:solidFill>
                <a:latin typeface="Segoe UI"/>
              </a:rPr>
              <a:t>Marketing</a:t>
            </a:r>
          </a:p>
        </p:txBody>
      </p:sp>
      <p:sp>
        <p:nvSpPr>
          <p:cNvPr id="24" name="TextBox 23"/>
          <p:cNvSpPr txBox="1"/>
          <p:nvPr/>
        </p:nvSpPr>
        <p:spPr>
          <a:xfrm>
            <a:off x="8656319" y="2423160"/>
            <a:ext cx="3322320" cy="640080"/>
          </a:xfrm>
          <a:prstGeom prst="rect">
            <a:avLst/>
          </a:prstGeom>
          <a:noFill/>
        </p:spPr>
        <p:txBody>
          <a:bodyPr wrap="square" lIns="45720" rIns="45720" tIns="27432" bIns="27432">
            <a:spAutoFit/>
          </a:bodyPr>
          <a:lstStyle/>
          <a:p>
            <a:r>
              <a:rPr sz="1400" b="1">
                <a:solidFill>
                  <a:srgbClr val="F5F7FF"/>
                </a:solidFill>
                <a:latin typeface="Segoe UI"/>
              </a:rPr>
              <a:t>Research and insights alignment recap</a:t>
            </a:r>
          </a:p>
        </p:txBody>
      </p:sp>
      <p:sp>
        <p:nvSpPr>
          <p:cNvPr id="25" name="TextBox 24"/>
          <p:cNvSpPr txBox="1"/>
          <p:nvPr/>
        </p:nvSpPr>
        <p:spPr>
          <a:xfrm>
            <a:off x="8656319" y="3063240"/>
            <a:ext cx="3322320" cy="685800"/>
          </a:xfrm>
          <a:prstGeom prst="rect">
            <a:avLst/>
          </a:prstGeom>
          <a:noFill/>
        </p:spPr>
        <p:txBody>
          <a:bodyPr wrap="square" lIns="45720" rIns="45720" tIns="27432" bIns="27432">
            <a:spAutoFit/>
          </a:bodyPr>
          <a:lstStyle/>
          <a:p>
            <a:r>
              <a:rPr sz="12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medium</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64642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5280659" cy="365760"/>
          </a:xfrm>
          <a:prstGeom prst="rect">
            <a:avLst/>
          </a:prstGeom>
          <a:noFill/>
        </p:spPr>
        <p:txBody>
          <a:bodyPr wrap="square" lIns="45720" rIns="45720" tIns="27432" bIns="27432">
            <a:spAutoFit/>
          </a:bodyPr>
          <a:lstStyle/>
          <a:p>
            <a:r>
              <a:rPr sz="1600" b="1">
                <a:solidFill>
                  <a:srgbClr val="0E8E92"/>
                </a:solidFill>
                <a:latin typeface="Segoe UI"/>
              </a:rPr>
              <a:t>All teams</a:t>
            </a:r>
          </a:p>
        </p:txBody>
      </p:sp>
      <p:sp>
        <p:nvSpPr>
          <p:cNvPr id="8" name="TextBox 7"/>
          <p:cNvSpPr txBox="1"/>
          <p:nvPr/>
        </p:nvSpPr>
        <p:spPr>
          <a:xfrm>
            <a:off x="822959" y="2423160"/>
            <a:ext cx="5280659" cy="640080"/>
          </a:xfrm>
          <a:prstGeom prst="rect">
            <a:avLst/>
          </a:prstGeom>
          <a:noFill/>
        </p:spPr>
        <p:txBody>
          <a:bodyPr wrap="square" lIns="45720" rIns="45720" tIns="27432" bIns="27432">
            <a:spAutoFit/>
          </a:bodyPr>
          <a:lstStyle/>
          <a:p>
            <a:r>
              <a:rPr sz="1400" b="1">
                <a:solidFill>
                  <a:srgbClr val="F5F7FF"/>
                </a:solidFill>
                <a:latin typeface="Segoe UI"/>
              </a:rPr>
              <a:t>Turn inbox noise into a curated intelligence brief</a:t>
            </a:r>
          </a:p>
        </p:txBody>
      </p:sp>
      <p:sp>
        <p:nvSpPr>
          <p:cNvPr id="9" name="TextBox 8"/>
          <p:cNvSpPr txBox="1"/>
          <p:nvPr/>
        </p:nvSpPr>
        <p:spPr>
          <a:xfrm>
            <a:off x="822959" y="3063240"/>
            <a:ext cx="5280659" cy="685800"/>
          </a:xfrm>
          <a:prstGeom prst="rect">
            <a:avLst/>
          </a:prstGeom>
          <a:noFill/>
        </p:spPr>
        <p:txBody>
          <a:bodyPr wrap="square" lIns="45720" rIns="45720" tIns="27432" bIns="27432">
            <a:spAutoFit/>
          </a:bodyPr>
          <a:lstStyle/>
          <a:p>
            <a:r>
              <a:rPr sz="1200" b="0">
                <a:solidFill>
                  <a:srgbClr val="AEB8E0"/>
                </a:solidFill>
                <a:latin typeface="Segoe UI"/>
              </a:rPr>
              <a:t>Create a weekly trend brief from the publications you follow.</a:t>
            </a:r>
          </a:p>
        </p:txBody>
      </p:sp>
      <p:sp>
        <p:nvSpPr>
          <p:cNvPr id="10" name="Rounded Rectangle 9"/>
          <p:cNvSpPr/>
          <p:nvPr/>
        </p:nvSpPr>
        <p:spPr>
          <a:xfrm>
            <a:off x="6515100" y="1691640"/>
            <a:ext cx="564642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15100" y="1691640"/>
            <a:ext cx="564642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7980" y="1874520"/>
            <a:ext cx="5280659" cy="365760"/>
          </a:xfrm>
          <a:prstGeom prst="rect">
            <a:avLst/>
          </a:prstGeom>
          <a:noFill/>
        </p:spPr>
        <p:txBody>
          <a:bodyPr wrap="square" lIns="45720" rIns="45720" tIns="27432" bIns="27432">
            <a:spAutoFit/>
          </a:bodyPr>
          <a:lstStyle/>
          <a:p>
            <a:r>
              <a:rPr sz="1600" b="1">
                <a:solidFill>
                  <a:srgbClr val="0E8E92"/>
                </a:solidFill>
                <a:latin typeface="Segoe UI"/>
              </a:rPr>
              <a:t>Marketing</a:t>
            </a:r>
          </a:p>
        </p:txBody>
      </p:sp>
      <p:sp>
        <p:nvSpPr>
          <p:cNvPr id="13" name="TextBox 12"/>
          <p:cNvSpPr txBox="1"/>
          <p:nvPr/>
        </p:nvSpPr>
        <p:spPr>
          <a:xfrm>
            <a:off x="6697980" y="2423160"/>
            <a:ext cx="5280659" cy="640080"/>
          </a:xfrm>
          <a:prstGeom prst="rect">
            <a:avLst/>
          </a:prstGeom>
          <a:noFill/>
        </p:spPr>
        <p:txBody>
          <a:bodyPr wrap="square" lIns="45720" rIns="45720" tIns="27432" bIns="27432">
            <a:spAutoFit/>
          </a:bodyPr>
          <a:lstStyle/>
          <a:p>
            <a:r>
              <a:rPr sz="1400" b="1">
                <a:solidFill>
                  <a:srgbClr val="F5F7FF"/>
                </a:solidFill>
                <a:latin typeface="Segoe UI"/>
              </a:rPr>
              <a:t>Partner and channel activation kit</a:t>
            </a:r>
          </a:p>
        </p:txBody>
      </p:sp>
      <p:sp>
        <p:nvSpPr>
          <p:cNvPr id="14" name="TextBox 13"/>
          <p:cNvSpPr txBox="1"/>
          <p:nvPr/>
        </p:nvSpPr>
        <p:spPr>
          <a:xfrm>
            <a:off x="6697980" y="3063240"/>
            <a:ext cx="5280659" cy="685800"/>
          </a:xfrm>
          <a:prstGeom prst="rect">
            <a:avLst/>
          </a:prstGeom>
          <a:noFill/>
        </p:spPr>
        <p:txBody>
          <a:bodyPr wrap="square" lIns="45720" rIns="45720" tIns="27432" bIns="27432">
            <a:spAutoFit/>
          </a:bodyPr>
          <a:lstStyle/>
          <a:p>
            <a:r>
              <a:rPr sz="12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Cowork tasks: heavy</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GROUPED BY AUDIENCE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All teams</a:t>
            </a:r>
          </a:p>
        </p:txBody>
      </p:sp>
      <p:sp>
        <p:nvSpPr>
          <p:cNvPr id="8" name="TextBox 7"/>
          <p:cNvSpPr txBox="1"/>
          <p:nvPr/>
        </p:nvSpPr>
        <p:spPr>
          <a:xfrm>
            <a:off x="822959" y="2423160"/>
            <a:ext cx="3322320" cy="548640"/>
          </a:xfrm>
          <a:prstGeom prst="rect">
            <a:avLst/>
          </a:prstGeom>
          <a:noFill/>
        </p:spPr>
        <p:txBody>
          <a:bodyPr wrap="square" lIns="45720" rIns="45720" tIns="27432" bIns="27432">
            <a:spAutoFit/>
          </a:bodyPr>
          <a:lstStyle/>
          <a:p>
            <a:r>
              <a:rPr sz="1200" b="1">
                <a:solidFill>
                  <a:srgbClr val="F5F7FF"/>
                </a:solidFill>
                <a:latin typeface="Segoe UI"/>
              </a:rPr>
              <a:t>Prepare a complete out-of-office handoff</a:t>
            </a:r>
          </a:p>
        </p:txBody>
      </p:sp>
      <p:sp>
        <p:nvSpPr>
          <p:cNvPr id="9" name="TextBox 8"/>
          <p:cNvSpPr txBox="1"/>
          <p:nvPr/>
        </p:nvSpPr>
        <p:spPr>
          <a:xfrm>
            <a:off x="822959" y="2971800"/>
            <a:ext cx="3322320" cy="365760"/>
          </a:xfrm>
          <a:prstGeom prst="rect">
            <a:avLst/>
          </a:prstGeom>
          <a:noFill/>
        </p:spPr>
        <p:txBody>
          <a:bodyPr wrap="square" lIns="45720" rIns="45720" tIns="27432" bIns="27432">
            <a:spAutoFit/>
          </a:bodyPr>
          <a:lstStyle/>
          <a:p>
            <a:r>
              <a:rPr sz="1000" b="0">
                <a:solidFill>
                  <a:srgbClr val="AEB8E0"/>
                </a:solidFill>
                <a:latin typeface="Segoe UI"/>
              </a:rPr>
              <a:t>Build a handoff from projects, owners, deadlines, and files.</a:t>
            </a:r>
          </a:p>
        </p:txBody>
      </p:sp>
      <p:sp>
        <p:nvSpPr>
          <p:cNvPr id="10" name="TextBox 9"/>
          <p:cNvSpPr txBox="1"/>
          <p:nvPr/>
        </p:nvSpPr>
        <p:spPr>
          <a:xfrm>
            <a:off x="822959" y="3383280"/>
            <a:ext cx="3322320" cy="548640"/>
          </a:xfrm>
          <a:prstGeom prst="rect">
            <a:avLst/>
          </a:prstGeom>
          <a:noFill/>
        </p:spPr>
        <p:txBody>
          <a:bodyPr wrap="square" lIns="45720" rIns="45720" tIns="27432" bIns="27432">
            <a:spAutoFit/>
          </a:bodyPr>
          <a:lstStyle/>
          <a:p>
            <a:r>
              <a:rPr sz="1200" b="1">
                <a:solidFill>
                  <a:srgbClr val="F5F7FF"/>
                </a:solidFill>
                <a:latin typeface="Segoe UI"/>
              </a:rPr>
              <a:t>Analyze and optimize your OneDrive at scale</a:t>
            </a:r>
          </a:p>
        </p:txBody>
      </p:sp>
      <p:sp>
        <p:nvSpPr>
          <p:cNvPr id="11" name="TextBox 10"/>
          <p:cNvSpPr txBox="1"/>
          <p:nvPr/>
        </p:nvSpPr>
        <p:spPr>
          <a:xfrm>
            <a:off x="822959" y="3931920"/>
            <a:ext cx="3322320" cy="365760"/>
          </a:xfrm>
          <a:prstGeom prst="rect">
            <a:avLst/>
          </a:prstGeom>
          <a:noFill/>
        </p:spPr>
        <p:txBody>
          <a:bodyPr wrap="square" lIns="45720" rIns="45720" tIns="27432" bIns="27432">
            <a:spAutoFit/>
          </a:bodyPr>
          <a:lstStyle/>
          <a:p>
            <a:r>
              <a:rPr sz="1000" b="0">
                <a:solidFill>
                  <a:srgbClr val="AEB8E0"/>
                </a:solidFill>
                <a:latin typeface="Segoe UI"/>
              </a:rPr>
              <a:t>Create a catalog with cleanup decisions queued for approval.</a:t>
            </a:r>
          </a:p>
        </p:txBody>
      </p:sp>
      <p:sp>
        <p:nvSpPr>
          <p:cNvPr id="12" name="TextBox 11"/>
          <p:cNvSpPr txBox="1"/>
          <p:nvPr/>
        </p:nvSpPr>
        <p:spPr>
          <a:xfrm>
            <a:off x="822959" y="4343400"/>
            <a:ext cx="3322320" cy="548640"/>
          </a:xfrm>
          <a:prstGeom prst="rect">
            <a:avLst/>
          </a:prstGeom>
          <a:noFill/>
        </p:spPr>
        <p:txBody>
          <a:bodyPr wrap="square" lIns="45720" rIns="45720" tIns="27432" bIns="27432">
            <a:spAutoFit/>
          </a:bodyPr>
          <a:lstStyle/>
          <a:p>
            <a:r>
              <a:rPr sz="1200" b="1">
                <a:solidFill>
                  <a:srgbClr val="F5F7FF"/>
                </a:solidFill>
                <a:latin typeface="Segoe UI"/>
              </a:rPr>
              <a:t>Audit and surface against a standard</a:t>
            </a:r>
          </a:p>
        </p:txBody>
      </p:sp>
      <p:sp>
        <p:nvSpPr>
          <p:cNvPr id="13" name="TextBox 12"/>
          <p:cNvSpPr txBox="1"/>
          <p:nvPr/>
        </p:nvSpPr>
        <p:spPr>
          <a:xfrm>
            <a:off x="822959" y="4892040"/>
            <a:ext cx="3322320" cy="365760"/>
          </a:xfrm>
          <a:prstGeom prst="rect">
            <a:avLst/>
          </a:prstGeom>
          <a:noFill/>
        </p:spPr>
        <p:txBody>
          <a:bodyPr wrap="square" lIns="45720" rIns="45720" tIns="27432" bIns="27432">
            <a:spAutoFit/>
          </a:bodyPr>
          <a:lstStyle/>
          <a:p>
            <a:r>
              <a:rPr sz="1000" b="0">
                <a:solidFill>
                  <a:srgbClr val="AEB8E0"/>
                </a:solidFill>
                <a:latin typeface="Segoe UI"/>
              </a:rPr>
              <a:t>Audit files against a policy and return a sortable fix list.</a:t>
            </a:r>
          </a:p>
        </p:txBody>
      </p:sp>
      <p:sp>
        <p:nvSpPr>
          <p:cNvPr id="14" name="TextBox 13"/>
          <p:cNvSpPr txBox="1"/>
          <p:nvPr/>
        </p:nvSpPr>
        <p:spPr>
          <a:xfrm>
            <a:off x="822959" y="5303520"/>
            <a:ext cx="3322320" cy="548640"/>
          </a:xfrm>
          <a:prstGeom prst="rect">
            <a:avLst/>
          </a:prstGeom>
          <a:noFill/>
        </p:spPr>
        <p:txBody>
          <a:bodyPr wrap="square" lIns="45720" rIns="45720" tIns="27432" bIns="27432">
            <a:spAutoFit/>
          </a:bodyPr>
          <a:lstStyle/>
          <a:p>
            <a:r>
              <a:rPr sz="1200" b="1">
                <a:solidFill>
                  <a:srgbClr val="F5F7FF"/>
                </a:solidFill>
                <a:latin typeface="Segoe UI"/>
              </a:rPr>
              <a:t>Onboard a new hire with a complete 30-60-90 plan</a:t>
            </a:r>
          </a:p>
        </p:txBody>
      </p:sp>
      <p:sp>
        <p:nvSpPr>
          <p:cNvPr id="15" name="TextBox 14"/>
          <p:cNvSpPr txBox="1"/>
          <p:nvPr/>
        </p:nvSpPr>
        <p:spPr>
          <a:xfrm>
            <a:off x="822959" y="5852159"/>
            <a:ext cx="3322320" cy="365760"/>
          </a:xfrm>
          <a:prstGeom prst="rect">
            <a:avLst/>
          </a:prstGeom>
          <a:noFill/>
        </p:spPr>
        <p:txBody>
          <a:bodyPr wrap="square" lIns="45720" rIns="45720" tIns="27432" bIns="27432">
            <a:spAutoFit/>
          </a:bodyPr>
          <a:lstStyle/>
          <a:p>
            <a:r>
              <a:rPr sz="1000" b="0">
                <a:solidFill>
                  <a:srgbClr val="AEB8E0"/>
                </a:solidFill>
                <a:latin typeface="Segoe UI"/>
              </a:rPr>
              <a:t>Create the plan, getting started dashboard, and check-ins.</a:t>
            </a:r>
          </a:p>
        </p:txBody>
      </p:sp>
      <p:sp>
        <p:nvSpPr>
          <p:cNvPr id="16" name="Rounded Rectangle 15"/>
          <p:cNvSpPr/>
          <p:nvPr/>
        </p:nvSpPr>
        <p:spPr>
          <a:xfrm>
            <a:off x="455676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5676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39640" y="1874520"/>
            <a:ext cx="3322320" cy="365760"/>
          </a:xfrm>
          <a:prstGeom prst="rect">
            <a:avLst/>
          </a:prstGeom>
          <a:noFill/>
        </p:spPr>
        <p:txBody>
          <a:bodyPr wrap="square" lIns="45720" rIns="45720" tIns="27432" bIns="27432">
            <a:spAutoFit/>
          </a:bodyPr>
          <a:lstStyle/>
          <a:p>
            <a:r>
              <a:rPr sz="1600" b="1">
                <a:solidFill>
                  <a:srgbClr val="C73E78"/>
                </a:solidFill>
                <a:latin typeface="Segoe UI"/>
              </a:rPr>
              <a:t>Sales</a:t>
            </a:r>
          </a:p>
        </p:txBody>
      </p:sp>
      <p:sp>
        <p:nvSpPr>
          <p:cNvPr id="19" name="TextBox 18"/>
          <p:cNvSpPr txBox="1"/>
          <p:nvPr/>
        </p:nvSpPr>
        <p:spPr>
          <a:xfrm>
            <a:off x="4739640" y="2423160"/>
            <a:ext cx="3322320" cy="548640"/>
          </a:xfrm>
          <a:prstGeom prst="rect">
            <a:avLst/>
          </a:prstGeom>
          <a:noFill/>
        </p:spPr>
        <p:txBody>
          <a:bodyPr wrap="square" lIns="45720" rIns="45720" tIns="27432" bIns="27432">
            <a:spAutoFit/>
          </a:bodyPr>
          <a:lstStyle/>
          <a:p>
            <a:r>
              <a:rPr sz="1200" b="1">
                <a:solidFill>
                  <a:srgbClr val="F5F7FF"/>
                </a:solidFill>
                <a:latin typeface="Segoe UI"/>
              </a:rPr>
              <a:t>Product launch customer pitch</a:t>
            </a:r>
          </a:p>
        </p:txBody>
      </p:sp>
      <p:sp>
        <p:nvSpPr>
          <p:cNvPr id="20" name="TextBox 19"/>
          <p:cNvSpPr txBox="1"/>
          <p:nvPr/>
        </p:nvSpPr>
        <p:spPr>
          <a:xfrm>
            <a:off x="4739640" y="2971800"/>
            <a:ext cx="3322320" cy="365760"/>
          </a:xfrm>
          <a:prstGeom prst="rect">
            <a:avLst/>
          </a:prstGeom>
          <a:noFill/>
        </p:spPr>
        <p:txBody>
          <a:bodyPr wrap="square" lIns="45720" rIns="45720" tIns="27432" bIns="27432">
            <a:spAutoFit/>
          </a:bodyPr>
          <a:lstStyle/>
          <a:p>
            <a:r>
              <a:rPr sz="1000" b="0">
                <a:solidFill>
                  <a:srgbClr val="AEB8E0"/>
                </a:solidFill>
                <a:latin typeface="Segoe UI"/>
              </a:rPr>
              <a:t>Create the comparison, value prop, and customer-ready pitch deck.</a:t>
            </a:r>
          </a:p>
        </p:txBody>
      </p:sp>
      <p:sp>
        <p:nvSpPr>
          <p:cNvPr id="21" name="TextBox 20"/>
          <p:cNvSpPr txBox="1"/>
          <p:nvPr/>
        </p:nvSpPr>
        <p:spPr>
          <a:xfrm>
            <a:off x="4739640" y="3383280"/>
            <a:ext cx="3322320" cy="548640"/>
          </a:xfrm>
          <a:prstGeom prst="rect">
            <a:avLst/>
          </a:prstGeom>
          <a:noFill/>
        </p:spPr>
        <p:txBody>
          <a:bodyPr wrap="square" lIns="45720" rIns="45720" tIns="27432" bIns="27432">
            <a:spAutoFit/>
          </a:bodyPr>
          <a:lstStyle/>
          <a:p>
            <a:r>
              <a:rPr sz="1200" b="1">
                <a:solidFill>
                  <a:srgbClr val="F5F7FF"/>
                </a:solidFill>
                <a:latin typeface="Segoe UI"/>
              </a:rPr>
              <a:t>New customer onboarding automation</a:t>
            </a:r>
          </a:p>
        </p:txBody>
      </p:sp>
      <p:sp>
        <p:nvSpPr>
          <p:cNvPr id="22" name="TextBox 21"/>
          <p:cNvSpPr txBox="1"/>
          <p:nvPr/>
        </p:nvSpPr>
        <p:spPr>
          <a:xfrm>
            <a:off x="4739640" y="3931920"/>
            <a:ext cx="3322320" cy="365760"/>
          </a:xfrm>
          <a:prstGeom prst="rect">
            <a:avLst/>
          </a:prstGeom>
          <a:noFill/>
        </p:spPr>
        <p:txBody>
          <a:bodyPr wrap="square" lIns="45720" rIns="45720" tIns="27432" bIns="27432">
            <a:spAutoFit/>
          </a:bodyPr>
          <a:lstStyle/>
          <a:p>
            <a:r>
              <a:rPr sz="1000" b="0">
                <a:solidFill>
                  <a:srgbClr val="AEB8E0"/>
                </a:solidFill>
                <a:latin typeface="Segoe UI"/>
              </a:rPr>
              <a:t>Set up onboarding artifacts, team message, and welcome email.</a:t>
            </a:r>
          </a:p>
        </p:txBody>
      </p:sp>
      <p:sp>
        <p:nvSpPr>
          <p:cNvPr id="23" name="TextBox 22"/>
          <p:cNvSpPr txBox="1"/>
          <p:nvPr/>
        </p:nvSpPr>
        <p:spPr>
          <a:xfrm>
            <a:off x="4739640" y="4343400"/>
            <a:ext cx="3322320" cy="548640"/>
          </a:xfrm>
          <a:prstGeom prst="rect">
            <a:avLst/>
          </a:prstGeom>
          <a:noFill/>
        </p:spPr>
        <p:txBody>
          <a:bodyPr wrap="square" lIns="45720" rIns="45720" tIns="27432" bIns="27432">
            <a:spAutoFit/>
          </a:bodyPr>
          <a:lstStyle/>
          <a:p>
            <a:r>
              <a:rPr sz="1200" b="1">
                <a:solidFill>
                  <a:srgbClr val="F5F7FF"/>
                </a:solidFill>
                <a:latin typeface="Segoe UI"/>
              </a:rPr>
              <a:t>Customer adoption materials</a:t>
            </a:r>
          </a:p>
        </p:txBody>
      </p:sp>
      <p:sp>
        <p:nvSpPr>
          <p:cNvPr id="24" name="TextBox 23"/>
          <p:cNvSpPr txBox="1"/>
          <p:nvPr/>
        </p:nvSpPr>
        <p:spPr>
          <a:xfrm>
            <a:off x="4739640" y="4892040"/>
            <a:ext cx="3322320" cy="365760"/>
          </a:xfrm>
          <a:prstGeom prst="rect">
            <a:avLst/>
          </a:prstGeom>
          <a:noFill/>
        </p:spPr>
        <p:txBody>
          <a:bodyPr wrap="square" lIns="45720" rIns="45720" tIns="27432" bIns="27432">
            <a:spAutoFit/>
          </a:bodyPr>
          <a:lstStyle/>
          <a:p>
            <a:r>
              <a:rPr sz="1000" b="0">
                <a:solidFill>
                  <a:srgbClr val="AEB8E0"/>
                </a:solidFill>
                <a:latin typeface="Segoe UI"/>
              </a:rPr>
              <a:t>Build persona-tailored learning paths and rollout order.</a:t>
            </a:r>
          </a:p>
        </p:txBody>
      </p:sp>
      <p:sp>
        <p:nvSpPr>
          <p:cNvPr id="25" name="TextBox 24"/>
          <p:cNvSpPr txBox="1"/>
          <p:nvPr/>
        </p:nvSpPr>
        <p:spPr>
          <a:xfrm>
            <a:off x="4739640" y="5303520"/>
            <a:ext cx="3322320" cy="548640"/>
          </a:xfrm>
          <a:prstGeom prst="rect">
            <a:avLst/>
          </a:prstGeom>
          <a:noFill/>
        </p:spPr>
        <p:txBody>
          <a:bodyPr wrap="square" lIns="45720" rIns="45720" tIns="27432" bIns="27432">
            <a:spAutoFit/>
          </a:bodyPr>
          <a:lstStyle/>
          <a:p>
            <a:r>
              <a:rPr sz="1200" b="1">
                <a:solidFill>
                  <a:srgbClr val="F5F7FF"/>
                </a:solidFill>
                <a:latin typeface="Segoe UI"/>
              </a:rPr>
              <a:t>ROI and value selling artifact</a:t>
            </a:r>
          </a:p>
        </p:txBody>
      </p:sp>
      <p:sp>
        <p:nvSpPr>
          <p:cNvPr id="26" name="TextBox 25"/>
          <p:cNvSpPr txBox="1"/>
          <p:nvPr/>
        </p:nvSpPr>
        <p:spPr>
          <a:xfrm>
            <a:off x="4739640" y="5852159"/>
            <a:ext cx="3322320" cy="365760"/>
          </a:xfrm>
          <a:prstGeom prst="rect">
            <a:avLst/>
          </a:prstGeom>
          <a:noFill/>
        </p:spPr>
        <p:txBody>
          <a:bodyPr wrap="square" lIns="45720" rIns="45720" tIns="27432" bIns="27432">
            <a:spAutoFit/>
          </a:bodyPr>
          <a:lstStyle/>
          <a:p>
            <a:r>
              <a:rPr sz="1000" b="0">
                <a:solidFill>
                  <a:srgbClr val="AEB8E0"/>
                </a:solidFill>
                <a:latin typeface="Segoe UI"/>
              </a:rPr>
              <a:t>Produce an executive deck and microsite with use cases and ROI model.</a:t>
            </a:r>
          </a:p>
        </p:txBody>
      </p:sp>
      <p:sp>
        <p:nvSpPr>
          <p:cNvPr id="27" name="Rounded Rectangle 26"/>
          <p:cNvSpPr/>
          <p:nvPr/>
        </p:nvSpPr>
        <p:spPr>
          <a:xfrm>
            <a:off x="8473440" y="1691640"/>
            <a:ext cx="3688080" cy="47091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473440" y="1691640"/>
            <a:ext cx="36880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56319" y="1874520"/>
            <a:ext cx="3322320" cy="365760"/>
          </a:xfrm>
          <a:prstGeom prst="rect">
            <a:avLst/>
          </a:prstGeom>
          <a:noFill/>
        </p:spPr>
        <p:txBody>
          <a:bodyPr wrap="square" lIns="45720" rIns="45720" tIns="27432" bIns="27432">
            <a:spAutoFit/>
          </a:bodyPr>
          <a:lstStyle/>
          <a:p>
            <a:r>
              <a:rPr sz="1600" b="1">
                <a:solidFill>
                  <a:srgbClr val="C73E78"/>
                </a:solidFill>
                <a:latin typeface="Segoe UI"/>
              </a:rPr>
              <a:t>Marketing</a:t>
            </a:r>
          </a:p>
        </p:txBody>
      </p:sp>
      <p:sp>
        <p:nvSpPr>
          <p:cNvPr id="30" name="TextBox 29"/>
          <p:cNvSpPr txBox="1"/>
          <p:nvPr/>
        </p:nvSpPr>
        <p:spPr>
          <a:xfrm>
            <a:off x="8656319" y="2423160"/>
            <a:ext cx="3322320" cy="594360"/>
          </a:xfrm>
          <a:prstGeom prst="rect">
            <a:avLst/>
          </a:prstGeom>
          <a:noFill/>
        </p:spPr>
        <p:txBody>
          <a:bodyPr wrap="square" lIns="45720" rIns="45720" tIns="27432" bIns="27432">
            <a:spAutoFit/>
          </a:bodyPr>
          <a:lstStyle/>
          <a:p>
            <a:r>
              <a:rPr sz="1300" b="1">
                <a:solidFill>
                  <a:srgbClr val="F5F7FF"/>
                </a:solidFill>
                <a:latin typeface="Segoe UI"/>
              </a:rPr>
              <a:t>Analyst briefing prep and rehearsal routing</a:t>
            </a:r>
          </a:p>
        </p:txBody>
      </p:sp>
      <p:sp>
        <p:nvSpPr>
          <p:cNvPr id="31" name="TextBox 30"/>
          <p:cNvSpPr txBox="1"/>
          <p:nvPr/>
        </p:nvSpPr>
        <p:spPr>
          <a:xfrm>
            <a:off x="8656319" y="3017520"/>
            <a:ext cx="3322320" cy="502919"/>
          </a:xfrm>
          <a:prstGeom prst="rect">
            <a:avLst/>
          </a:prstGeom>
          <a:noFill/>
        </p:spPr>
        <p:txBody>
          <a:bodyPr wrap="square" lIns="45720" rIns="45720" tIns="27432" bIns="27432">
            <a:spAutoFit/>
          </a:bodyPr>
          <a:lstStyle/>
          <a:p>
            <a:r>
              <a:rPr sz="1100" b="0">
                <a:solidFill>
                  <a:srgbClr val="AEB8E0"/>
                </a:solidFill>
                <a:latin typeface="Segoe UI"/>
              </a:rPr>
              <a:t>Build a briefing dashboard and lock rehearsal time.</a:t>
            </a:r>
          </a:p>
        </p:txBody>
      </p:sp>
      <p:sp>
        <p:nvSpPr>
          <p:cNvPr id="32" name="TextBox 31"/>
          <p:cNvSpPr txBox="1"/>
          <p:nvPr/>
        </p:nvSpPr>
        <p:spPr>
          <a:xfrm>
            <a:off x="8656319" y="3566160"/>
            <a:ext cx="3322320" cy="594360"/>
          </a:xfrm>
          <a:prstGeom prst="rect">
            <a:avLst/>
          </a:prstGeom>
          <a:noFill/>
        </p:spPr>
        <p:txBody>
          <a:bodyPr wrap="square" lIns="45720" rIns="45720" tIns="27432" bIns="27432">
            <a:spAutoFit/>
          </a:bodyPr>
          <a:lstStyle/>
          <a:p>
            <a:r>
              <a:rPr sz="1300" b="1">
                <a:solidFill>
                  <a:srgbClr val="F5F7FF"/>
                </a:solidFill>
                <a:latin typeface="Segoe UI"/>
              </a:rPr>
              <a:t>Messaging drift audit and remediation routing</a:t>
            </a:r>
          </a:p>
        </p:txBody>
      </p:sp>
      <p:sp>
        <p:nvSpPr>
          <p:cNvPr id="33" name="TextBox 32"/>
          <p:cNvSpPr txBox="1"/>
          <p:nvPr/>
        </p:nvSpPr>
        <p:spPr>
          <a:xfrm>
            <a:off x="8656319" y="4160520"/>
            <a:ext cx="3322320" cy="502919"/>
          </a:xfrm>
          <a:prstGeom prst="rect">
            <a:avLst/>
          </a:prstGeom>
          <a:noFill/>
        </p:spPr>
        <p:txBody>
          <a:bodyPr wrap="square" lIns="45720" rIns="45720" tIns="27432" bIns="27432">
            <a:spAutoFit/>
          </a:bodyPr>
          <a:lstStyle/>
          <a:p>
            <a:r>
              <a:rPr sz="1100" b="0">
                <a:solidFill>
                  <a:srgbClr val="AEB8E0"/>
                </a:solidFill>
                <a:latin typeface="Segoe UI"/>
              </a:rPr>
              <a:t>Flag inconsistencies with severity, fix, and owner.</a:t>
            </a:r>
          </a:p>
        </p:txBody>
      </p:sp>
      <p:sp>
        <p:nvSpPr>
          <p:cNvPr id="34" name="TextBox 33"/>
          <p:cNvSpPr txBox="1"/>
          <p:nvPr/>
        </p:nvSpPr>
        <p:spPr>
          <a:xfrm>
            <a:off x="8656319" y="4709160"/>
            <a:ext cx="3322320" cy="594360"/>
          </a:xfrm>
          <a:prstGeom prst="rect">
            <a:avLst/>
          </a:prstGeom>
          <a:noFill/>
        </p:spPr>
        <p:txBody>
          <a:bodyPr wrap="square" lIns="45720" rIns="45720" tIns="27432" bIns="27432">
            <a:spAutoFit/>
          </a:bodyPr>
          <a:lstStyle/>
          <a:p>
            <a:r>
              <a:rPr sz="1300" b="1">
                <a:solidFill>
                  <a:srgbClr val="F5F7FF"/>
                </a:solidFill>
                <a:latin typeface="Segoe UI"/>
              </a:rPr>
              <a:t>Scheduled customer signal activation</a:t>
            </a:r>
          </a:p>
        </p:txBody>
      </p:sp>
      <p:sp>
        <p:nvSpPr>
          <p:cNvPr id="35" name="TextBox 34"/>
          <p:cNvSpPr txBox="1"/>
          <p:nvPr/>
        </p:nvSpPr>
        <p:spPr>
          <a:xfrm>
            <a:off x="8656319" y="5303520"/>
            <a:ext cx="3322320" cy="502919"/>
          </a:xfrm>
          <a:prstGeom prst="rect">
            <a:avLst/>
          </a:prstGeom>
          <a:noFill/>
        </p:spPr>
        <p:txBody>
          <a:bodyPr wrap="square" lIns="45720" rIns="45720" tIns="27432" bIns="27432">
            <a:spAutoFit/>
          </a:bodyPr>
          <a:lstStyle/>
          <a:p>
            <a:r>
              <a:rPr sz="11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Rebalance your week and protect focus time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LIGHT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Take control of a fragmented calendar before it takes control of your week.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REBALANCE YOUR WEEK AND PROTECT FOCUS TIME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 decline or shorten. Then show proposed changes with explanations: meetings to accept/decline/reschedule, conflicts to resolve (including emailing organizers), and focus blocks to add. Start...</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Calendar -&gt; Summarize meeting load + focus time</a:t>
            </a:r>
          </a:p>
          <a:p>
            <a:pPr>
              <a:lnSpc>
                <a:spcPct val="115000"/>
              </a:lnSpc>
              <a:spcAft>
                <a:spcPts val="700"/>
              </a:spcAft>
              <a:defRPr sz="1200">
                <a:solidFill>
                  <a:srgbClr val="F5F7FF"/>
                </a:solidFill>
                <a:latin typeface="Segoe UI"/>
              </a:defRPr>
            </a:pPr>
            <a:r>
              <a:t>•  Clarify -&gt; Weekly goals + constraints</a:t>
            </a:r>
          </a:p>
          <a:p>
            <a:pPr>
              <a:lnSpc>
                <a:spcPct val="115000"/>
              </a:lnSpc>
              <a:spcAft>
                <a:spcPts val="700"/>
              </a:spcAft>
              <a:defRPr sz="1200">
                <a:solidFill>
                  <a:srgbClr val="F5F7FF"/>
                </a:solidFill>
                <a:latin typeface="Segoe UI"/>
              </a:defRPr>
            </a:pPr>
            <a:r>
              <a:t>•  Evaluate -&gt; Meeting impact + conflicts</a:t>
            </a:r>
          </a:p>
          <a:p>
            <a:pPr>
              <a:lnSpc>
                <a:spcPct val="115000"/>
              </a:lnSpc>
              <a:spcAft>
                <a:spcPts val="700"/>
              </a:spcAft>
              <a:defRPr sz="1200">
                <a:solidFill>
                  <a:srgbClr val="F5F7FF"/>
                </a:solidFill>
                <a:latin typeface="Segoe UI"/>
              </a:defRPr>
            </a:pPr>
            <a:r>
              <a:t>•  Propose -&gt; Accept / decline / reschedule</a:t>
            </a:r>
          </a:p>
          <a:p>
            <a:pPr>
              <a:lnSpc>
                <a:spcPct val="115000"/>
              </a:lnSpc>
              <a:spcAft>
                <a:spcPts val="700"/>
              </a:spcAft>
              <a:defRPr sz="1200">
                <a:solidFill>
                  <a:srgbClr val="F5F7FF"/>
                </a:solidFill>
                <a:latin typeface="Segoe UI"/>
              </a:defRPr>
            </a:pPr>
            <a:r>
              <a:t>•  Recommend -&gt; Add focus blocks</a:t>
            </a:r>
          </a:p>
          <a:p>
            <a:pPr>
              <a:lnSpc>
                <a:spcPct val="115000"/>
              </a:lnSpc>
              <a:spcAft>
                <a:spcPts val="700"/>
              </a:spcAft>
              <a:defRPr sz="1200">
                <a:solidFill>
                  <a:srgbClr val="F5F7FF"/>
                </a:solidFill>
                <a:latin typeface="Segoe UI"/>
              </a:defRPr>
            </a:pPr>
            <a:r>
              <a:t>•  Approve -&gt; Proposed changes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F5F7FF"/>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AEB8E0"/>
                </a:solidFill>
                <a:latin typeface="Segoe UI"/>
              </a:rPr>
              <a:t>To automate this, save the prompt, then in Microsoft 365 Copilot hover the saved prompt and choose "Schedule this prompt". Use a skill separately when you want the same workflow instructions reused.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Wrap up projects and organize all related work</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LIGHT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3E8E22"/>
                </a:solidFill>
                <a:latin typeface="Segoe UI"/>
              </a:rPr>
              <a:t>Light</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Close out a project with a clean, shareable archive, not a scattered trail of files.</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WRAP UP PROJECTS AND ORGANIZE ALL RELATED 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 and a one-paragraph "what shipped" summary up top, so the archive is navigable, not just a folder of files.</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-&gt; Locate project files</a:t>
            </a:r>
          </a:p>
          <a:p>
            <a:pPr>
              <a:lnSpc>
                <a:spcPct val="115000"/>
              </a:lnSpc>
              <a:spcAft>
                <a:spcPts val="700"/>
              </a:spcAft>
              <a:defRPr sz="1200">
                <a:solidFill>
                  <a:srgbClr val="F5F7FF"/>
                </a:solidFill>
                <a:latin typeface="Segoe UI"/>
              </a:defRPr>
            </a:pPr>
            <a:r>
              <a:t>•  Classify -&gt; Docs / decks / spreadsheets</a:t>
            </a:r>
          </a:p>
          <a:p>
            <a:pPr>
              <a:lnSpc>
                <a:spcPct val="115000"/>
              </a:lnSpc>
              <a:spcAft>
                <a:spcPts val="700"/>
              </a:spcAft>
              <a:defRPr sz="1200">
                <a:solidFill>
                  <a:srgbClr val="F5F7FF"/>
                </a:solidFill>
                <a:latin typeface="Segoe UI"/>
              </a:defRPr>
            </a:pPr>
            <a:r>
              <a:t>•  Create -&gt; Archive folder</a:t>
            </a:r>
          </a:p>
          <a:p>
            <a:pPr>
              <a:lnSpc>
                <a:spcPct val="115000"/>
              </a:lnSpc>
              <a:spcAft>
                <a:spcPts val="700"/>
              </a:spcAft>
              <a:defRPr sz="1200">
                <a:solidFill>
                  <a:srgbClr val="F5F7FF"/>
                </a:solidFill>
                <a:latin typeface="Segoe UI"/>
              </a:defRPr>
            </a:pPr>
            <a:r>
              <a:t>•  Move -&gt; Related artifacts</a:t>
            </a:r>
          </a:p>
          <a:p>
            <a:pPr>
              <a:lnSpc>
                <a:spcPct val="115000"/>
              </a:lnSpc>
              <a:spcAft>
                <a:spcPts val="700"/>
              </a:spcAft>
              <a:defRPr sz="1200">
                <a:solidFill>
                  <a:srgbClr val="F5F7FF"/>
                </a:solidFill>
                <a:latin typeface="Segoe UI"/>
              </a:defRPr>
            </a:pPr>
            <a:r>
              <a:t>•  Share -&gt; Archive folder</a:t>
            </a:r>
          </a:p>
          <a:p>
            <a:pPr>
              <a:lnSpc>
                <a:spcPct val="115000"/>
              </a:lnSpc>
              <a:spcAft>
                <a:spcPts val="700"/>
              </a:spcAft>
              <a:defRPr sz="1200">
                <a:solidFill>
                  <a:srgbClr val="F5F7FF"/>
                </a:solidFill>
                <a:latin typeface="Segoe UI"/>
              </a:defRPr>
            </a:pPr>
            <a:r>
              <a:t>•  Confirm -&gt; Central project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Turn inbox noise into a curated intelligence brief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MEDIUM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Cut through a week of newsletters to the stories that actually matter to your work.</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TURN INBOX NOISE INTO A CURATED INTELLIGENCE BRIEF</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 newsletters (hardware, food bank fundraisers, etc.). End with a 2,3 sentence throughline tying the week's themes together. Write the output inline as a readable article. Include links inline to the...</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2743200"/>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Inbox -&gt; Identify newsletters + digests</a:t>
            </a:r>
          </a:p>
          <a:p>
            <a:pPr>
              <a:lnSpc>
                <a:spcPct val="115000"/>
              </a:lnSpc>
              <a:spcAft>
                <a:spcPts val="700"/>
              </a:spcAft>
              <a:defRPr sz="1200">
                <a:solidFill>
                  <a:srgbClr val="F5F7FF"/>
                </a:solidFill>
                <a:latin typeface="Segoe UI"/>
              </a:defRPr>
            </a:pPr>
            <a:r>
              <a:t>•  Categorize -&gt; Internal / AI / news / industry</a:t>
            </a:r>
          </a:p>
          <a:p>
            <a:pPr>
              <a:lnSpc>
                <a:spcPct val="115000"/>
              </a:lnSpc>
              <a:spcAft>
                <a:spcPts val="700"/>
              </a:spcAft>
              <a:defRPr sz="1200">
                <a:solidFill>
                  <a:srgbClr val="F5F7FF"/>
                </a:solidFill>
                <a:latin typeface="Segoe UI"/>
              </a:defRPr>
            </a:pPr>
            <a:r>
              <a:t>•  Filter -&gt; Exclude consumer content</a:t>
            </a:r>
          </a:p>
          <a:p>
            <a:pPr>
              <a:lnSpc>
                <a:spcPct val="115000"/>
              </a:lnSpc>
              <a:spcAft>
                <a:spcPts val="700"/>
              </a:spcAft>
              <a:defRPr sz="1200">
                <a:solidFill>
                  <a:srgbClr val="F5F7FF"/>
                </a:solidFill>
                <a:latin typeface="Segoe UI"/>
              </a:defRPr>
            </a:pPr>
            <a:r>
              <a:t>•  Synthesize -&gt; Narrative brief</a:t>
            </a:r>
          </a:p>
          <a:p>
            <a:pPr>
              <a:lnSpc>
                <a:spcPct val="115000"/>
              </a:lnSpc>
              <a:spcAft>
                <a:spcPts val="700"/>
              </a:spcAft>
              <a:defRPr sz="1200">
                <a:solidFill>
                  <a:srgbClr val="F5F7FF"/>
                </a:solidFill>
                <a:latin typeface="Segoe UI"/>
              </a:defRPr>
            </a:pPr>
            <a:r>
              <a:t>•  Compile -&gt; Inline article</a:t>
            </a:r>
          </a:p>
          <a:p>
            <a:pPr>
              <a:lnSpc>
                <a:spcPct val="115000"/>
              </a:lnSpc>
              <a:spcAft>
                <a:spcPts val="700"/>
              </a:spcAft>
              <a:defRPr sz="1200">
                <a:solidFill>
                  <a:srgbClr val="F5F7FF"/>
                </a:solidFill>
                <a:latin typeface="Segoe UI"/>
              </a:defRPr>
            </a:pPr>
            <a:r>
              <a:t>•  Link -&gt; Source emails</a:t>
            </a:r>
          </a:p>
        </p:txBody>
      </p:sp>
      <p:sp>
        <p:nvSpPr>
          <p:cNvPr id="13" name="TextBox 12"/>
          <p:cNvSpPr txBox="1"/>
          <p:nvPr/>
        </p:nvSpPr>
        <p:spPr>
          <a:xfrm>
            <a:off x="6492240" y="5212080"/>
            <a:ext cx="731520" cy="274320"/>
          </a:xfrm>
          <a:prstGeom prst="rect">
            <a:avLst/>
          </a:prstGeom>
          <a:noFill/>
        </p:spPr>
        <p:txBody>
          <a:bodyPr wrap="square" lIns="45720" rIns="45720" tIns="27432" bIns="27432">
            <a:spAutoFit/>
          </a:bodyPr>
          <a:lstStyle/>
          <a:p>
            <a:r>
              <a:rPr sz="1200" b="1">
                <a:solidFill>
                  <a:srgbClr val="F5F7FF"/>
                </a:solidFill>
                <a:latin typeface="Segoe UI"/>
              </a:rPr>
              <a:t>Note</a:t>
            </a:r>
          </a:p>
        </p:txBody>
      </p:sp>
      <p:sp>
        <p:nvSpPr>
          <p:cNvPr id="14" name="TextBox 13"/>
          <p:cNvSpPr txBox="1"/>
          <p:nvPr/>
        </p:nvSpPr>
        <p:spPr>
          <a:xfrm>
            <a:off x="6492240" y="5486400"/>
            <a:ext cx="5029200" cy="685800"/>
          </a:xfrm>
          <a:prstGeom prst="rect">
            <a:avLst/>
          </a:prstGeom>
          <a:noFill/>
        </p:spPr>
        <p:txBody>
          <a:bodyPr wrap="square" lIns="45720" rIns="45720" tIns="27432" bIns="27432">
            <a:spAutoFit/>
          </a:bodyPr>
          <a:lstStyle/>
          <a:p>
            <a:r>
              <a:rPr sz="1100" b="0">
                <a:solidFill>
                  <a:srgbClr val="AEB8E0"/>
                </a:solidFill>
                <a:latin typeface="Segoe UI"/>
              </a:rPr>
              <a:t>This task can use a scheduled prompt. In Microsoft 365 Copilot, save the prompt, hover it, choose "Schedule this prompt", and set the recurrence.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Partner and channel activation kit</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MEDIUM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0E8E92"/>
                </a:solidFill>
                <a:latin typeface="Segoe UI"/>
              </a:rPr>
              <a:t>Medium</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PARTNER AND CHANNEL ACTIVATION KIT</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 (Word) Partner email template (Word) Channel-ready social pack, three LinkedIn variants and two X variants with creative guidance (Excel) Route: Send to [Partner Marketing Owner] for...</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[Folder] -&gt; Read the launch materials</a:t>
            </a:r>
          </a:p>
          <a:p>
            <a:pPr>
              <a:lnSpc>
                <a:spcPct val="115000"/>
              </a:lnSpc>
              <a:spcAft>
                <a:spcPts val="700"/>
              </a:spcAft>
              <a:defRPr sz="1200">
                <a:solidFill>
                  <a:srgbClr val="F5F7FF"/>
                </a:solidFill>
                <a:latin typeface="Segoe UI"/>
              </a:defRPr>
            </a:pPr>
            <a:r>
              <a:t>•  Messaging Doc -&gt; Ground every adaptation in approved positioning</a:t>
            </a:r>
          </a:p>
          <a:p>
            <a:pPr>
              <a:lnSpc>
                <a:spcPct val="115000"/>
              </a:lnSpc>
              <a:spcAft>
                <a:spcPts val="700"/>
              </a:spcAft>
              <a:defRPr sz="1200">
                <a:solidFill>
                  <a:srgbClr val="F5F7FF"/>
                </a:solidFill>
                <a:latin typeface="Segoe UI"/>
              </a:defRPr>
            </a:pPr>
            <a:r>
              <a:t>•  Adapt -&gt; One-pager · talking points · FAQ</a:t>
            </a:r>
          </a:p>
          <a:p>
            <a:pPr>
              <a:lnSpc>
                <a:spcPct val="115000"/>
              </a:lnSpc>
              <a:spcAft>
                <a:spcPts val="700"/>
              </a:spcAft>
              <a:defRPr sz="1200">
                <a:solidFill>
                  <a:srgbClr val="F5F7FF"/>
                </a:solidFill>
                <a:latin typeface="Segoe UI"/>
              </a:defRPr>
            </a:pPr>
            <a:r>
              <a:t>•  Adapt -&gt; Email template · social pack</a:t>
            </a:r>
          </a:p>
          <a:p>
            <a:pPr>
              <a:lnSpc>
                <a:spcPct val="115000"/>
              </a:lnSpc>
              <a:spcAft>
                <a:spcPts val="700"/>
              </a:spcAft>
              <a:defRPr sz="1200">
                <a:solidFill>
                  <a:srgbClr val="F5F7FF"/>
                </a:solidFill>
                <a:latin typeface="Segoe UI"/>
              </a:defRPr>
            </a:pPr>
            <a:r>
              <a:t>•  Org directory -&gt; Identify partner and channel owners</a:t>
            </a:r>
          </a:p>
          <a:p>
            <a:pPr>
              <a:lnSpc>
                <a:spcPct val="115000"/>
              </a:lnSpc>
              <a:spcAft>
                <a:spcPts val="700"/>
              </a:spcAft>
              <a:defRPr sz="1200">
                <a:solidFill>
                  <a:srgbClr val="F5F7FF"/>
                </a:solidFill>
                <a:latin typeface="Segoe UI"/>
              </a:defRPr>
            </a:pPr>
            <a:r>
              <a:t>•  Route -&gt; Kit to owners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Prepare a complete out-of-office handoff</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HEAVY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Step away from your laptop knowing nothing in flight will stall while you are out.</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PREPARE A COMPLETE OUT-OF-OFFICE HANDOFF</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 have action items for next week and include these in the handover. This should cover big project asks as well as smaller project tasks. Please limit the team members who are covering to my...</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Meetings (this week) -&gt; Identify active projects + stakeholders</a:t>
            </a:r>
          </a:p>
          <a:p>
            <a:pPr>
              <a:lnSpc>
                <a:spcPct val="115000"/>
              </a:lnSpc>
              <a:spcAft>
                <a:spcPts val="700"/>
              </a:spcAft>
              <a:defRPr sz="1200">
                <a:solidFill>
                  <a:srgbClr val="F5F7FF"/>
                </a:solidFill>
                <a:latin typeface="Segoe UI"/>
              </a:defRPr>
            </a:pPr>
            <a:r>
              <a:t>•  Email threads -&gt; Extract open requests + dependencies</a:t>
            </a:r>
          </a:p>
          <a:p>
            <a:pPr>
              <a:lnSpc>
                <a:spcPct val="115000"/>
              </a:lnSpc>
              <a:spcAft>
                <a:spcPts val="700"/>
              </a:spcAft>
              <a:defRPr sz="1200">
                <a:solidFill>
                  <a:srgbClr val="F5F7FF"/>
                </a:solidFill>
                <a:latin typeface="Segoe UI"/>
              </a:defRPr>
            </a:pPr>
            <a:r>
              <a:t>•  Teams chats -&gt; Capture in-flight tasks</a:t>
            </a:r>
          </a:p>
          <a:p>
            <a:pPr>
              <a:lnSpc>
                <a:spcPct val="115000"/>
              </a:lnSpc>
              <a:spcAft>
                <a:spcPts val="700"/>
              </a:spcAft>
              <a:defRPr sz="1200">
                <a:solidFill>
                  <a:srgbClr val="F5F7FF"/>
                </a:solidFill>
                <a:latin typeface="Segoe UI"/>
              </a:defRPr>
            </a:pPr>
            <a:r>
              <a:t>•  Calendar (next week) -&gt; Detect upcoming deadlines</a:t>
            </a:r>
          </a:p>
          <a:p>
            <a:pPr>
              <a:lnSpc>
                <a:spcPct val="115000"/>
              </a:lnSpc>
              <a:spcAft>
                <a:spcPts val="700"/>
              </a:spcAft>
              <a:defRPr sz="1200">
                <a:solidFill>
                  <a:srgbClr val="F5F7FF"/>
                </a:solidFill>
                <a:latin typeface="Segoe UI"/>
              </a:defRPr>
            </a:pPr>
            <a:r>
              <a:t>•  Org directory -&gt; Match internal team coverage</a:t>
            </a:r>
          </a:p>
          <a:p>
            <a:pPr>
              <a:lnSpc>
                <a:spcPct val="115000"/>
              </a:lnSpc>
              <a:spcAft>
                <a:spcPts val="700"/>
              </a:spcAft>
              <a:defRPr sz="1200">
                <a:solidFill>
                  <a:srgbClr val="F5F7FF"/>
                </a:solidFill>
                <a:latin typeface="Segoe UI"/>
              </a:defRPr>
            </a:pPr>
            <a:r>
              <a:t>•  Files -&gt; Link supporting documents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Analyze and optimize your OneDrive at scale</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COWORK HEAVY TASK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1097280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1097280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645920" cy="502920"/>
          </a:xfrm>
          <a:prstGeom prst="rect">
            <a:avLst/>
          </a:prstGeom>
          <a:noFill/>
        </p:spPr>
        <p:txBody>
          <a:bodyPr wrap="square" lIns="45720" rIns="45720" tIns="27432" bIns="27432">
            <a:spAutoFit/>
          </a:bodyPr>
          <a:lstStyle/>
          <a:p>
            <a:r>
              <a:rPr sz="2400" b="1">
                <a:solidFill>
                  <a:srgbClr val="C73E78"/>
                </a:solidFill>
                <a:latin typeface="Segoe UI"/>
              </a:rPr>
              <a:t>Heavy</a:t>
            </a:r>
          </a:p>
        </p:txBody>
      </p:sp>
      <p:sp>
        <p:nvSpPr>
          <p:cNvPr id="8" name="TextBox 7"/>
          <p:cNvSpPr txBox="1"/>
          <p:nvPr/>
        </p:nvSpPr>
        <p:spPr>
          <a:xfrm>
            <a:off x="2697480" y="2011680"/>
            <a:ext cx="8595360" cy="1005840"/>
          </a:xfrm>
          <a:prstGeom prst="rect">
            <a:avLst/>
          </a:prstGeom>
          <a:noFill/>
        </p:spPr>
        <p:txBody>
          <a:bodyPr wrap="square" lIns="45720" rIns="45720" tIns="27432" bIns="27432">
            <a:spAutoFit/>
          </a:bodyPr>
          <a:lstStyle/>
          <a:p>
            <a:r>
              <a:rPr sz="15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3383280"/>
            <a:ext cx="1554480" cy="365760"/>
          </a:xfrm>
          <a:prstGeom prst="rect">
            <a:avLst/>
          </a:prstGeom>
          <a:noFill/>
        </p:spPr>
        <p:txBody>
          <a:bodyPr wrap="square" lIns="45720" rIns="45720" tIns="27432" bIns="27432">
            <a:spAutoFit/>
          </a:bodyPr>
          <a:lstStyle/>
          <a:p>
            <a:r>
              <a:rPr sz="1600" b="1">
                <a:solidFill>
                  <a:srgbClr val="F5F7FF"/>
                </a:solidFill>
                <a:latin typeface="Segoe UI"/>
              </a:rPr>
              <a:t>Goal</a:t>
            </a:r>
          </a:p>
        </p:txBody>
      </p:sp>
      <p:sp>
        <p:nvSpPr>
          <p:cNvPr id="10" name="TextBox 9"/>
          <p:cNvSpPr txBox="1"/>
          <p:nvPr/>
        </p:nvSpPr>
        <p:spPr>
          <a:xfrm>
            <a:off x="2697480" y="3383280"/>
            <a:ext cx="8595360" cy="1097280"/>
          </a:xfrm>
          <a:prstGeom prst="rect">
            <a:avLst/>
          </a:prstGeom>
          <a:noFill/>
        </p:spPr>
        <p:txBody>
          <a:bodyPr wrap="square" lIns="45720" rIns="45720" tIns="27432" bIns="27432">
            <a:spAutoFit/>
          </a:bodyPr>
          <a:lstStyle/>
          <a:p>
            <a:r>
              <a:rPr sz="1400" b="0">
                <a:solidFill>
                  <a:srgbClr val="F5F7FF"/>
                </a:solidFill>
                <a:latin typeface="Segoe UI"/>
              </a:rPr>
              <a:t>Turn a sprawling OneDrive into a structured catalog you can actually act on.</a:t>
            </a:r>
          </a:p>
        </p:txBody>
      </p:sp>
      <p:sp>
        <p:nvSpPr>
          <p:cNvPr id="11" name="TextBox 10"/>
          <p:cNvSpPr txBox="1"/>
          <p:nvPr/>
        </p:nvSpPr>
        <p:spPr>
          <a:xfrm>
            <a:off x="914400" y="4709160"/>
            <a:ext cx="1691640" cy="365760"/>
          </a:xfrm>
          <a:prstGeom prst="rect">
            <a:avLst/>
          </a:prstGeom>
          <a:noFill/>
        </p:spPr>
        <p:txBody>
          <a:bodyPr wrap="square" lIns="45720" rIns="45720" tIns="27432" bIns="27432">
            <a:spAutoFit/>
          </a:bodyPr>
          <a:lstStyle/>
          <a:p>
            <a:r>
              <a:rPr sz="1600" b="1">
                <a:solidFill>
                  <a:srgbClr val="F5F7FF"/>
                </a:solidFill>
                <a:latin typeface="Segoe UI"/>
              </a:rPr>
              <a:t>Outcome</a:t>
            </a:r>
          </a:p>
        </p:txBody>
      </p:sp>
      <p:sp>
        <p:nvSpPr>
          <p:cNvPr id="12" name="TextBox 11"/>
          <p:cNvSpPr txBox="1"/>
          <p:nvPr/>
        </p:nvSpPr>
        <p:spPr>
          <a:xfrm>
            <a:off x="2697480" y="4709160"/>
            <a:ext cx="8595360" cy="1280160"/>
          </a:xfrm>
          <a:prstGeom prst="rect">
            <a:avLst/>
          </a:prstGeom>
          <a:noFill/>
        </p:spPr>
        <p:txBody>
          <a:bodyPr wrap="square" lIns="45720" rIns="45720" tIns="27432" bIns="27432">
            <a:spAutoFit/>
          </a:bodyPr>
          <a:lstStyle/>
          <a:p>
            <a:r>
              <a:rPr sz="14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Goal, outcome, prompt, flow</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ANALYZE AND OPTIMIZE YOUR ONEDRIVE AT SCALE</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Prompt to give Cowork</a:t>
            </a:r>
          </a:p>
        </p:txBody>
      </p:sp>
      <p:sp>
        <p:nvSpPr>
          <p:cNvPr id="8" name="TextBox 7"/>
          <p:cNvSpPr txBox="1"/>
          <p:nvPr/>
        </p:nvSpPr>
        <p:spPr>
          <a:xfrm>
            <a:off x="868680" y="2331720"/>
            <a:ext cx="5029200" cy="3794760"/>
          </a:xfrm>
          <a:prstGeom prst="rect">
            <a:avLst/>
          </a:prstGeom>
          <a:noFill/>
        </p:spPr>
        <p:txBody>
          <a:bodyPr wrap="square" lIns="45720" rIns="45720" tIns="27432" bIns="27432">
            <a:spAutoFit/>
          </a:bodyPr>
          <a:lstStyle/>
          <a:p>
            <a:r>
              <a:rPr sz="11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 files to delete which you will rename by prepending the original name with "Delete_" and place them all into a Delete folder. Present me with your plan before you act on it.</a:t>
            </a:r>
          </a:p>
        </p:txBody>
      </p:sp>
      <p:sp>
        <p:nvSpPr>
          <p:cNvPr id="9" name="Rounded Rectangle 8"/>
          <p:cNvSpPr/>
          <p:nvPr/>
        </p:nvSpPr>
        <p:spPr>
          <a:xfrm>
            <a:off x="6263640" y="1691640"/>
            <a:ext cx="5440680" cy="452628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91640"/>
            <a:ext cx="5440680" cy="82296"/>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920240"/>
            <a:ext cx="5029200" cy="365760"/>
          </a:xfrm>
          <a:prstGeom prst="rect">
            <a:avLst/>
          </a:prstGeom>
          <a:noFill/>
        </p:spPr>
        <p:txBody>
          <a:bodyPr wrap="square" lIns="45720" rIns="45720" tIns="27432" bIns="27432">
            <a:spAutoFit/>
          </a:bodyPr>
          <a:lstStyle/>
          <a:p>
            <a:r>
              <a:rPr sz="1500" b="1">
                <a:solidFill>
                  <a:srgbClr val="F5F7FF"/>
                </a:solidFill>
                <a:latin typeface="Segoe UI"/>
              </a:rPr>
              <a:t>Execution flow</a:t>
            </a:r>
          </a:p>
        </p:txBody>
      </p:sp>
      <p:sp>
        <p:nvSpPr>
          <p:cNvPr id="12" name="TextBox 11"/>
          <p:cNvSpPr txBox="1"/>
          <p:nvPr/>
        </p:nvSpPr>
        <p:spPr>
          <a:xfrm>
            <a:off x="6492240" y="2331720"/>
            <a:ext cx="5029200" cy="3749039"/>
          </a:xfrm>
          <a:prstGeom prst="rect">
            <a:avLst/>
          </a:prstGeom>
          <a:noFill/>
        </p:spPr>
        <p:txBody>
          <a:bodyPr wrap="square" tIns="54864" bIns="54864">
            <a:spAutoFit/>
          </a:bodyPr>
          <a:lstStyle/>
          <a:p>
            <a:pPr>
              <a:lnSpc>
                <a:spcPct val="115000"/>
              </a:lnSpc>
              <a:spcAft>
                <a:spcPts val="700"/>
              </a:spcAft>
              <a:defRPr sz="1200">
                <a:solidFill>
                  <a:srgbClr val="F5F7FF"/>
                </a:solidFill>
                <a:latin typeface="Segoe UI"/>
              </a:defRPr>
            </a:pPr>
            <a:r>
              <a:t>•  OneDrive -&gt; Scan file inventory</a:t>
            </a:r>
          </a:p>
          <a:p>
            <a:pPr>
              <a:lnSpc>
                <a:spcPct val="115000"/>
              </a:lnSpc>
              <a:spcAft>
                <a:spcPts val="700"/>
              </a:spcAft>
              <a:defRPr sz="1200">
                <a:solidFill>
                  <a:srgbClr val="F5F7FF"/>
                </a:solidFill>
                <a:latin typeface="Segoe UI"/>
              </a:defRPr>
            </a:pPr>
            <a:r>
              <a:t>•  Catalog -&gt; Age + relevance</a:t>
            </a:r>
          </a:p>
          <a:p>
            <a:pPr>
              <a:lnSpc>
                <a:spcPct val="115000"/>
              </a:lnSpc>
              <a:spcAft>
                <a:spcPts val="700"/>
              </a:spcAft>
              <a:defRPr sz="1200">
                <a:solidFill>
                  <a:srgbClr val="F5F7FF"/>
                </a:solidFill>
                <a:latin typeface="Segoe UI"/>
              </a:defRPr>
            </a:pPr>
            <a:r>
              <a:t>•  Categorize -&gt; Customer / product</a:t>
            </a:r>
          </a:p>
          <a:p>
            <a:pPr>
              <a:lnSpc>
                <a:spcPct val="115000"/>
              </a:lnSpc>
              <a:spcAft>
                <a:spcPts val="700"/>
              </a:spcAft>
              <a:defRPr sz="1200">
                <a:solidFill>
                  <a:srgbClr val="F5F7FF"/>
                </a:solidFill>
                <a:latin typeface="Segoe UI"/>
              </a:defRPr>
            </a:pPr>
            <a:r>
              <a:t>•  Visualize -&gt; HTML dashboard</a:t>
            </a:r>
          </a:p>
          <a:p>
            <a:pPr>
              <a:lnSpc>
                <a:spcPct val="115000"/>
              </a:lnSpc>
              <a:spcAft>
                <a:spcPts val="700"/>
              </a:spcAft>
              <a:defRPr sz="1200">
                <a:solidFill>
                  <a:srgbClr val="F5F7FF"/>
                </a:solidFill>
                <a:latin typeface="Segoe UI"/>
              </a:defRPr>
            </a:pPr>
            <a:r>
              <a:t>•  Recommend -&gt; Optimization plan</a:t>
            </a:r>
          </a:p>
          <a:p>
            <a:pPr>
              <a:lnSpc>
                <a:spcPct val="115000"/>
              </a:lnSpc>
              <a:spcAft>
                <a:spcPts val="700"/>
              </a:spcAft>
              <a:defRPr sz="1200">
                <a:solidFill>
                  <a:srgbClr val="F5F7FF"/>
                </a:solidFill>
                <a:latin typeface="Segoe UI"/>
              </a:defRPr>
            </a:pPr>
            <a:r>
              <a:t>•  Rename -&gt; "Delete_" files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Add-on tip: schedule Cowork prompts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COPILOT COWORK</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2194560"/>
            <a:ext cx="9784080" cy="3108960"/>
          </a:xfrm>
          <a:prstGeom prst="roundRect">
            <a:avLst/>
          </a:prstGeom>
          <a:solidFill>
            <a:srgbClr val="1B2241"/>
          </a:solidFill>
          <a:ln w="9525">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194560"/>
            <a:ext cx="9784080" cy="82296"/>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54480" y="2606040"/>
            <a:ext cx="1463040" cy="548640"/>
          </a:xfrm>
          <a:prstGeom prst="rect">
            <a:avLst/>
          </a:prstGeom>
          <a:noFill/>
        </p:spPr>
        <p:txBody>
          <a:bodyPr wrap="square" lIns="45720" rIns="45720" tIns="27432" bIns="27432">
            <a:spAutoFit/>
          </a:bodyPr>
          <a:lstStyle/>
          <a:p>
            <a:r>
              <a:rPr sz="2800" b="1">
                <a:solidFill>
                  <a:srgbClr val="73B82E"/>
                </a:solidFill>
                <a:latin typeface="Segoe UI"/>
              </a:rPr>
              <a:t>Tip</a:t>
            </a:r>
          </a:p>
        </p:txBody>
      </p:sp>
      <p:sp>
        <p:nvSpPr>
          <p:cNvPr id="8" name="TextBox 7"/>
          <p:cNvSpPr txBox="1"/>
          <p:nvPr/>
        </p:nvSpPr>
        <p:spPr>
          <a:xfrm>
            <a:off x="1554480" y="3337560"/>
            <a:ext cx="9052560" cy="1737360"/>
          </a:xfrm>
          <a:prstGeom prst="rect">
            <a:avLst/>
          </a:prstGeom>
          <a:noFill/>
        </p:spPr>
        <p:txBody>
          <a:bodyPr wrap="square" lIns="45720" rIns="45720" tIns="27432" bIns="27432">
            <a:spAutoFit/>
          </a:bodyPr>
          <a:lstStyle/>
          <a:p>
            <a:r>
              <a:rPr sz="19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640080" y="502920"/>
            <a:ext cx="10972800" cy="822960"/>
          </a:xfrm>
        </p:spPr>
        <p:txBody>
          <a:bodyPr wrap="square" lIns="27432" rIns="27432" tIns="0" bIns="0"/>
          <a:lstStyle/>
          <a:p>
            <a:pPr algn="l"/>
            <a:r>
              <a:rPr sz="2800" b="1">
                <a:solidFill>
                  <a:srgbClr val="F5F7FF"/>
                </a:solidFill>
                <a:latin typeface="Segoe UI"/>
              </a:rPr>
              <a:t>References</a:t>
            </a:r>
          </a:p>
        </p:txBody>
      </p:sp>
      <p:sp>
        <p:nvSpPr>
          <p:cNvPr id="3" name="TextBox 2"/>
          <p:cNvSpPr txBox="1"/>
          <p:nvPr/>
        </p:nvSpPr>
        <p:spPr>
          <a:xfrm>
            <a:off x="640080" y="256032"/>
            <a:ext cx="9144000" cy="256032"/>
          </a:xfrm>
          <a:prstGeom prst="rect">
            <a:avLst/>
          </a:prstGeom>
          <a:noFill/>
        </p:spPr>
        <p:txBody>
          <a:bodyPr wrap="square" lIns="45720" rIns="45720" tIns="27432" bIns="27432">
            <a:spAutoFit/>
          </a:bodyPr>
          <a:lstStyle/>
          <a:p>
            <a:r>
              <a:rPr sz="1100" b="1">
                <a:solidFill>
                  <a:srgbClr val="AEB8E0"/>
                </a:solidFill>
                <a:latin typeface="Segoe UI"/>
              </a:rPr>
              <a:t>MICROSOFT SOURCES</a:t>
            </a:r>
          </a:p>
        </p:txBody>
      </p:sp>
      <p:sp>
        <p:nvSpPr>
          <p:cNvPr id="4" name="Rectangle 3"/>
          <p:cNvSpPr/>
          <p:nvPr/>
        </p:nvSpPr>
        <p:spPr>
          <a:xfrm>
            <a:off x="640080" y="1371600"/>
            <a:ext cx="1463040" cy="54864"/>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91640"/>
            <a:ext cx="10515600" cy="4572000"/>
          </a:xfrm>
          <a:prstGeom prst="rect">
            <a:avLst/>
          </a:prstGeom>
          <a:noFill/>
        </p:spPr>
        <p:txBody>
          <a:bodyPr wrap="square" tIns="54864">
            <a:spAutoFit/>
          </a:bodyPr>
          <a:lstStyle/>
          <a:p>
            <a:pPr>
              <a:lnSpc>
                <a:spcPct val="120000"/>
              </a:lnSpc>
              <a:spcAft>
                <a:spcPts val="800"/>
              </a:spcAft>
            </a:pPr>
            <a:r>
              <a:rPr sz="1400">
                <a:solidFill>
                  <a:srgbClr val="F5F7FF"/>
                </a:solidFill>
                <a:latin typeface="Segoe UI"/>
              </a:rPr>
              <a:t>•  </a:t>
            </a:r>
            <a:r>
              <a:rPr sz="1400" u="sng">
                <a:solidFill>
                  <a:srgbClr val="00B7C3"/>
                </a:solidFill>
                <a:latin typeface="Segoe UI"/>
                <a:hlinkClick r:id="rId2"/>
              </a:rPr>
              <a:t>learn.microsoft.com/microsoft-365/copilot/which-copilot-for-your-organization</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3"/>
              </a:rPr>
              <a:t>learn.microsoft.com/microsoft-365/copilot/cowork</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4"/>
              </a:rPr>
              <a:t>learn.microsoft.com/microsoft-365/copilot/cowork/cowork-faq</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5"/>
              </a:rPr>
              <a:t>learn.microsoft.com/microsoft-copilot-studio/fundamentals-what-is-copilot-studio</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6"/>
              </a:rPr>
              <a:t>learn.microsoft.com/microsoft-365/copilot/extensibility/copilot-studio-experience</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7"/>
              </a:rPr>
              <a:t>learn.microsoft.com/microsoft-365/copilot/researcher-agent</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8"/>
              </a:rPr>
              <a:t>learn.microsoft.com/copilot/agents</a:t>
            </a:r>
          </a:p>
          <a:p>
            <a:pPr>
              <a:lnSpc>
                <a:spcPct val="120000"/>
              </a:lnSpc>
              <a:spcAft>
                <a:spcPts val="800"/>
              </a:spcAft>
            </a:pPr>
            <a:r>
              <a:rPr sz="1400">
                <a:solidFill>
                  <a:srgbClr val="F5F7FF"/>
                </a:solidFill>
                <a:latin typeface="Segoe UI"/>
              </a:rPr>
              <a:t>•  </a:t>
            </a:r>
            <a:r>
              <a:rPr sz="1400" u="sng">
                <a:solidFill>
                  <a:srgbClr val="00B7C3"/>
                </a:solidFill>
                <a:latin typeface="Segoe UI"/>
                <a:hlinkClick r:id="rId9"/>
              </a:rPr>
              <a:t>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