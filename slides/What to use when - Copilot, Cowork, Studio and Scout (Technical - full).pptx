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learn.microsoft.com/en-us/microsoft-365/copilot/which-copilot-for-your-organization" TargetMode="External"/><Relationship Id="rId3" Type="http://schemas.openxmlformats.org/officeDocument/2006/relationships/hyperlink" Target="https://learn.microsoft.com/en-us/microsoft-365/copilot/cowork/" TargetMode="External"/><Relationship Id="rId4" Type="http://schemas.openxmlformats.org/officeDocument/2006/relationships/hyperlink" Target="https://learn.microsoft.com/en-us/microsoft-365/copilot/cowork/cowork-faq" TargetMode="External"/><Relationship Id="rId5" Type="http://schemas.openxmlformats.org/officeDocument/2006/relationships/hyperlink" Target="https://learn.microsoft.com/en-us/microsoft-copilot-studio/fundamentals-what-is-copilot-studio" TargetMode="External"/><Relationship Id="rId6" Type="http://schemas.openxmlformats.org/officeDocument/2006/relationships/hyperlink" Target="https://learn.microsoft.com/en-us/microsoft-365/copilot/extensibility/copilot-studio-experience" TargetMode="External"/><Relationship Id="rId7" Type="http://schemas.openxmlformats.org/officeDocument/2006/relationships/hyperlink" Target="https://learn.microsoft.com/en-us/microsoft-365/copilot/researcher-agent" TargetMode="External"/><Relationship Id="rId8" Type="http://schemas.openxmlformats.org/officeDocument/2006/relationships/hyperlink" Target="https://learn.microsoft.com/en-us/copilot/agents" TargetMode="External"/><Relationship Id="rId9" Type="http://schemas.openxmlformats.org/officeDocument/2006/relationships/hyperlink" Target="https://learn.microsoft.com/microsoft-scout"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ctrTitle"/>
          </p:nvPr>
        </p:nvSpPr>
        <p:spPr>
          <a:xfrm>
            <a:off x="640080" y="868680"/>
            <a:ext cx="6995160" cy="1234440"/>
          </a:xfrm>
        </p:spPr>
        <p:txBody>
          <a:bodyPr/>
          <a:lstStyle/>
          <a:p>
            <a:r>
              <a:rPr sz="2600" b="1">
                <a:solidFill>
                  <a:srgbClr val="F5F7FF"/>
                </a:solidFill>
                <a:latin typeface="Segoe UI"/>
              </a:rPr>
              <a:t>Copilot, Cowork, Studio &amp; Scout: what to use when</a:t>
            </a:r>
          </a:p>
        </p:txBody>
      </p:sp>
      <p:sp>
        <p:nvSpPr>
          <p:cNvPr id="3" name="Subtitle 2"/>
          <p:cNvSpPr>
            <a:spLocks noGrp="1"/>
          </p:cNvSpPr>
          <p:nvPr>
            <p:ph type="subTitle" idx="1"/>
          </p:nvPr>
        </p:nvSpPr>
        <p:spPr>
          <a:xfrm>
            <a:off x="658368" y="2212848"/>
            <a:ext cx="7726679" cy="1005840"/>
          </a:xfrm>
        </p:spPr>
        <p:txBody>
          <a:bodyPr/>
          <a:lstStyle/>
          <a:p>
            <a:r>
              <a:rPr sz="1400">
                <a:solidFill>
                  <a:srgbClr val="AEB8E0"/>
                </a:solidFill>
                <a:latin typeface="Segoe UI"/>
              </a:rPr>
              <a:t>Most tasks work in more than one place. This guide shows the quickest path for everyday work and where to graduate when things get bigger. Every claim is grounded in Microsoft Learn or microsoft.com, with links at the bottom. Preview features are labelled and may change.</a:t>
            </a:r>
          </a:p>
        </p:txBody>
      </p:sp>
      <p:sp>
        <p:nvSpPr>
          <p:cNvPr id="4" name="Oval 3"/>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The four tools at a glance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a:p>
            <a:pPr>
              <a:spcAft>
                <a:spcPts val="500"/>
              </a:spcAft>
              <a:defRPr sz="1300">
                <a:solidFill>
                  <a:srgbClr val="F5F7FF"/>
                </a:solidFill>
                <a:latin typeface="Segoe UI"/>
              </a:defRPr>
            </a:pPr>
            <a:r>
              <a:t>• Copilot Studio</a:t>
            </a:r>
          </a:p>
          <a:p>
            <a:pPr>
              <a:spcAft>
                <a:spcPts val="500"/>
              </a:spcAft>
              <a:defRPr sz="1300">
                <a:solidFill>
                  <a:srgbClr val="F5F7FF"/>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What should I use for each task?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Microsoft 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A small, content-focused Q&amp;A bot for yourself or a small team (for example: answer questions from a team SharePoint)</a:t>
            </a:r>
          </a:p>
          <a:p>
            <a:pPr>
              <a:spcAft>
                <a:spcPts val="500"/>
              </a:spcAft>
              <a:defRPr sz="1300">
                <a:solidFill>
                  <a:srgbClr val="F5F7FF"/>
                </a:solidFill>
                <a:latin typeface="Segoe UI"/>
              </a:defRPr>
            </a:pPr>
            <a:r>
              <a:t>• A repeated, role-specific process for a whole department or external customers (for example: dealer onboarding, customer service, IT helpdesk triage, sales assistant on CRM)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Which Copilot for each app's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How to ask Cowork well</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Scenarios by department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Internal helpdesk triage</a:t>
            </a:r>
          </a:p>
          <a:p>
            <a:pPr>
              <a:spcAft>
                <a:spcPts val="500"/>
              </a:spcAft>
              <a:defRPr sz="1300">
                <a:solidFill>
                  <a:srgbClr val="F5F7FF"/>
                </a:solidFill>
                <a:latin typeface="Segoe UI"/>
              </a:defRPr>
            </a:pPr>
            <a:r>
              <a:t>• Supplier and inventory risk</a:t>
            </a:r>
          </a:p>
          <a:p>
            <a:pPr>
              <a:spcAft>
                <a:spcPts val="500"/>
              </a:spcAft>
              <a:defRPr sz="1300">
                <a:solidFill>
                  <a:srgbClr val="F5F7FF"/>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Before building your own agent, check this order</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Building should be the last step, not the first.</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a:p>
            <a:pPr>
              <a:spcAft>
                <a:spcPts val="500"/>
              </a:spcAft>
              <a:defRPr sz="1300">
                <a:solidFill>
                  <a:srgbClr val="F5F7FF"/>
                </a:solidFill>
                <a:latin typeface="Segoe UI"/>
              </a:defRPr>
            </a:pPr>
            <a:r>
              <a:t>• Use Agent Builder or Copilot Studio</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light, medium,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light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medium</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Rebalance your week and protect focus time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Calendar -&gt; Summarize meeting load + focus time</a:t>
            </a:r>
          </a:p>
          <a:p>
            <a:pPr>
              <a:spcAft>
                <a:spcPts val="500"/>
              </a:spcAft>
              <a:defRPr sz="1000">
                <a:solidFill>
                  <a:srgbClr val="F5F7FF"/>
                </a:solidFill>
                <a:latin typeface="Segoe UI"/>
              </a:defRPr>
            </a:pPr>
            <a:r>
              <a:t>• Clarify -&gt; Weekly goals + constraints</a:t>
            </a:r>
          </a:p>
          <a:p>
            <a:pPr>
              <a:spcAft>
                <a:spcPts val="500"/>
              </a:spcAft>
              <a:defRPr sz="1000">
                <a:solidFill>
                  <a:srgbClr val="F5F7FF"/>
                </a:solidFill>
                <a:latin typeface="Segoe UI"/>
              </a:defRPr>
            </a:pPr>
            <a:r>
              <a:t>• Evaluate -&gt; Meeting impact + conflicts</a:t>
            </a:r>
          </a:p>
          <a:p>
            <a:pPr>
              <a:spcAft>
                <a:spcPts val="500"/>
              </a:spcAft>
              <a:defRPr sz="1000">
                <a:solidFill>
                  <a:srgbClr val="F5F7FF"/>
                </a:solidFill>
                <a:latin typeface="Segoe UI"/>
              </a:defRPr>
            </a:pPr>
            <a:r>
              <a:t>• Propose -&gt; Accept / decline / reschedule</a:t>
            </a:r>
          </a:p>
          <a:p>
            <a:pPr>
              <a:spcAft>
                <a:spcPts val="500"/>
              </a:spcAft>
              <a:defRPr sz="1000">
                <a:solidFill>
                  <a:srgbClr val="F5F7FF"/>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To automate this, save the prompt, then in Microsoft 365 Copilot hover the saved prompt and choose "Schedule this prompt". Use a skill separately when you want the...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Wrap up projects and organize all related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Locate project files</a:t>
            </a:r>
          </a:p>
          <a:p>
            <a:pPr>
              <a:spcAft>
                <a:spcPts val="500"/>
              </a:spcAft>
              <a:defRPr sz="1000">
                <a:solidFill>
                  <a:srgbClr val="F5F7FF"/>
                </a:solidFill>
                <a:latin typeface="Segoe UI"/>
              </a:defRPr>
            </a:pPr>
            <a:r>
              <a:t>• Classify -&gt; Docs / decks / spreadsheets</a:t>
            </a:r>
          </a:p>
          <a:p>
            <a:pPr>
              <a:spcAft>
                <a:spcPts val="500"/>
              </a:spcAft>
              <a:defRPr sz="1000">
                <a:solidFill>
                  <a:srgbClr val="F5F7FF"/>
                </a:solidFill>
                <a:latin typeface="Segoe UI"/>
              </a:defRPr>
            </a:pPr>
            <a:r>
              <a:t>• Create -&gt; Archive folder</a:t>
            </a:r>
          </a:p>
          <a:p>
            <a:pPr>
              <a:spcAft>
                <a:spcPts val="500"/>
              </a:spcAft>
              <a:defRPr sz="1000">
                <a:solidFill>
                  <a:srgbClr val="F5F7FF"/>
                </a:solidFill>
                <a:latin typeface="Segoe UI"/>
              </a:defRPr>
            </a:pPr>
            <a:r>
              <a:t>• Move -&gt; Related artifacts</a:t>
            </a:r>
          </a:p>
          <a:p>
            <a:pPr>
              <a:spcAft>
                <a:spcPts val="500"/>
              </a:spcAft>
              <a:defRPr sz="1000">
                <a:solidFill>
                  <a:srgbClr val="F5F7FF"/>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Turn inbox noise into a curated intelligence brief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Inbox -&gt; Identify newsletters + digests</a:t>
            </a:r>
          </a:p>
          <a:p>
            <a:pPr>
              <a:spcAft>
                <a:spcPts val="500"/>
              </a:spcAft>
              <a:defRPr sz="1000">
                <a:solidFill>
                  <a:srgbClr val="F5F7FF"/>
                </a:solidFill>
                <a:latin typeface="Segoe UI"/>
              </a:defRPr>
            </a:pPr>
            <a:r>
              <a:t>• Categorize -&gt; Internal / AI / news / industry</a:t>
            </a:r>
          </a:p>
          <a:p>
            <a:pPr>
              <a:spcAft>
                <a:spcPts val="500"/>
              </a:spcAft>
              <a:defRPr sz="1000">
                <a:solidFill>
                  <a:srgbClr val="F5F7FF"/>
                </a:solidFill>
                <a:latin typeface="Segoe UI"/>
              </a:defRPr>
            </a:pPr>
            <a:r>
              <a:t>• Filter -&gt; Exclude consumer content</a:t>
            </a:r>
          </a:p>
          <a:p>
            <a:pPr>
              <a:spcAft>
                <a:spcPts val="500"/>
              </a:spcAft>
              <a:defRPr sz="1000">
                <a:solidFill>
                  <a:srgbClr val="F5F7FF"/>
                </a:solidFill>
                <a:latin typeface="Segoe UI"/>
              </a:defRPr>
            </a:pPr>
            <a:r>
              <a:t>• Synthesize -&gt; Narrative brief</a:t>
            </a:r>
          </a:p>
          <a:p>
            <a:pPr>
              <a:spcAft>
                <a:spcPts val="500"/>
              </a:spcAft>
              <a:defRPr sz="1000">
                <a:solidFill>
                  <a:srgbClr val="F5F7FF"/>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This task can use a scheduled prompt. In Microsoft 365 Copilot, save the prompt, hover it, choose "Schedule this prompt", and set the recurrence.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Partner and channel activation kit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[Folder] -&gt; Read the launch materials</a:t>
            </a:r>
          </a:p>
          <a:p>
            <a:pPr>
              <a:spcAft>
                <a:spcPts val="500"/>
              </a:spcAft>
              <a:defRPr sz="1000">
                <a:solidFill>
                  <a:srgbClr val="F5F7FF"/>
                </a:solidFill>
                <a:latin typeface="Segoe UI"/>
              </a:defRPr>
            </a:pPr>
            <a:r>
              <a:t>• Messaging Doc -&gt; Ground every adaptation in approved positioning</a:t>
            </a:r>
          </a:p>
          <a:p>
            <a:pPr>
              <a:spcAft>
                <a:spcPts val="500"/>
              </a:spcAft>
              <a:defRPr sz="1000">
                <a:solidFill>
                  <a:srgbClr val="F5F7FF"/>
                </a:solidFill>
                <a:latin typeface="Segoe UI"/>
              </a:defRPr>
            </a:pPr>
            <a:r>
              <a:t>• Adapt -&gt; One-pager · talking points · FAQ</a:t>
            </a:r>
          </a:p>
          <a:p>
            <a:pPr>
              <a:spcAft>
                <a:spcPts val="500"/>
              </a:spcAft>
              <a:defRPr sz="1000">
                <a:solidFill>
                  <a:srgbClr val="F5F7FF"/>
                </a:solidFill>
                <a:latin typeface="Segoe UI"/>
              </a:defRPr>
            </a:pPr>
            <a:r>
              <a:t>• Adapt -&gt; Email template · social pack</a:t>
            </a:r>
          </a:p>
          <a:p>
            <a:pPr>
              <a:spcAft>
                <a:spcPts val="500"/>
              </a:spcAft>
              <a:defRPr sz="1000">
                <a:solidFill>
                  <a:srgbClr val="F5F7FF"/>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Prepare a complete out-of-office handoff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Meetings (this week) -&gt; Identify active projects + stakeholders</a:t>
            </a:r>
          </a:p>
          <a:p>
            <a:pPr>
              <a:spcAft>
                <a:spcPts val="500"/>
              </a:spcAft>
              <a:defRPr sz="1000">
                <a:solidFill>
                  <a:srgbClr val="F5F7FF"/>
                </a:solidFill>
                <a:latin typeface="Segoe UI"/>
              </a:defRPr>
            </a:pPr>
            <a:r>
              <a:t>• Email threads -&gt; Extract open requests + dependencies</a:t>
            </a:r>
          </a:p>
          <a:p>
            <a:pPr>
              <a:spcAft>
                <a:spcPts val="500"/>
              </a:spcAft>
              <a:defRPr sz="1000">
                <a:solidFill>
                  <a:srgbClr val="F5F7FF"/>
                </a:solidFill>
                <a:latin typeface="Segoe UI"/>
              </a:defRPr>
            </a:pPr>
            <a:r>
              <a:t>• Teams chats -&gt; Capture in-flight tasks</a:t>
            </a:r>
          </a:p>
          <a:p>
            <a:pPr>
              <a:spcAft>
                <a:spcPts val="500"/>
              </a:spcAft>
              <a:defRPr sz="1000">
                <a:solidFill>
                  <a:srgbClr val="F5F7FF"/>
                </a:solidFill>
                <a:latin typeface="Segoe UI"/>
              </a:defRPr>
            </a:pPr>
            <a:r>
              <a:t>• Calendar (next week) -&gt; Detect upcoming deadlines</a:t>
            </a:r>
          </a:p>
          <a:p>
            <a:pPr>
              <a:spcAft>
                <a:spcPts val="500"/>
              </a:spcAft>
              <a:defRPr sz="1000">
                <a:solidFill>
                  <a:srgbClr val="F5F7FF"/>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Analyze and optimize your OneDrive at scale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Scan file inventory</a:t>
            </a:r>
          </a:p>
          <a:p>
            <a:pPr>
              <a:spcAft>
                <a:spcPts val="500"/>
              </a:spcAft>
              <a:defRPr sz="1000">
                <a:solidFill>
                  <a:srgbClr val="F5F7FF"/>
                </a:solidFill>
                <a:latin typeface="Segoe UI"/>
              </a:defRPr>
            </a:pPr>
            <a:r>
              <a:t>• Catalog -&gt; Age + relevance</a:t>
            </a:r>
          </a:p>
          <a:p>
            <a:pPr>
              <a:spcAft>
                <a:spcPts val="500"/>
              </a:spcAft>
              <a:defRPr sz="1000">
                <a:solidFill>
                  <a:srgbClr val="F5F7FF"/>
                </a:solidFill>
                <a:latin typeface="Segoe UI"/>
              </a:defRPr>
            </a:pPr>
            <a:r>
              <a:t>• Categorize -&gt; Customer / product</a:t>
            </a:r>
          </a:p>
          <a:p>
            <a:pPr>
              <a:spcAft>
                <a:spcPts val="500"/>
              </a:spcAft>
              <a:defRPr sz="1000">
                <a:solidFill>
                  <a:srgbClr val="F5F7FF"/>
                </a:solidFill>
                <a:latin typeface="Segoe UI"/>
              </a:defRPr>
            </a:pPr>
            <a:r>
              <a:t>• Visualize -&gt; HTML dashboard</a:t>
            </a:r>
          </a:p>
          <a:p>
            <a:pPr>
              <a:spcAft>
                <a:spcPts val="500"/>
              </a:spcAft>
              <a:defRPr sz="1000">
                <a:solidFill>
                  <a:srgbClr val="F5F7FF"/>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Add-on tip: schedule Cowork prompts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73B82E"/>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References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square" lIns="73152" rIns="73152" tIns="36576">
            <a:spAutoFit/>
          </a:bodyPr>
          <a:lstStyle/>
          <a:p>
            <a:pPr>
              <a:spcAft>
                <a:spcPts val="500"/>
              </a:spcAft>
            </a:pPr>
            <a:r>
              <a:rPr sz="1200">
                <a:solidFill>
                  <a:srgbClr val="F5F7FF"/>
                </a:solidFill>
                <a:latin typeface="Segoe UI"/>
              </a:rPr>
              <a:t>• </a:t>
            </a:r>
            <a:r>
              <a:rPr sz="1200" u="sng">
                <a:solidFill>
                  <a:srgbClr val="00B7C3"/>
                </a:solidFill>
                <a:latin typeface="Segoe UI"/>
                <a:hlinkClick r:id="rId2"/>
              </a:rPr>
              <a:t>learn.microsoft.com/microsoft-365/copilot/which-copilot-for-your-organization</a:t>
            </a:r>
          </a:p>
          <a:p>
            <a:pPr>
              <a:spcAft>
                <a:spcPts val="500"/>
              </a:spcAft>
            </a:pPr>
            <a:r>
              <a:rPr sz="1200">
                <a:solidFill>
                  <a:srgbClr val="F5F7FF"/>
                </a:solidFill>
                <a:latin typeface="Segoe UI"/>
              </a:rPr>
              <a:t>• </a:t>
            </a:r>
            <a:r>
              <a:rPr sz="1200" u="sng">
                <a:solidFill>
                  <a:srgbClr val="00B7C3"/>
                </a:solidFill>
                <a:latin typeface="Segoe UI"/>
                <a:hlinkClick r:id="rId3"/>
              </a:rPr>
              <a:t>learn.microsoft.com/microsoft-365/copilot/cowork</a:t>
            </a:r>
          </a:p>
          <a:p>
            <a:pPr>
              <a:spcAft>
                <a:spcPts val="500"/>
              </a:spcAft>
            </a:pPr>
            <a:r>
              <a:rPr sz="1200">
                <a:solidFill>
                  <a:srgbClr val="F5F7FF"/>
                </a:solidFill>
                <a:latin typeface="Segoe UI"/>
              </a:rPr>
              <a:t>• </a:t>
            </a:r>
            <a:r>
              <a:rPr sz="1200" u="sng">
                <a:solidFill>
                  <a:srgbClr val="00B7C3"/>
                </a:solidFill>
                <a:latin typeface="Segoe UI"/>
                <a:hlinkClick r:id="rId4"/>
              </a:rPr>
              <a:t>learn.microsoft.com/microsoft-365/copilot/cowork/cowork-faq</a:t>
            </a:r>
          </a:p>
          <a:p>
            <a:pPr>
              <a:spcAft>
                <a:spcPts val="500"/>
              </a:spcAft>
            </a:pPr>
            <a:r>
              <a:rPr sz="1200">
                <a:solidFill>
                  <a:srgbClr val="F5F7FF"/>
                </a:solidFill>
                <a:latin typeface="Segoe UI"/>
              </a:rPr>
              <a:t>• </a:t>
            </a:r>
            <a:r>
              <a:rPr sz="1200" u="sng">
                <a:solidFill>
                  <a:srgbClr val="00B7C3"/>
                </a:solidFill>
                <a:latin typeface="Segoe UI"/>
                <a:hlinkClick r:id="rId5"/>
              </a:rPr>
              <a:t>learn.microsoft.com/microsoft-copilot-studio/fundamentals-what-is-copilot-studio</a:t>
            </a:r>
          </a:p>
          <a:p>
            <a:pPr>
              <a:spcAft>
                <a:spcPts val="500"/>
              </a:spcAft>
            </a:pPr>
            <a:r>
              <a:rPr sz="1200">
                <a:solidFill>
                  <a:srgbClr val="F5F7FF"/>
                </a:solidFill>
                <a:latin typeface="Segoe UI"/>
              </a:rPr>
              <a:t>• </a:t>
            </a:r>
            <a:r>
              <a:rPr sz="1200" u="sng">
                <a:solidFill>
                  <a:srgbClr val="00B7C3"/>
                </a:solidFill>
                <a:latin typeface="Segoe UI"/>
                <a:hlinkClick r:id="rId6"/>
              </a:rPr>
              <a:t>learn.microsoft.com/microsoft-365/copilot/extensibility/copilot-studio-experience</a:t>
            </a:r>
          </a:p>
          <a:p>
            <a:pPr>
              <a:spcAft>
                <a:spcPts val="500"/>
              </a:spcAft>
            </a:pPr>
            <a:r>
              <a:rPr sz="1200">
                <a:solidFill>
                  <a:srgbClr val="F5F7FF"/>
                </a:solidFill>
                <a:latin typeface="Segoe UI"/>
              </a:rPr>
              <a:t>• </a:t>
            </a:r>
            <a:r>
              <a:rPr sz="1200" u="sng">
                <a:solidFill>
                  <a:srgbClr val="00B7C3"/>
                </a:solidFill>
                <a:latin typeface="Segoe UI"/>
                <a:hlinkClick r:id="rId7"/>
              </a:rPr>
              <a:t>learn.microsoft.com/microsoft-365/copilot/researcher-agent</a:t>
            </a:r>
          </a:p>
          <a:p>
            <a:pPr>
              <a:spcAft>
                <a:spcPts val="500"/>
              </a:spcAft>
            </a:pPr>
            <a:r>
              <a:rPr sz="1200">
                <a:solidFill>
                  <a:srgbClr val="F5F7FF"/>
                </a:solidFill>
                <a:latin typeface="Segoe UI"/>
              </a:rPr>
              <a:t>• </a:t>
            </a:r>
            <a:r>
              <a:rPr sz="1200" u="sng">
                <a:solidFill>
                  <a:srgbClr val="00B7C3"/>
                </a:solidFill>
                <a:latin typeface="Segoe UI"/>
                <a:hlinkClick r:id="rId8"/>
              </a:rPr>
              <a:t>learn.microsoft.com/copilot/agents</a:t>
            </a:r>
          </a:p>
          <a:p>
            <a:pPr>
              <a:spcAft>
                <a:spcPts val="500"/>
              </a:spcAft>
            </a:pPr>
            <a:r>
              <a:rPr sz="1200">
                <a:solidFill>
                  <a:srgbClr val="F5F7FF"/>
                </a:solidFill>
                <a:latin typeface="Segoe UI"/>
              </a:rPr>
              <a:t>• </a:t>
            </a:r>
            <a:r>
              <a:rPr sz="1200" u="sng">
                <a:solidFill>
                  <a:srgbClr val="00B7C3"/>
                </a:solidFill>
                <a:latin typeface="Segoe UI"/>
                <a:hlinkClick r:id="rId9"/>
              </a:rPr>
              <a:t>learn.microsoft.com/microsoft-scout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