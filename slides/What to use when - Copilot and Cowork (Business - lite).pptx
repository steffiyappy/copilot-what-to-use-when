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365/copilot/researcher-agent" TargetMode="External"/><Relationship Id="rId6" Type="http://schemas.openxmlformats.org/officeDocument/2006/relationships/hyperlink" Target="https://learn.microsoft.com/en-us/copilot/agents" TargetMode="External"/><Relationship Id="rId7" Type="http://schemas.openxmlformats.org/officeDocument/2006/relationships/hyperlink" Target="https://support.microsoft.com/en-us/microsoft-365-copilot/schedule-your-most-used-copilot-prompts" TargetMode="External"/><Relationship Id="rId8" Type="http://schemas.openxmlformats.org/officeDocument/2006/relationships/hyperlink" Target="https://adoption.microsoft.com/en-us/copilot/cowork/ai-user/" TargetMode="External"/><Relationship Id="rId9" Type="http://schemas.openxmlformats.org/officeDocument/2006/relationships/hyperlink" Target="https://adoption.microsoft.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1B1B2C"/>
                </a:solidFill>
                <a:latin typeface="Segoe UI"/>
              </a:rPr>
              <a:t>Microsoft 365 Copilot &amp; Cowork: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5A6078"/>
                </a:solidFill>
                <a:latin typeface="Segoe UI"/>
              </a:rPr>
              <a:t>Microsoft 365 Copilot is your everyday AI assistant. Copilot Cowork is the AI coworker that does the work for you. This guide helps you pick the right one for each task. Every claim is grounded in Microsoft Learn or microsoft.com, with links at the bottom. Preview features are labelled and may change.</a:t>
            </a:r>
          </a:p>
        </p:txBody>
      </p:sp>
      <p:sp>
        <p:nvSpPr>
          <p:cNvPr id="4" name="Oval 3"/>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to answer, or a job to get done end-to-end.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Pick by how the work shows up: a question to answer, or a job to get done end-to-end.</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Pick by the job to be done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Microsoft 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Run a prompt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Same app, different power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 Microsoft 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these tools play together in real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Check this order first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cover the full job?</a:t>
            </a:r>
          </a:p>
          <a:p>
            <a:pPr>
              <a:spcAft>
                <a:spcPts val="500"/>
              </a:spcAft>
              <a:defRPr sz="1300">
                <a:solidFill>
                  <a:srgbClr val="1B1B2C"/>
                </a:solidFill>
                <a:latin typeface="Segoe UI"/>
              </a:defRPr>
            </a:pPr>
            <a:r>
              <a:t>• Simplest: Can a saved prompt do it?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cover the full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To automate this, save the prompt, then in Microsoft 365 Copilot hover the saved prompt and choose "Schedule this prompt". Use a skill separately when you want the...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square" lIns="73152" rIns="73152" tIns="36576">
            <a:spAutoFit/>
          </a:bodyPr>
          <a:lstStyle/>
          <a:p>
            <a:pPr>
              <a:spcAft>
                <a:spcPts val="500"/>
              </a:spcAft>
            </a:pPr>
            <a:r>
              <a:rPr sz="1200">
                <a:solidFill>
                  <a:srgbClr val="1B1B2C"/>
                </a:solidFill>
                <a:latin typeface="Segoe UI"/>
              </a:rPr>
              <a:t>• </a:t>
            </a:r>
            <a:r>
              <a:rPr sz="1200" u="sng">
                <a:solidFill>
                  <a:srgbClr val="1A6FD6"/>
                </a:solidFill>
                <a:latin typeface="Segoe UI"/>
                <a:hlinkClick r:id="rId2"/>
              </a:rPr>
              <a:t>LEARN Decide which Copilot is right for you</a:t>
            </a:r>
          </a:p>
          <a:p>
            <a:pPr>
              <a:spcAft>
                <a:spcPts val="500"/>
              </a:spcAft>
            </a:pPr>
            <a:r>
              <a:rPr sz="1200">
                <a:solidFill>
                  <a:srgbClr val="1B1B2C"/>
                </a:solidFill>
                <a:latin typeface="Segoe UI"/>
              </a:rPr>
              <a:t>• </a:t>
            </a:r>
            <a:r>
              <a:rPr sz="1200" u="sng">
                <a:solidFill>
                  <a:srgbClr val="1A6FD6"/>
                </a:solidFill>
                <a:latin typeface="Segoe UI"/>
                <a:hlinkClick r:id="rId3"/>
              </a:rPr>
              <a:t>LEARN Copilot Cowork overview</a:t>
            </a:r>
          </a:p>
          <a:p>
            <a:pPr>
              <a:spcAft>
                <a:spcPts val="500"/>
              </a:spcAft>
            </a:pPr>
            <a:r>
              <a:rPr sz="1200">
                <a:solidFill>
                  <a:srgbClr val="1B1B2C"/>
                </a:solidFill>
                <a:latin typeface="Segoe UI"/>
              </a:rPr>
              <a:t>• </a:t>
            </a:r>
            <a:r>
              <a:rPr sz="1200" u="sng">
                <a:solidFill>
                  <a:srgbClr val="1A6FD6"/>
                </a:solidFill>
                <a:latin typeface="Segoe UI"/>
                <a:hlinkClick r:id="rId4"/>
              </a:rPr>
              <a:t>LEARN Copilot Cowork common questions</a:t>
            </a:r>
          </a:p>
          <a:p>
            <a:pPr>
              <a:spcAft>
                <a:spcPts val="500"/>
              </a:spcAft>
            </a:pPr>
            <a:r>
              <a:rPr sz="1200">
                <a:solidFill>
                  <a:srgbClr val="1B1B2C"/>
                </a:solidFill>
                <a:latin typeface="Segoe UI"/>
              </a:rPr>
              <a:t>• </a:t>
            </a:r>
            <a:r>
              <a:rPr sz="1200" u="sng">
                <a:solidFill>
                  <a:srgbClr val="1A6FD6"/>
                </a:solidFill>
                <a:latin typeface="Segoe UI"/>
                <a:hlinkClick r:id="rId5"/>
              </a:rPr>
              <a:t>LEARN Researcher agent in Microsoft 365 Copilot</a:t>
            </a:r>
          </a:p>
          <a:p>
            <a:pPr>
              <a:spcAft>
                <a:spcPts val="500"/>
              </a:spcAft>
            </a:pPr>
            <a:r>
              <a:rPr sz="1200">
                <a:solidFill>
                  <a:srgbClr val="1B1B2C"/>
                </a:solidFill>
                <a:latin typeface="Segoe UI"/>
              </a:rPr>
              <a:t>• </a:t>
            </a:r>
            <a:r>
              <a:rPr sz="1200" u="sng">
                <a:solidFill>
                  <a:srgbClr val="1A6FD6"/>
                </a:solidFill>
                <a:latin typeface="Segoe UI"/>
                <a:hlinkClick r:id="rId6"/>
              </a:rPr>
              <a:t>LEARN Agents for Microsoft 365 Copilot Chat</a:t>
            </a:r>
          </a:p>
          <a:p>
            <a:pPr>
              <a:spcAft>
                <a:spcPts val="500"/>
              </a:spcAft>
            </a:pPr>
            <a:r>
              <a:rPr sz="1200">
                <a:solidFill>
                  <a:srgbClr val="1B1B2C"/>
                </a:solidFill>
                <a:latin typeface="Segoe UI"/>
              </a:rPr>
              <a:t>• </a:t>
            </a:r>
            <a:r>
              <a:rPr sz="1200" u="sng">
                <a:solidFill>
                  <a:srgbClr val="1A6FD6"/>
                </a:solidFill>
                <a:latin typeface="Segoe UI"/>
                <a:hlinkClick r:id="rId7"/>
              </a:rPr>
              <a:t>SUPPORT Schedule your most used Copilot prompts</a:t>
            </a:r>
          </a:p>
          <a:p>
            <a:pPr>
              <a:spcAft>
                <a:spcPts val="500"/>
              </a:spcAft>
            </a:pPr>
            <a:r>
              <a:rPr sz="1200">
                <a:solidFill>
                  <a:srgbClr val="1B1B2C"/>
                </a:solidFill>
                <a:latin typeface="Segoe UI"/>
              </a:rPr>
              <a:t>• </a:t>
            </a:r>
            <a:r>
              <a:rPr sz="1200" u="sng">
                <a:solidFill>
                  <a:srgbClr val="1A6FD6"/>
                </a:solidFill>
                <a:latin typeface="Segoe UI"/>
                <a:hlinkClick r:id="rId8"/>
              </a:rPr>
              <a:t>ADOPT Cowork for the AI user (prompt structure)</a:t>
            </a:r>
          </a:p>
          <a:p>
            <a:pPr>
              <a:spcAft>
                <a:spcPts val="500"/>
              </a:spcAft>
            </a:pPr>
            <a:r>
              <a:rPr sz="1200">
                <a:solidFill>
                  <a:srgbClr val="1B1B2C"/>
                </a:solidFill>
                <a:latin typeface="Segoe UI"/>
              </a:rPr>
              <a:t>• </a:t>
            </a:r>
            <a:r>
              <a:rPr sz="1200" u="sng">
                <a:solidFill>
                  <a:srgbClr val="1A6FD6"/>
                </a:solidFill>
                <a:latin typeface="Segoe UI"/>
                <a:hlinkClick r:id="rId9"/>
              </a:rPr>
              <a:t>ADOPT Microsoft 365 Copilot Adoption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