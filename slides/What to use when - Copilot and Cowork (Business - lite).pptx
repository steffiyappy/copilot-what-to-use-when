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learn.microsoft.com/en-us/microsoft-365/copilot/which-copilot-for-your-organization" TargetMode="External"/><Relationship Id="rId3" Type="http://schemas.openxmlformats.org/officeDocument/2006/relationships/hyperlink" Target="https://learn.microsoft.com/en-us/microsoft-365/copilot/cowork/" TargetMode="External"/><Relationship Id="rId4" Type="http://schemas.openxmlformats.org/officeDocument/2006/relationships/hyperlink" Target="https://learn.microsoft.com/en-us/microsoft-365/copilot/cowork/cowork-faq" TargetMode="External"/><Relationship Id="rId5" Type="http://schemas.openxmlformats.org/officeDocument/2006/relationships/hyperlink" Target="https://learn.microsoft.com/en-us/microsoft-365/copilot/researcher-agent" TargetMode="External"/><Relationship Id="rId6" Type="http://schemas.openxmlformats.org/officeDocument/2006/relationships/hyperlink" Target="https://learn.microsoft.com/en-us/copilot/agents" TargetMode="External"/><Relationship Id="rId7" Type="http://schemas.openxmlformats.org/officeDocument/2006/relationships/hyperlink" Target="https://support.microsoft.com/en-us/microsoft-365-copilot/schedule-your-most-used-copilot-prompts" TargetMode="External"/><Relationship Id="rId8" Type="http://schemas.openxmlformats.org/officeDocument/2006/relationships/hyperlink" Target="https://adoption.microsoft.com/en-us/copilot/cowork/ai-user/" TargetMode="External"/><Relationship Id="rId9" Type="http://schemas.openxmlformats.org/officeDocument/2006/relationships/hyperlink" Target="https://adoption.microsoft.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ctrTitle"/>
          </p:nvPr>
        </p:nvSpPr>
        <p:spPr>
          <a:xfrm>
            <a:off x="822960" y="1828800"/>
            <a:ext cx="9601200" cy="1645920"/>
          </a:xfrm>
        </p:spPr>
        <p:txBody>
          <a:bodyPr wrap="square"/>
          <a:lstStyle/>
          <a:p>
            <a:r>
              <a:rPr sz="3800" b="1">
                <a:solidFill>
                  <a:srgbClr val="1B1B2C"/>
                </a:solidFill>
                <a:latin typeface="Segoe UI"/>
              </a:rPr>
              <a:t>Microsoft 365 Copilot &amp; Cowork: what to use when</a:t>
            </a:r>
          </a:p>
        </p:txBody>
      </p:sp>
      <p:sp>
        <p:nvSpPr>
          <p:cNvPr id="3" name="Subtitle 2"/>
          <p:cNvSpPr>
            <a:spLocks noGrp="1"/>
          </p:cNvSpPr>
          <p:nvPr>
            <p:ph type="subTitle" idx="1"/>
          </p:nvPr>
        </p:nvSpPr>
        <p:spPr>
          <a:xfrm>
            <a:off x="841248" y="3703320"/>
            <a:ext cx="10058400" cy="1463040"/>
          </a:xfrm>
        </p:spPr>
        <p:txBody>
          <a:bodyPr wrap="square"/>
          <a:lstStyle/>
          <a:p>
            <a:r>
              <a:rPr sz="1800">
                <a:solidFill>
                  <a:srgbClr val="5A6078"/>
                </a:solidFill>
                <a:latin typeface="Segoe UI"/>
              </a:rPr>
              <a:t>Microsoft 365 Copilot is your everyday AI assistant. Copilot Cowork is the AI coworker that does the work for you. This guide helps you pick the right one for each task. Every claim is grounded in Microsoft Learn or microsoft.com, with links at the bottom. Preview features are labelled and may change.</a:t>
            </a:r>
          </a:p>
        </p:txBody>
      </p:sp>
      <p:sp>
        <p:nvSpPr>
          <p:cNvPr id="4" name="Oval 3"/>
          <p:cNvSpPr/>
          <p:nvPr/>
        </p:nvSpPr>
        <p:spPr>
          <a:xfrm>
            <a:off x="10241280" y="-548640"/>
            <a:ext cx="2560320" cy="2560320"/>
          </a:xfrm>
          <a:prstGeom prst="ellipse">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5897880"/>
            <a:ext cx="5486400" cy="365760"/>
          </a:xfrm>
          <a:prstGeom prst="rect">
            <a:avLst/>
          </a:prstGeom>
          <a:noFill/>
        </p:spPr>
        <p:txBody>
          <a:bodyPr wrap="square" lIns="45720" rIns="45720" tIns="27432" bIns="27432">
            <a:spAutoFit/>
          </a:bodyPr>
          <a:lstStyle/>
          <a:p>
            <a:r>
              <a:rPr sz="1400" b="1">
                <a:solidFill>
                  <a:srgbClr val="1A6FD6"/>
                </a:solidFill>
                <a:latin typeface="Segoe UI"/>
              </a:rPr>
              <a:t>Warm customer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At a glance</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SECTION 01</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72800" cy="502920"/>
          </a:xfrm>
          <a:prstGeom prst="rect">
            <a:avLst/>
          </a:prstGeom>
          <a:noFill/>
        </p:spPr>
        <p:txBody>
          <a:bodyPr wrap="square" lIns="45720" rIns="45720" tIns="27432" bIns="27432">
            <a:spAutoFit/>
          </a:bodyPr>
          <a:lstStyle/>
          <a:p>
            <a:r>
              <a:rPr sz="1500" b="0">
                <a:solidFill>
                  <a:srgbClr val="5A6078"/>
                </a:solidFill>
                <a:latin typeface="Segoe UI"/>
              </a:rPr>
              <a:t>Pick by how the work shows up: a question to answer, or a job to get done end-to-end.</a:t>
            </a:r>
          </a:p>
        </p:txBody>
      </p:sp>
      <p:sp>
        <p:nvSpPr>
          <p:cNvPr id="6" name="Rounded Rectangle 5"/>
          <p:cNvSpPr/>
          <p:nvPr/>
        </p:nvSpPr>
        <p:spPr>
          <a:xfrm>
            <a:off x="64008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5440680" cy="82296"/>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Microsoft 365 Copilot</a:t>
            </a:r>
          </a:p>
          <a:p>
            <a:pPr>
              <a:lnSpc>
                <a:spcPct val="115000"/>
              </a:lnSpc>
              <a:spcAft>
                <a:spcPts val="700"/>
              </a:spcAft>
              <a:defRPr sz="1400">
                <a:solidFill>
                  <a:srgbClr val="1B1B2C"/>
                </a:solidFill>
                <a:latin typeface="Segoe UI"/>
              </a:defRPr>
            </a:pPr>
            <a:r>
              <a:t>•  Copilot Cowork</a:t>
            </a:r>
          </a:p>
          <a:p>
            <a:pPr>
              <a:lnSpc>
                <a:spcPct val="115000"/>
              </a:lnSpc>
              <a:spcAft>
                <a:spcPts val="700"/>
              </a:spcAft>
              <a:defRPr sz="1400">
                <a:solidFill>
                  <a:srgbClr val="1B1B2C"/>
                </a:solidFill>
                <a:latin typeface="Segoe UI"/>
              </a:defRPr>
            </a:pPr>
            <a:r>
              <a:t>•  Pick by how the work shows up: a question to answer, or a job to get done end-to-end.</a:t>
            </a:r>
          </a:p>
        </p:txBody>
      </p:sp>
      <p:sp>
        <p:nvSpPr>
          <p:cNvPr id="9" name="Rounded Rectangle 8"/>
          <p:cNvSpPr/>
          <p:nvPr/>
        </p:nvSpPr>
        <p:spPr>
          <a:xfrm>
            <a:off x="626364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19456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68879"/>
            <a:ext cx="5029200" cy="365760"/>
          </a:xfrm>
          <a:prstGeom prst="rect">
            <a:avLst/>
          </a:prstGeom>
          <a:noFill/>
        </p:spPr>
        <p:txBody>
          <a:bodyPr wrap="square" lIns="45720" rIns="45720" tIns="27432" bIns="27432">
            <a:spAutoFit/>
          </a:bodyPr>
          <a:lstStyle/>
          <a:p>
            <a:r>
              <a:rPr sz="1700" b="1">
                <a:solidFill>
                  <a:srgbClr val="1B1B2C"/>
                </a:solidFill>
                <a:latin typeface="Segoe UI"/>
              </a:rPr>
              <a:t>Key takeaway</a:t>
            </a:r>
          </a:p>
        </p:txBody>
      </p:sp>
      <p:sp>
        <p:nvSpPr>
          <p:cNvPr id="12" name="TextBox 11"/>
          <p:cNvSpPr txBox="1"/>
          <p:nvPr/>
        </p:nvSpPr>
        <p:spPr>
          <a:xfrm>
            <a:off x="6492240" y="2971800"/>
            <a:ext cx="5029200" cy="1463040"/>
          </a:xfrm>
          <a:prstGeom prst="rect">
            <a:avLst/>
          </a:prstGeom>
          <a:noFill/>
        </p:spPr>
        <p:txBody>
          <a:bodyPr wrap="square" lIns="45720" rIns="45720" tIns="27432" bIns="27432">
            <a:spAutoFit/>
          </a:bodyPr>
          <a:lstStyle/>
          <a:p>
            <a:r>
              <a:rPr sz="1500" b="0">
                <a:solidFill>
                  <a:srgbClr val="5A6078"/>
                </a:solidFill>
                <a:latin typeface="Segoe UI"/>
              </a:rPr>
              <a:t>Pick the simplest Copilot surface that can finish the job with the right level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Pick by the job to be done</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SECTION 02</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72800" cy="502920"/>
          </a:xfrm>
          <a:prstGeom prst="rect">
            <a:avLst/>
          </a:prstGeom>
          <a:noFill/>
        </p:spPr>
        <p:txBody>
          <a:bodyPr wrap="square" lIns="45720" rIns="45720" tIns="27432" bIns="27432">
            <a:spAutoFit/>
          </a:bodyPr>
          <a:lstStyle/>
          <a:p>
            <a:r>
              <a:rPr sz="1500" b="0">
                <a:solidFill>
                  <a:srgbClr val="5A6078"/>
                </a:solidFill>
                <a:latin typeface="Segoe UI"/>
              </a:rPr>
              <a:t>One recommendation per task, with a note when something else also works.</a:t>
            </a:r>
          </a:p>
        </p:txBody>
      </p:sp>
      <p:sp>
        <p:nvSpPr>
          <p:cNvPr id="6" name="Rounded Rectangle 5"/>
          <p:cNvSpPr/>
          <p:nvPr/>
        </p:nvSpPr>
        <p:spPr>
          <a:xfrm>
            <a:off x="64008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5440680" cy="82296"/>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Quick question, brainstorm, or short reply</a:t>
            </a:r>
          </a:p>
          <a:p>
            <a:pPr>
              <a:lnSpc>
                <a:spcPct val="115000"/>
              </a:lnSpc>
              <a:spcAft>
                <a:spcPts val="700"/>
              </a:spcAft>
              <a:defRPr sz="1400">
                <a:solidFill>
                  <a:srgbClr val="1B1B2C"/>
                </a:solidFill>
                <a:latin typeface="Segoe UI"/>
              </a:defRPr>
            </a:pPr>
            <a:r>
              <a:t>•  Draft or reply in Outlook, summarise a Teams meeting, edit a document</a:t>
            </a:r>
          </a:p>
          <a:p>
            <a:pPr>
              <a:lnSpc>
                <a:spcPct val="115000"/>
              </a:lnSpc>
              <a:spcAft>
                <a:spcPts val="700"/>
              </a:spcAft>
              <a:defRPr sz="1400">
                <a:solidFill>
                  <a:srgbClr val="1B1B2C"/>
                </a:solidFill>
                <a:latin typeface="Segoe UI"/>
              </a:defRPr>
            </a:pPr>
            <a:r>
              <a:t>•  Deep, multi-source research with citations</a:t>
            </a:r>
          </a:p>
          <a:p>
            <a:pPr>
              <a:lnSpc>
                <a:spcPct val="115000"/>
              </a:lnSpc>
              <a:spcAft>
                <a:spcPts val="700"/>
              </a:spcAft>
              <a:defRPr sz="1400">
                <a:solidFill>
                  <a:srgbClr val="1B1B2C"/>
                </a:solidFill>
                <a:latin typeface="Segoe UI"/>
              </a:defRPr>
            </a:pPr>
            <a:r>
              <a:t>•  Take real action across Microsoft 365 (send, schedule, create, post)</a:t>
            </a:r>
          </a:p>
        </p:txBody>
      </p:sp>
      <p:sp>
        <p:nvSpPr>
          <p:cNvPr id="9" name="Rounded Rectangle 8"/>
          <p:cNvSpPr/>
          <p:nvPr/>
        </p:nvSpPr>
        <p:spPr>
          <a:xfrm>
            <a:off x="626364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19456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One prompt, multiple deliverables (brief, model, deck)</a:t>
            </a:r>
          </a:p>
          <a:p>
            <a:pPr>
              <a:lnSpc>
                <a:spcPct val="115000"/>
              </a:lnSpc>
              <a:spcAft>
                <a:spcPts val="700"/>
              </a:spcAft>
              <a:defRPr sz="1400">
                <a:solidFill>
                  <a:srgbClr val="1B1B2C"/>
                </a:solidFill>
                <a:latin typeface="Segoe UI"/>
              </a:defRPr>
            </a:pPr>
            <a:r>
              <a:t>•  A small Q&amp;A bot for yourself or a small team</a:t>
            </a:r>
          </a:p>
          <a:p>
            <a:pPr>
              <a:lnSpc>
                <a:spcPct val="115000"/>
              </a:lnSpc>
              <a:spcAft>
                <a:spcPts val="700"/>
              </a:spcAft>
              <a:defRPr sz="1400">
                <a:solidFill>
                  <a:srgbClr val="1B1B2C"/>
                </a:solidFill>
                <a:latin typeface="Segoe UI"/>
              </a:defRPr>
            </a:pPr>
            <a:r>
              <a:t>•  Run a prompt on a recurring schedule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Same app, different power</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SECTION 03</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72800" cy="502920"/>
          </a:xfrm>
          <a:prstGeom prst="rect">
            <a:avLst/>
          </a:prstGeom>
          <a:noFill/>
        </p:spPr>
        <p:txBody>
          <a:bodyPr wrap="square" lIns="45720" rIns="45720" tIns="27432" bIns="27432">
            <a:spAutoFit/>
          </a:bodyPr>
          <a:lstStyle/>
          <a:p>
            <a:r>
              <a:rPr sz="1500" b="0">
                <a:solidFill>
                  <a:srgbClr val="5A6078"/>
                </a:solidFill>
                <a:latin typeface="Segoe UI"/>
              </a:rPr>
              <a:t>When the work involves a Microsoft 365 app, you have more than one Copilot option. Some live inside the app, others act on its files and signals from their own surface. Pick by how much heavy lifting you need.</a:t>
            </a:r>
          </a:p>
        </p:txBody>
      </p:sp>
      <p:sp>
        <p:nvSpPr>
          <p:cNvPr id="6" name="Rounded Rectangle 5"/>
          <p:cNvSpPr/>
          <p:nvPr/>
        </p:nvSpPr>
        <p:spPr>
          <a:xfrm>
            <a:off x="64008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5440680" cy="82296"/>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Use this page section as the decision checkpoint for the workflow.</a:t>
            </a:r>
          </a:p>
        </p:txBody>
      </p:sp>
      <p:sp>
        <p:nvSpPr>
          <p:cNvPr id="9" name="Rounded Rectangle 8"/>
          <p:cNvSpPr/>
          <p:nvPr/>
        </p:nvSpPr>
        <p:spPr>
          <a:xfrm>
            <a:off x="626364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19456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68879"/>
            <a:ext cx="5029200" cy="365760"/>
          </a:xfrm>
          <a:prstGeom prst="rect">
            <a:avLst/>
          </a:prstGeom>
          <a:noFill/>
        </p:spPr>
        <p:txBody>
          <a:bodyPr wrap="square" lIns="45720" rIns="45720" tIns="27432" bIns="27432">
            <a:spAutoFit/>
          </a:bodyPr>
          <a:lstStyle/>
          <a:p>
            <a:r>
              <a:rPr sz="1700" b="1">
                <a:solidFill>
                  <a:srgbClr val="1B1B2C"/>
                </a:solidFill>
                <a:latin typeface="Segoe UI"/>
              </a:rPr>
              <a:t>Key takeaway</a:t>
            </a:r>
          </a:p>
        </p:txBody>
      </p:sp>
      <p:sp>
        <p:nvSpPr>
          <p:cNvPr id="12" name="TextBox 11"/>
          <p:cNvSpPr txBox="1"/>
          <p:nvPr/>
        </p:nvSpPr>
        <p:spPr>
          <a:xfrm>
            <a:off x="6492240" y="2971800"/>
            <a:ext cx="5029200" cy="1463040"/>
          </a:xfrm>
          <a:prstGeom prst="rect">
            <a:avLst/>
          </a:prstGeom>
          <a:noFill/>
        </p:spPr>
        <p:txBody>
          <a:bodyPr wrap="square" lIns="45720" rIns="45720" tIns="27432" bIns="27432">
            <a:spAutoFit/>
          </a:bodyPr>
          <a:lstStyle/>
          <a:p>
            <a:r>
              <a:rPr sz="1500" b="0">
                <a:solidFill>
                  <a:srgbClr val="5A6078"/>
                </a:solidFill>
                <a:latin typeface="Segoe UI"/>
              </a:rPr>
              <a:t>Pick the simplest Copilot surface that can finish the job with the right level of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How to ask Cowork well</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SECTION 04</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72800" cy="502920"/>
          </a:xfrm>
          <a:prstGeom prst="rect">
            <a:avLst/>
          </a:prstGeom>
          <a:noFill/>
        </p:spPr>
        <p:txBody>
          <a:bodyPr wrap="square" lIns="45720" rIns="45720" tIns="27432" bIns="27432">
            <a:spAutoFit/>
          </a:bodyPr>
          <a:lstStyle/>
          <a:p>
            <a:r>
              <a:rPr sz="1500" b="0">
                <a:solidFill>
                  <a:srgbClr val="5A6078"/>
                </a:solidFill>
                <a:latin typeface="Segoe UI"/>
              </a:rPr>
              <a:t>A vague prompt forces Cowork to guess. Five small parts make the difference.</a:t>
            </a:r>
          </a:p>
        </p:txBody>
      </p:sp>
      <p:sp>
        <p:nvSpPr>
          <p:cNvPr id="6" name="Rounded Rectangle 5"/>
          <p:cNvSpPr/>
          <p:nvPr/>
        </p:nvSpPr>
        <p:spPr>
          <a:xfrm>
            <a:off x="64008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5440680" cy="82296"/>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A vague prompt forces Cowork to guess. Five small parts make the difference.</a:t>
            </a:r>
          </a:p>
          <a:p>
            <a:pPr>
              <a:lnSpc>
                <a:spcPct val="115000"/>
              </a:lnSpc>
              <a:spcAft>
                <a:spcPts val="700"/>
              </a:spcAft>
              <a:defRPr sz="1400">
                <a:solidFill>
                  <a:srgbClr val="1B1B2C"/>
                </a:solidFill>
                <a:latin typeface="Segoe UI"/>
              </a:defRPr>
            </a:pPr>
            <a:r>
              <a:t>•  "Help me prep for my offsite next week."</a:t>
            </a:r>
          </a:p>
        </p:txBody>
      </p:sp>
      <p:sp>
        <p:nvSpPr>
          <p:cNvPr id="9" name="Rounded Rectangle 8"/>
          <p:cNvSpPr/>
          <p:nvPr/>
        </p:nvSpPr>
        <p:spPr>
          <a:xfrm>
            <a:off x="626364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19456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68879"/>
            <a:ext cx="5029200" cy="365760"/>
          </a:xfrm>
          <a:prstGeom prst="rect">
            <a:avLst/>
          </a:prstGeom>
          <a:noFill/>
        </p:spPr>
        <p:txBody>
          <a:bodyPr wrap="square" lIns="45720" rIns="45720" tIns="27432" bIns="27432">
            <a:spAutoFit/>
          </a:bodyPr>
          <a:lstStyle/>
          <a:p>
            <a:r>
              <a:rPr sz="1700" b="1">
                <a:solidFill>
                  <a:srgbClr val="1B1B2C"/>
                </a:solidFill>
                <a:latin typeface="Segoe UI"/>
              </a:rPr>
              <a:t>Key takeaway</a:t>
            </a:r>
          </a:p>
        </p:txBody>
      </p:sp>
      <p:sp>
        <p:nvSpPr>
          <p:cNvPr id="12" name="TextBox 11"/>
          <p:cNvSpPr txBox="1"/>
          <p:nvPr/>
        </p:nvSpPr>
        <p:spPr>
          <a:xfrm>
            <a:off x="6492240" y="2971800"/>
            <a:ext cx="5029200" cy="1463040"/>
          </a:xfrm>
          <a:prstGeom prst="rect">
            <a:avLst/>
          </a:prstGeom>
          <a:noFill/>
        </p:spPr>
        <p:txBody>
          <a:bodyPr wrap="square" lIns="45720" rIns="45720" tIns="27432" bIns="27432">
            <a:spAutoFit/>
          </a:bodyPr>
          <a:lstStyle/>
          <a:p>
            <a:r>
              <a:rPr sz="1500" b="0">
                <a:solidFill>
                  <a:srgbClr val="5A6078"/>
                </a:solidFill>
                <a:latin typeface="Segoe UI"/>
              </a:rPr>
              <a:t>Pick the simplest Copilot surface that can finish the job with the right level of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How these tools play together in real work</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SECTION 05</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72800" cy="502920"/>
          </a:xfrm>
          <a:prstGeom prst="rect">
            <a:avLst/>
          </a:prstGeom>
          <a:noFill/>
        </p:spPr>
        <p:txBody>
          <a:bodyPr wrap="square" lIns="45720" rIns="45720" tIns="27432" bIns="27432">
            <a:spAutoFit/>
          </a:bodyPr>
          <a:lstStyle/>
          <a:p>
            <a:r>
              <a:rPr sz="1500" b="0">
                <a:solidFill>
                  <a:srgbClr val="5A6078"/>
                </a:solidFill>
                <a:latin typeface="Segoe UI"/>
              </a:rPr>
              <a:t>A picture of the right tool for typical jobs in each function.</a:t>
            </a:r>
          </a:p>
        </p:txBody>
      </p:sp>
      <p:sp>
        <p:nvSpPr>
          <p:cNvPr id="6" name="Rounded Rectangle 5"/>
          <p:cNvSpPr/>
          <p:nvPr/>
        </p:nvSpPr>
        <p:spPr>
          <a:xfrm>
            <a:off x="64008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5440680" cy="82296"/>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Monday pipeline review</a:t>
            </a:r>
          </a:p>
          <a:p>
            <a:pPr>
              <a:lnSpc>
                <a:spcPct val="115000"/>
              </a:lnSpc>
              <a:spcAft>
                <a:spcPts val="700"/>
              </a:spcAft>
              <a:defRPr sz="1400">
                <a:solidFill>
                  <a:srgbClr val="1B1B2C"/>
                </a:solidFill>
                <a:latin typeface="Segoe UI"/>
              </a:defRPr>
            </a:pPr>
            <a:r>
              <a:t>•  Campaign launch pack</a:t>
            </a:r>
          </a:p>
          <a:p>
            <a:pPr>
              <a:lnSpc>
                <a:spcPct val="115000"/>
              </a:lnSpc>
              <a:spcAft>
                <a:spcPts val="700"/>
              </a:spcAft>
              <a:defRPr sz="1400">
                <a:solidFill>
                  <a:srgbClr val="1B1B2C"/>
                </a:solidFill>
                <a:latin typeface="Segoe UI"/>
              </a:defRPr>
            </a:pPr>
            <a:r>
              <a:t>•  Month-end variance pack</a:t>
            </a:r>
          </a:p>
          <a:p>
            <a:pPr>
              <a:lnSpc>
                <a:spcPct val="115000"/>
              </a:lnSpc>
              <a:spcAft>
                <a:spcPts val="700"/>
              </a:spcAft>
              <a:defRPr sz="1400">
                <a:solidFill>
                  <a:srgbClr val="1B1B2C"/>
                </a:solidFill>
                <a:latin typeface="Segoe UI"/>
              </a:defRPr>
            </a:pPr>
            <a:r>
              <a:t>•  Contract redline against your playbook</a:t>
            </a:r>
          </a:p>
        </p:txBody>
      </p:sp>
      <p:sp>
        <p:nvSpPr>
          <p:cNvPr id="9" name="Rounded Rectangle 8"/>
          <p:cNvSpPr/>
          <p:nvPr/>
        </p:nvSpPr>
        <p:spPr>
          <a:xfrm>
            <a:off x="626364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19456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RFP shortlist and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Check this order first</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SECTION 06</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72800" cy="502920"/>
          </a:xfrm>
          <a:prstGeom prst="rect">
            <a:avLst/>
          </a:prstGeom>
          <a:noFill/>
        </p:spPr>
        <p:txBody>
          <a:bodyPr wrap="square" lIns="45720" rIns="45720" tIns="27432" bIns="27432">
            <a:spAutoFit/>
          </a:bodyPr>
          <a:lstStyle/>
          <a:p>
            <a:r>
              <a:rPr sz="1500" b="0">
                <a:solidFill>
                  <a:srgbClr val="5A6078"/>
                </a:solidFill>
                <a:latin typeface="Segoe UI"/>
              </a:rPr>
              <a:t>Lean on what is already there before you reach for a bigger tool.</a:t>
            </a:r>
          </a:p>
        </p:txBody>
      </p:sp>
      <p:sp>
        <p:nvSpPr>
          <p:cNvPr id="6" name="Rounded Rectangle 5"/>
          <p:cNvSpPr/>
          <p:nvPr/>
        </p:nvSpPr>
        <p:spPr>
          <a:xfrm>
            <a:off x="64008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94560"/>
            <a:ext cx="5440680" cy="82296"/>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Can a saved prompt do it?</a:t>
            </a:r>
          </a:p>
          <a:p>
            <a:pPr>
              <a:lnSpc>
                <a:spcPct val="115000"/>
              </a:lnSpc>
              <a:spcAft>
                <a:spcPts val="700"/>
              </a:spcAft>
              <a:defRPr sz="1400">
                <a:solidFill>
                  <a:srgbClr val="1B1B2C"/>
                </a:solidFill>
                <a:latin typeface="Segoe UI"/>
              </a:defRPr>
            </a:pPr>
            <a:r>
              <a:t>•  Is there a ready Microsoft agent?</a:t>
            </a:r>
          </a:p>
          <a:p>
            <a:pPr>
              <a:lnSpc>
                <a:spcPct val="115000"/>
              </a:lnSpc>
              <a:spcAft>
                <a:spcPts val="700"/>
              </a:spcAft>
              <a:defRPr sz="1400">
                <a:solidFill>
                  <a:srgbClr val="1B1B2C"/>
                </a:solidFill>
                <a:latin typeface="Segoe UI"/>
              </a:defRPr>
            </a:pPr>
            <a:r>
              <a:t>•  Does Cowork cover the full job?</a:t>
            </a:r>
          </a:p>
          <a:p>
            <a:pPr>
              <a:lnSpc>
                <a:spcPct val="115000"/>
              </a:lnSpc>
              <a:spcAft>
                <a:spcPts val="700"/>
              </a:spcAft>
              <a:defRPr sz="1400">
                <a:solidFill>
                  <a:srgbClr val="1B1B2C"/>
                </a:solidFill>
                <a:latin typeface="Segoe UI"/>
              </a:defRPr>
            </a:pPr>
            <a:r>
              <a:t>•  Simplest: Can a saved prompt do it?</a:t>
            </a:r>
          </a:p>
        </p:txBody>
      </p:sp>
      <p:sp>
        <p:nvSpPr>
          <p:cNvPr id="9" name="Rounded Rectangle 8"/>
          <p:cNvSpPr/>
          <p:nvPr/>
        </p:nvSpPr>
        <p:spPr>
          <a:xfrm>
            <a:off x="6263640" y="2194560"/>
            <a:ext cx="5440680" cy="420624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19456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423160"/>
            <a:ext cx="5074920" cy="3840479"/>
          </a:xfrm>
          <a:prstGeom prst="rect">
            <a:avLst/>
          </a:prstGeom>
          <a:noFill/>
        </p:spPr>
        <p:txBody>
          <a:bodyPr wrap="square" tIns="54864" bIns="54864">
            <a:spAutoFit/>
          </a:bodyPr>
          <a:lstStyle/>
          <a:p>
            <a:pPr>
              <a:lnSpc>
                <a:spcPct val="115000"/>
              </a:lnSpc>
              <a:spcAft>
                <a:spcPts val="700"/>
              </a:spcAft>
              <a:defRPr sz="1400">
                <a:solidFill>
                  <a:srgbClr val="1B1B2C"/>
                </a:solidFill>
                <a:latin typeface="Segoe UI"/>
              </a:defRPr>
            </a:pPr>
            <a:r>
              <a:t>•  Reuse: Is there a ready Microsoft agent?</a:t>
            </a:r>
          </a:p>
          <a:p>
            <a:pPr>
              <a:lnSpc>
                <a:spcPct val="115000"/>
              </a:lnSpc>
              <a:spcAft>
                <a:spcPts val="700"/>
              </a:spcAft>
              <a:defRPr sz="1400">
                <a:solidFill>
                  <a:srgbClr val="1B1B2C"/>
                </a:solidFill>
                <a:latin typeface="Segoe UI"/>
              </a:defRPr>
            </a:pPr>
            <a:r>
              <a:t>•  Scale on demand: Does Cowork cover the full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Cowork tasks: light, medium, heavy</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COPILOT COWORK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86587" y="1874519"/>
            <a:ext cx="3520440" cy="3383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6587" y="1874519"/>
            <a:ext cx="352044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6587" y="2194560"/>
            <a:ext cx="3520440" cy="548640"/>
          </a:xfrm>
          <a:prstGeom prst="rect">
            <a:avLst/>
          </a:prstGeom>
          <a:noFill/>
        </p:spPr>
        <p:txBody>
          <a:bodyPr wrap="square" lIns="45720" rIns="45720" tIns="27432" bIns="27432">
            <a:spAutoFit/>
          </a:bodyPr>
          <a:lstStyle/>
          <a:p>
            <a:pPr algn="ctr"/>
            <a:r>
              <a:rPr sz="2800" b="1">
                <a:solidFill>
                  <a:srgbClr val="3E8E22"/>
                </a:solidFill>
                <a:latin typeface="Segoe UI"/>
              </a:rPr>
              <a:t>Light</a:t>
            </a:r>
          </a:p>
        </p:txBody>
      </p:sp>
      <p:sp>
        <p:nvSpPr>
          <p:cNvPr id="8" name="TextBox 7"/>
          <p:cNvSpPr txBox="1"/>
          <p:nvPr/>
        </p:nvSpPr>
        <p:spPr>
          <a:xfrm>
            <a:off x="860907" y="2926080"/>
            <a:ext cx="2971800" cy="1828800"/>
          </a:xfrm>
          <a:prstGeom prst="rect">
            <a:avLst/>
          </a:prstGeom>
          <a:noFill/>
        </p:spPr>
        <p:txBody>
          <a:bodyPr wrap="square" lIns="45720" rIns="45720" tIns="27432" bIns="27432">
            <a:spAutoFit/>
          </a:bodyPr>
          <a:lstStyle/>
          <a:p>
            <a:pPr algn="ctr"/>
            <a:r>
              <a:rPr sz="1500" b="0">
                <a:solidFill>
                  <a:srgbClr val="5A6078"/>
                </a:solidFill>
                <a:latin typeface="Segoe UI"/>
              </a:rPr>
              <a:t>Quick everyday handoffs, minutes to finish, a source or two.</a:t>
            </a:r>
          </a:p>
        </p:txBody>
      </p:sp>
      <p:sp>
        <p:nvSpPr>
          <p:cNvPr id="9" name="Rounded Rectangle 8"/>
          <p:cNvSpPr/>
          <p:nvPr/>
        </p:nvSpPr>
        <p:spPr>
          <a:xfrm>
            <a:off x="4335627" y="1874519"/>
            <a:ext cx="3520440" cy="3383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5627" y="1874519"/>
            <a:ext cx="352044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5627" y="2194560"/>
            <a:ext cx="3520440" cy="548640"/>
          </a:xfrm>
          <a:prstGeom prst="rect">
            <a:avLst/>
          </a:prstGeom>
          <a:noFill/>
        </p:spPr>
        <p:txBody>
          <a:bodyPr wrap="square" lIns="45720" rIns="45720" tIns="27432" bIns="27432">
            <a:spAutoFit/>
          </a:bodyPr>
          <a:lstStyle/>
          <a:p>
            <a:pPr algn="ctr"/>
            <a:r>
              <a:rPr sz="2800" b="1">
                <a:solidFill>
                  <a:srgbClr val="0E8E92"/>
                </a:solidFill>
                <a:latin typeface="Segoe UI"/>
              </a:rPr>
              <a:t>Medium</a:t>
            </a:r>
          </a:p>
        </p:txBody>
      </p:sp>
      <p:sp>
        <p:nvSpPr>
          <p:cNvPr id="12" name="TextBox 11"/>
          <p:cNvSpPr txBox="1"/>
          <p:nvPr/>
        </p:nvSpPr>
        <p:spPr>
          <a:xfrm>
            <a:off x="4609947" y="2926080"/>
            <a:ext cx="2971800" cy="1828800"/>
          </a:xfrm>
          <a:prstGeom prst="rect">
            <a:avLst/>
          </a:prstGeom>
          <a:noFill/>
        </p:spPr>
        <p:txBody>
          <a:bodyPr wrap="square" lIns="45720" rIns="45720" tIns="27432" bIns="27432">
            <a:spAutoFit/>
          </a:bodyPr>
          <a:lstStyle/>
          <a:p>
            <a:pPr algn="ctr"/>
            <a:r>
              <a:rPr sz="1500" b="0">
                <a:solidFill>
                  <a:srgbClr val="5A6078"/>
                </a:solidFill>
                <a:latin typeface="Segoe UI"/>
              </a:rPr>
              <a:t>Recurring multi-step work that reasons across several sources.</a:t>
            </a:r>
          </a:p>
        </p:txBody>
      </p:sp>
      <p:sp>
        <p:nvSpPr>
          <p:cNvPr id="13" name="Rounded Rectangle 12"/>
          <p:cNvSpPr/>
          <p:nvPr/>
        </p:nvSpPr>
        <p:spPr>
          <a:xfrm>
            <a:off x="8084667" y="1874519"/>
            <a:ext cx="3520440" cy="3383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4667" y="1874519"/>
            <a:ext cx="352044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84667" y="2194560"/>
            <a:ext cx="3520440" cy="548640"/>
          </a:xfrm>
          <a:prstGeom prst="rect">
            <a:avLst/>
          </a:prstGeom>
          <a:noFill/>
        </p:spPr>
        <p:txBody>
          <a:bodyPr wrap="square" lIns="45720" rIns="45720" tIns="27432" bIns="27432">
            <a:spAutoFit/>
          </a:bodyPr>
          <a:lstStyle/>
          <a:p>
            <a:pPr algn="ctr"/>
            <a:r>
              <a:rPr sz="2800" b="1">
                <a:solidFill>
                  <a:srgbClr val="C73E78"/>
                </a:solidFill>
                <a:latin typeface="Segoe UI"/>
              </a:rPr>
              <a:t>Heavy</a:t>
            </a:r>
          </a:p>
        </p:txBody>
      </p:sp>
      <p:sp>
        <p:nvSpPr>
          <p:cNvPr id="16" name="TextBox 15"/>
          <p:cNvSpPr txBox="1"/>
          <p:nvPr/>
        </p:nvSpPr>
        <p:spPr>
          <a:xfrm>
            <a:off x="8358987" y="2926080"/>
            <a:ext cx="2971800" cy="1828800"/>
          </a:xfrm>
          <a:prstGeom prst="rect">
            <a:avLst/>
          </a:prstGeom>
          <a:noFill/>
        </p:spPr>
        <p:txBody>
          <a:bodyPr wrap="square" lIns="45720" rIns="45720" tIns="27432" bIns="27432">
            <a:spAutoFit/>
          </a:bodyPr>
          <a:lstStyle/>
          <a:p>
            <a:pPr algn="ctr"/>
            <a:r>
              <a:rPr sz="1500" b="0">
                <a:solidFill>
                  <a:srgbClr val="5A6078"/>
                </a:solidFill>
                <a:latin typeface="Segoe UI"/>
              </a:rPr>
              <a:t>Large multi-part jobs that produce a full set of artifacts.</a:t>
            </a:r>
          </a:p>
        </p:txBody>
      </p:sp>
      <p:sp>
        <p:nvSpPr>
          <p:cNvPr id="17" name="TextBox 16"/>
          <p:cNvSpPr txBox="1"/>
          <p:nvPr/>
        </p:nvSpPr>
        <p:spPr>
          <a:xfrm>
            <a:off x="822960" y="5897880"/>
            <a:ext cx="10515600" cy="365760"/>
          </a:xfrm>
          <a:prstGeom prst="rect">
            <a:avLst/>
          </a:prstGeom>
          <a:noFill/>
        </p:spPr>
        <p:txBody>
          <a:bodyPr wrap="square" lIns="45720" rIns="45720" tIns="27432" bIns="27432">
            <a:spAutoFit/>
          </a:bodyPr>
          <a:lstStyle/>
          <a:p>
            <a:pPr algn="ctr"/>
            <a:r>
              <a:rPr sz="1200" b="0">
                <a:solidFill>
                  <a:srgbClr val="5A6078"/>
                </a:solidFill>
                <a:latin typeface="Segoe UI"/>
              </a:rPr>
              <a:t>Classification follows the source task packs: Lightweight, Everyday workflows, and Hard Problems.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Cowork tasks: light</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GROUPED BY AUDIENCE</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368808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36880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74520"/>
            <a:ext cx="3322320" cy="365760"/>
          </a:xfrm>
          <a:prstGeom prst="rect">
            <a:avLst/>
          </a:prstGeom>
          <a:noFill/>
        </p:spPr>
        <p:txBody>
          <a:bodyPr wrap="square" lIns="45720" rIns="45720" tIns="27432" bIns="27432">
            <a:spAutoFit/>
          </a:bodyPr>
          <a:lstStyle/>
          <a:p>
            <a:r>
              <a:rPr sz="1600" b="1">
                <a:solidFill>
                  <a:srgbClr val="3E8E22"/>
                </a:solidFill>
                <a:latin typeface="Segoe UI"/>
              </a:rPr>
              <a:t>All teams</a:t>
            </a:r>
          </a:p>
        </p:txBody>
      </p:sp>
      <p:sp>
        <p:nvSpPr>
          <p:cNvPr id="8" name="TextBox 7"/>
          <p:cNvSpPr txBox="1"/>
          <p:nvPr/>
        </p:nvSpPr>
        <p:spPr>
          <a:xfrm>
            <a:off x="822959" y="2423160"/>
            <a:ext cx="3322320" cy="594360"/>
          </a:xfrm>
          <a:prstGeom prst="rect">
            <a:avLst/>
          </a:prstGeom>
          <a:noFill/>
        </p:spPr>
        <p:txBody>
          <a:bodyPr wrap="square" lIns="45720" rIns="45720" tIns="27432" bIns="27432">
            <a:spAutoFit/>
          </a:bodyPr>
          <a:lstStyle/>
          <a:p>
            <a:r>
              <a:rPr sz="1300" b="1">
                <a:solidFill>
                  <a:srgbClr val="1B1B2C"/>
                </a:solidFill>
                <a:latin typeface="Segoe UI"/>
              </a:rPr>
              <a:t>Rebalance your week and protect focus time</a:t>
            </a:r>
          </a:p>
        </p:txBody>
      </p:sp>
      <p:sp>
        <p:nvSpPr>
          <p:cNvPr id="9" name="TextBox 8"/>
          <p:cNvSpPr txBox="1"/>
          <p:nvPr/>
        </p:nvSpPr>
        <p:spPr>
          <a:xfrm>
            <a:off x="822959" y="3017520"/>
            <a:ext cx="3322320" cy="502919"/>
          </a:xfrm>
          <a:prstGeom prst="rect">
            <a:avLst/>
          </a:prstGeom>
          <a:noFill/>
        </p:spPr>
        <p:txBody>
          <a:bodyPr wrap="square" lIns="45720" rIns="45720" tIns="27432" bIns="27432">
            <a:spAutoFit/>
          </a:bodyPr>
          <a:lstStyle/>
          <a:p>
            <a:r>
              <a:rPr sz="1100" b="0">
                <a:solidFill>
                  <a:srgbClr val="5A6078"/>
                </a:solidFill>
                <a:latin typeface="Segoe UI"/>
              </a:rPr>
              <a:t>Rebalance the week, resolve conflicts, and protect focus blocks.</a:t>
            </a:r>
          </a:p>
        </p:txBody>
      </p:sp>
      <p:sp>
        <p:nvSpPr>
          <p:cNvPr id="10" name="TextBox 9"/>
          <p:cNvSpPr txBox="1"/>
          <p:nvPr/>
        </p:nvSpPr>
        <p:spPr>
          <a:xfrm>
            <a:off x="822959" y="3566160"/>
            <a:ext cx="3322320" cy="594360"/>
          </a:xfrm>
          <a:prstGeom prst="rect">
            <a:avLst/>
          </a:prstGeom>
          <a:noFill/>
        </p:spPr>
        <p:txBody>
          <a:bodyPr wrap="square" lIns="45720" rIns="45720" tIns="27432" bIns="27432">
            <a:spAutoFit/>
          </a:bodyPr>
          <a:lstStyle/>
          <a:p>
            <a:r>
              <a:rPr sz="1300" b="1">
                <a:solidFill>
                  <a:srgbClr val="1B1B2C"/>
                </a:solidFill>
                <a:latin typeface="Segoe UI"/>
              </a:rPr>
              <a:t>Wrap up projects and organize all related work</a:t>
            </a:r>
          </a:p>
        </p:txBody>
      </p:sp>
      <p:sp>
        <p:nvSpPr>
          <p:cNvPr id="11" name="TextBox 10"/>
          <p:cNvSpPr txBox="1"/>
          <p:nvPr/>
        </p:nvSpPr>
        <p:spPr>
          <a:xfrm>
            <a:off x="822959" y="4160520"/>
            <a:ext cx="3322320" cy="502919"/>
          </a:xfrm>
          <a:prstGeom prst="rect">
            <a:avLst/>
          </a:prstGeom>
          <a:noFill/>
        </p:spPr>
        <p:txBody>
          <a:bodyPr wrap="square" lIns="45720" rIns="45720" tIns="27432" bIns="27432">
            <a:spAutoFit/>
          </a:bodyPr>
          <a:lstStyle/>
          <a:p>
            <a:r>
              <a:rPr sz="1100" b="0">
                <a:solidFill>
                  <a:srgbClr val="5A6078"/>
                </a:solidFill>
                <a:latin typeface="Segoe UI"/>
              </a:rPr>
              <a:t>Close the project with a clean, shareable OneDrive archive.</a:t>
            </a:r>
          </a:p>
        </p:txBody>
      </p:sp>
      <p:sp>
        <p:nvSpPr>
          <p:cNvPr id="12" name="TextBox 11"/>
          <p:cNvSpPr txBox="1"/>
          <p:nvPr/>
        </p:nvSpPr>
        <p:spPr>
          <a:xfrm>
            <a:off x="822959" y="4709160"/>
            <a:ext cx="3322320" cy="594360"/>
          </a:xfrm>
          <a:prstGeom prst="rect">
            <a:avLst/>
          </a:prstGeom>
          <a:noFill/>
        </p:spPr>
        <p:txBody>
          <a:bodyPr wrap="square" lIns="45720" rIns="45720" tIns="27432" bIns="27432">
            <a:spAutoFit/>
          </a:bodyPr>
          <a:lstStyle/>
          <a:p>
            <a:r>
              <a:rPr sz="1300" b="1">
                <a:solidFill>
                  <a:srgbClr val="1B1B2C"/>
                </a:solidFill>
                <a:latin typeface="Segoe UI"/>
              </a:rPr>
              <a:t>Catch up on messages and send replies automatically</a:t>
            </a:r>
          </a:p>
        </p:txBody>
      </p:sp>
      <p:sp>
        <p:nvSpPr>
          <p:cNvPr id="13" name="TextBox 12"/>
          <p:cNvSpPr txBox="1"/>
          <p:nvPr/>
        </p:nvSpPr>
        <p:spPr>
          <a:xfrm>
            <a:off x="822959" y="5303520"/>
            <a:ext cx="3322320" cy="502919"/>
          </a:xfrm>
          <a:prstGeom prst="rect">
            <a:avLst/>
          </a:prstGeom>
          <a:noFill/>
        </p:spPr>
        <p:txBody>
          <a:bodyPr wrap="square" lIns="45720" rIns="45720" tIns="27432" bIns="27432">
            <a:spAutoFit/>
          </a:bodyPr>
          <a:lstStyle/>
          <a:p>
            <a:r>
              <a:rPr sz="1100" b="0">
                <a:solidFill>
                  <a:srgbClr val="5A6078"/>
                </a:solidFill>
                <a:latin typeface="Segoe UI"/>
              </a:rPr>
              <a:t>Handle routine replies and draft higher-stakes responses for review.</a:t>
            </a:r>
          </a:p>
        </p:txBody>
      </p:sp>
      <p:sp>
        <p:nvSpPr>
          <p:cNvPr id="14" name="Rounded Rectangle 13"/>
          <p:cNvSpPr/>
          <p:nvPr/>
        </p:nvSpPr>
        <p:spPr>
          <a:xfrm>
            <a:off x="4556760" y="1691640"/>
            <a:ext cx="368808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56760" y="1691640"/>
            <a:ext cx="36880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39640" y="1874520"/>
            <a:ext cx="3322320" cy="365760"/>
          </a:xfrm>
          <a:prstGeom prst="rect">
            <a:avLst/>
          </a:prstGeom>
          <a:noFill/>
        </p:spPr>
        <p:txBody>
          <a:bodyPr wrap="square" lIns="45720" rIns="45720" tIns="27432" bIns="27432">
            <a:spAutoFit/>
          </a:bodyPr>
          <a:lstStyle/>
          <a:p>
            <a:r>
              <a:rPr sz="1600" b="1">
                <a:solidFill>
                  <a:srgbClr val="3E8E22"/>
                </a:solidFill>
                <a:latin typeface="Segoe UI"/>
              </a:rPr>
              <a:t>Sales</a:t>
            </a:r>
          </a:p>
        </p:txBody>
      </p:sp>
      <p:sp>
        <p:nvSpPr>
          <p:cNvPr id="17" name="TextBox 16"/>
          <p:cNvSpPr txBox="1"/>
          <p:nvPr/>
        </p:nvSpPr>
        <p:spPr>
          <a:xfrm>
            <a:off x="4739640" y="2423160"/>
            <a:ext cx="3322320" cy="640080"/>
          </a:xfrm>
          <a:prstGeom prst="rect">
            <a:avLst/>
          </a:prstGeom>
          <a:noFill/>
        </p:spPr>
        <p:txBody>
          <a:bodyPr wrap="square" lIns="45720" rIns="45720" tIns="27432" bIns="27432">
            <a:spAutoFit/>
          </a:bodyPr>
          <a:lstStyle/>
          <a:p>
            <a:r>
              <a:rPr sz="1400" b="1">
                <a:solidFill>
                  <a:srgbClr val="1B1B2C"/>
                </a:solidFill>
                <a:latin typeface="Segoe UI"/>
              </a:rPr>
              <a:t>Pricing screenshot to customer presentation</a:t>
            </a:r>
          </a:p>
        </p:txBody>
      </p:sp>
      <p:sp>
        <p:nvSpPr>
          <p:cNvPr id="18" name="TextBox 17"/>
          <p:cNvSpPr txBox="1"/>
          <p:nvPr/>
        </p:nvSpPr>
        <p:spPr>
          <a:xfrm>
            <a:off x="4739640" y="3063240"/>
            <a:ext cx="3322320" cy="685800"/>
          </a:xfrm>
          <a:prstGeom prst="rect">
            <a:avLst/>
          </a:prstGeom>
          <a:noFill/>
        </p:spPr>
        <p:txBody>
          <a:bodyPr wrap="square" lIns="45720" rIns="45720" tIns="27432" bIns="27432">
            <a:spAutoFit/>
          </a:bodyPr>
          <a:lstStyle/>
          <a:p>
            <a:r>
              <a:rPr sz="1200" b="0">
                <a:solidFill>
                  <a:srgbClr val="5A6078"/>
                </a:solidFill>
                <a:latin typeface="Segoe UI"/>
              </a:rPr>
              <a:t>Turn approved pricing into a customer-ready deck and draft email.</a:t>
            </a:r>
          </a:p>
        </p:txBody>
      </p:sp>
      <p:sp>
        <p:nvSpPr>
          <p:cNvPr id="19" name="TextBox 18"/>
          <p:cNvSpPr txBox="1"/>
          <p:nvPr/>
        </p:nvSpPr>
        <p:spPr>
          <a:xfrm>
            <a:off x="4739640" y="3794760"/>
            <a:ext cx="3322320" cy="640080"/>
          </a:xfrm>
          <a:prstGeom prst="rect">
            <a:avLst/>
          </a:prstGeom>
          <a:noFill/>
        </p:spPr>
        <p:txBody>
          <a:bodyPr wrap="square" lIns="45720" rIns="45720" tIns="27432" bIns="27432">
            <a:spAutoFit/>
          </a:bodyPr>
          <a:lstStyle/>
          <a:p>
            <a:r>
              <a:rPr sz="1400" b="1">
                <a:solidFill>
                  <a:srgbClr val="1B1B2C"/>
                </a:solidFill>
                <a:latin typeface="Segoe UI"/>
              </a:rPr>
              <a:t>Weekly external customer email review</a:t>
            </a:r>
          </a:p>
        </p:txBody>
      </p:sp>
      <p:sp>
        <p:nvSpPr>
          <p:cNvPr id="20" name="TextBox 19"/>
          <p:cNvSpPr txBox="1"/>
          <p:nvPr/>
        </p:nvSpPr>
        <p:spPr>
          <a:xfrm>
            <a:off x="4739640" y="4434840"/>
            <a:ext cx="3322320" cy="685800"/>
          </a:xfrm>
          <a:prstGeom prst="rect">
            <a:avLst/>
          </a:prstGeom>
          <a:noFill/>
        </p:spPr>
        <p:txBody>
          <a:bodyPr wrap="square" lIns="45720" rIns="45720" tIns="27432" bIns="27432">
            <a:spAutoFit/>
          </a:bodyPr>
          <a:lstStyle/>
          <a:p>
            <a:r>
              <a:rPr sz="1200" b="0">
                <a:solidFill>
                  <a:srgbClr val="5A6078"/>
                </a:solidFill>
                <a:latin typeface="Segoe UI"/>
              </a:rPr>
              <a:t>Surface action items, draft replies, and send a Teams reminder.</a:t>
            </a:r>
          </a:p>
        </p:txBody>
      </p:sp>
      <p:sp>
        <p:nvSpPr>
          <p:cNvPr id="21" name="Rounded Rectangle 20"/>
          <p:cNvSpPr/>
          <p:nvPr/>
        </p:nvSpPr>
        <p:spPr>
          <a:xfrm>
            <a:off x="8473440" y="1691640"/>
            <a:ext cx="368808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73440" y="1691640"/>
            <a:ext cx="36880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6319" y="1874520"/>
            <a:ext cx="3322320" cy="365760"/>
          </a:xfrm>
          <a:prstGeom prst="rect">
            <a:avLst/>
          </a:prstGeom>
          <a:noFill/>
        </p:spPr>
        <p:txBody>
          <a:bodyPr wrap="square" lIns="45720" rIns="45720" tIns="27432" bIns="27432">
            <a:spAutoFit/>
          </a:bodyPr>
          <a:lstStyle/>
          <a:p>
            <a:r>
              <a:rPr sz="1600" b="1">
                <a:solidFill>
                  <a:srgbClr val="3E8E22"/>
                </a:solidFill>
                <a:latin typeface="Segoe UI"/>
              </a:rPr>
              <a:t>Marketing</a:t>
            </a:r>
          </a:p>
        </p:txBody>
      </p:sp>
      <p:sp>
        <p:nvSpPr>
          <p:cNvPr id="24" name="TextBox 23"/>
          <p:cNvSpPr txBox="1"/>
          <p:nvPr/>
        </p:nvSpPr>
        <p:spPr>
          <a:xfrm>
            <a:off x="8656319" y="2423160"/>
            <a:ext cx="3322320" cy="640080"/>
          </a:xfrm>
          <a:prstGeom prst="rect">
            <a:avLst/>
          </a:prstGeom>
          <a:noFill/>
        </p:spPr>
        <p:txBody>
          <a:bodyPr wrap="square" lIns="45720" rIns="45720" tIns="27432" bIns="27432">
            <a:spAutoFit/>
          </a:bodyPr>
          <a:lstStyle/>
          <a:p>
            <a:r>
              <a:rPr sz="1400" b="1">
                <a:solidFill>
                  <a:srgbClr val="1B1B2C"/>
                </a:solidFill>
                <a:latin typeface="Segoe UI"/>
              </a:rPr>
              <a:t>Research and insights alignment recap</a:t>
            </a:r>
          </a:p>
        </p:txBody>
      </p:sp>
      <p:sp>
        <p:nvSpPr>
          <p:cNvPr id="25" name="TextBox 24"/>
          <p:cNvSpPr txBox="1"/>
          <p:nvPr/>
        </p:nvSpPr>
        <p:spPr>
          <a:xfrm>
            <a:off x="8656319" y="3063240"/>
            <a:ext cx="3322320" cy="685800"/>
          </a:xfrm>
          <a:prstGeom prst="rect">
            <a:avLst/>
          </a:prstGeom>
          <a:noFill/>
        </p:spPr>
        <p:txBody>
          <a:bodyPr wrap="square" lIns="45720" rIns="45720" tIns="27432" bIns="27432">
            <a:spAutoFit/>
          </a:bodyPr>
          <a:lstStyle/>
          <a:p>
            <a:r>
              <a:rPr sz="1200" b="0">
                <a:solidFill>
                  <a:srgbClr val="5A6078"/>
                </a:solidFill>
                <a:latin typeface="Segoe UI"/>
              </a:rPr>
              <a:t>Post decisions, open issues, and named next steps to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Cowork tasks: medium</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GROUPED BY AUDIENCE</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564642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564642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74520"/>
            <a:ext cx="5280659" cy="365760"/>
          </a:xfrm>
          <a:prstGeom prst="rect">
            <a:avLst/>
          </a:prstGeom>
          <a:noFill/>
        </p:spPr>
        <p:txBody>
          <a:bodyPr wrap="square" lIns="45720" rIns="45720" tIns="27432" bIns="27432">
            <a:spAutoFit/>
          </a:bodyPr>
          <a:lstStyle/>
          <a:p>
            <a:r>
              <a:rPr sz="1600" b="1">
                <a:solidFill>
                  <a:srgbClr val="0E8E92"/>
                </a:solidFill>
                <a:latin typeface="Segoe UI"/>
              </a:rPr>
              <a:t>All teams</a:t>
            </a:r>
          </a:p>
        </p:txBody>
      </p:sp>
      <p:sp>
        <p:nvSpPr>
          <p:cNvPr id="8" name="TextBox 7"/>
          <p:cNvSpPr txBox="1"/>
          <p:nvPr/>
        </p:nvSpPr>
        <p:spPr>
          <a:xfrm>
            <a:off x="822959" y="2423160"/>
            <a:ext cx="5280659" cy="640080"/>
          </a:xfrm>
          <a:prstGeom prst="rect">
            <a:avLst/>
          </a:prstGeom>
          <a:noFill/>
        </p:spPr>
        <p:txBody>
          <a:bodyPr wrap="square" lIns="45720" rIns="45720" tIns="27432" bIns="27432">
            <a:spAutoFit/>
          </a:bodyPr>
          <a:lstStyle/>
          <a:p>
            <a:r>
              <a:rPr sz="1400" b="1">
                <a:solidFill>
                  <a:srgbClr val="1B1B2C"/>
                </a:solidFill>
                <a:latin typeface="Segoe UI"/>
              </a:rPr>
              <a:t>Turn inbox noise into a curated intelligence brief</a:t>
            </a:r>
          </a:p>
        </p:txBody>
      </p:sp>
      <p:sp>
        <p:nvSpPr>
          <p:cNvPr id="9" name="TextBox 8"/>
          <p:cNvSpPr txBox="1"/>
          <p:nvPr/>
        </p:nvSpPr>
        <p:spPr>
          <a:xfrm>
            <a:off x="822959" y="3063240"/>
            <a:ext cx="5280659" cy="685800"/>
          </a:xfrm>
          <a:prstGeom prst="rect">
            <a:avLst/>
          </a:prstGeom>
          <a:noFill/>
        </p:spPr>
        <p:txBody>
          <a:bodyPr wrap="square" lIns="45720" rIns="45720" tIns="27432" bIns="27432">
            <a:spAutoFit/>
          </a:bodyPr>
          <a:lstStyle/>
          <a:p>
            <a:r>
              <a:rPr sz="1200" b="0">
                <a:solidFill>
                  <a:srgbClr val="5A6078"/>
                </a:solidFill>
                <a:latin typeface="Segoe UI"/>
              </a:rPr>
              <a:t>Create a weekly trend brief from the publications you follow.</a:t>
            </a:r>
          </a:p>
        </p:txBody>
      </p:sp>
      <p:sp>
        <p:nvSpPr>
          <p:cNvPr id="10" name="Rounded Rectangle 9"/>
          <p:cNvSpPr/>
          <p:nvPr/>
        </p:nvSpPr>
        <p:spPr>
          <a:xfrm>
            <a:off x="6515100" y="1691640"/>
            <a:ext cx="564642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15100" y="1691640"/>
            <a:ext cx="564642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7980" y="1874520"/>
            <a:ext cx="5280659" cy="365760"/>
          </a:xfrm>
          <a:prstGeom prst="rect">
            <a:avLst/>
          </a:prstGeom>
          <a:noFill/>
        </p:spPr>
        <p:txBody>
          <a:bodyPr wrap="square" lIns="45720" rIns="45720" tIns="27432" bIns="27432">
            <a:spAutoFit/>
          </a:bodyPr>
          <a:lstStyle/>
          <a:p>
            <a:r>
              <a:rPr sz="1600" b="1">
                <a:solidFill>
                  <a:srgbClr val="0E8E92"/>
                </a:solidFill>
                <a:latin typeface="Segoe UI"/>
              </a:rPr>
              <a:t>Marketing</a:t>
            </a:r>
          </a:p>
        </p:txBody>
      </p:sp>
      <p:sp>
        <p:nvSpPr>
          <p:cNvPr id="13" name="TextBox 12"/>
          <p:cNvSpPr txBox="1"/>
          <p:nvPr/>
        </p:nvSpPr>
        <p:spPr>
          <a:xfrm>
            <a:off x="6697980" y="2423160"/>
            <a:ext cx="5280659" cy="640080"/>
          </a:xfrm>
          <a:prstGeom prst="rect">
            <a:avLst/>
          </a:prstGeom>
          <a:noFill/>
        </p:spPr>
        <p:txBody>
          <a:bodyPr wrap="square" lIns="45720" rIns="45720" tIns="27432" bIns="27432">
            <a:spAutoFit/>
          </a:bodyPr>
          <a:lstStyle/>
          <a:p>
            <a:r>
              <a:rPr sz="1400" b="1">
                <a:solidFill>
                  <a:srgbClr val="1B1B2C"/>
                </a:solidFill>
                <a:latin typeface="Segoe UI"/>
              </a:rPr>
              <a:t>Partner and channel activation kit</a:t>
            </a:r>
          </a:p>
        </p:txBody>
      </p:sp>
      <p:sp>
        <p:nvSpPr>
          <p:cNvPr id="14" name="TextBox 13"/>
          <p:cNvSpPr txBox="1"/>
          <p:nvPr/>
        </p:nvSpPr>
        <p:spPr>
          <a:xfrm>
            <a:off x="6697980" y="3063240"/>
            <a:ext cx="5280659" cy="685800"/>
          </a:xfrm>
          <a:prstGeom prst="rect">
            <a:avLst/>
          </a:prstGeom>
          <a:noFill/>
        </p:spPr>
        <p:txBody>
          <a:bodyPr wrap="square" lIns="45720" rIns="45720" tIns="27432" bIns="27432">
            <a:spAutoFit/>
          </a:bodyPr>
          <a:lstStyle/>
          <a:p>
            <a:r>
              <a:rPr sz="1200" b="0">
                <a:solidFill>
                  <a:srgbClr val="5A6078"/>
                </a:solidFill>
                <a:latin typeface="Segoe UI"/>
              </a:rPr>
              <a:t>Produce partner-ready and channel-ready kits with a routing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Cowork tasks: heavy</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GROUPED BY AUDIENCE</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368808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368808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74520"/>
            <a:ext cx="3322320" cy="365760"/>
          </a:xfrm>
          <a:prstGeom prst="rect">
            <a:avLst/>
          </a:prstGeom>
          <a:noFill/>
        </p:spPr>
        <p:txBody>
          <a:bodyPr wrap="square" lIns="45720" rIns="45720" tIns="27432" bIns="27432">
            <a:spAutoFit/>
          </a:bodyPr>
          <a:lstStyle/>
          <a:p>
            <a:r>
              <a:rPr sz="1600" b="1">
                <a:solidFill>
                  <a:srgbClr val="C73E78"/>
                </a:solidFill>
                <a:latin typeface="Segoe UI"/>
              </a:rPr>
              <a:t>All teams</a:t>
            </a:r>
          </a:p>
        </p:txBody>
      </p:sp>
      <p:sp>
        <p:nvSpPr>
          <p:cNvPr id="8" name="TextBox 7"/>
          <p:cNvSpPr txBox="1"/>
          <p:nvPr/>
        </p:nvSpPr>
        <p:spPr>
          <a:xfrm>
            <a:off x="822959" y="2423160"/>
            <a:ext cx="3322320" cy="548640"/>
          </a:xfrm>
          <a:prstGeom prst="rect">
            <a:avLst/>
          </a:prstGeom>
          <a:noFill/>
        </p:spPr>
        <p:txBody>
          <a:bodyPr wrap="square" lIns="45720" rIns="45720" tIns="27432" bIns="27432">
            <a:spAutoFit/>
          </a:bodyPr>
          <a:lstStyle/>
          <a:p>
            <a:r>
              <a:rPr sz="1200" b="1">
                <a:solidFill>
                  <a:srgbClr val="1B1B2C"/>
                </a:solidFill>
                <a:latin typeface="Segoe UI"/>
              </a:rPr>
              <a:t>Prepare a complete out-of-office handoff</a:t>
            </a:r>
          </a:p>
        </p:txBody>
      </p:sp>
      <p:sp>
        <p:nvSpPr>
          <p:cNvPr id="9" name="TextBox 8"/>
          <p:cNvSpPr txBox="1"/>
          <p:nvPr/>
        </p:nvSpPr>
        <p:spPr>
          <a:xfrm>
            <a:off x="822959" y="2971800"/>
            <a:ext cx="3322320" cy="365760"/>
          </a:xfrm>
          <a:prstGeom prst="rect">
            <a:avLst/>
          </a:prstGeom>
          <a:noFill/>
        </p:spPr>
        <p:txBody>
          <a:bodyPr wrap="square" lIns="45720" rIns="45720" tIns="27432" bIns="27432">
            <a:spAutoFit/>
          </a:bodyPr>
          <a:lstStyle/>
          <a:p>
            <a:r>
              <a:rPr sz="1000" b="0">
                <a:solidFill>
                  <a:srgbClr val="5A6078"/>
                </a:solidFill>
                <a:latin typeface="Segoe UI"/>
              </a:rPr>
              <a:t>Build a handoff from projects, owners, deadlines, and files.</a:t>
            </a:r>
          </a:p>
        </p:txBody>
      </p:sp>
      <p:sp>
        <p:nvSpPr>
          <p:cNvPr id="10" name="TextBox 9"/>
          <p:cNvSpPr txBox="1"/>
          <p:nvPr/>
        </p:nvSpPr>
        <p:spPr>
          <a:xfrm>
            <a:off x="822959" y="3383280"/>
            <a:ext cx="3322320" cy="548640"/>
          </a:xfrm>
          <a:prstGeom prst="rect">
            <a:avLst/>
          </a:prstGeom>
          <a:noFill/>
        </p:spPr>
        <p:txBody>
          <a:bodyPr wrap="square" lIns="45720" rIns="45720" tIns="27432" bIns="27432">
            <a:spAutoFit/>
          </a:bodyPr>
          <a:lstStyle/>
          <a:p>
            <a:r>
              <a:rPr sz="1200" b="1">
                <a:solidFill>
                  <a:srgbClr val="1B1B2C"/>
                </a:solidFill>
                <a:latin typeface="Segoe UI"/>
              </a:rPr>
              <a:t>Analyze and optimize your OneDrive at scale</a:t>
            </a:r>
          </a:p>
        </p:txBody>
      </p:sp>
      <p:sp>
        <p:nvSpPr>
          <p:cNvPr id="11" name="TextBox 10"/>
          <p:cNvSpPr txBox="1"/>
          <p:nvPr/>
        </p:nvSpPr>
        <p:spPr>
          <a:xfrm>
            <a:off x="822959" y="3931920"/>
            <a:ext cx="3322320" cy="365760"/>
          </a:xfrm>
          <a:prstGeom prst="rect">
            <a:avLst/>
          </a:prstGeom>
          <a:noFill/>
        </p:spPr>
        <p:txBody>
          <a:bodyPr wrap="square" lIns="45720" rIns="45720" tIns="27432" bIns="27432">
            <a:spAutoFit/>
          </a:bodyPr>
          <a:lstStyle/>
          <a:p>
            <a:r>
              <a:rPr sz="1000" b="0">
                <a:solidFill>
                  <a:srgbClr val="5A6078"/>
                </a:solidFill>
                <a:latin typeface="Segoe UI"/>
              </a:rPr>
              <a:t>Create a catalog with cleanup decisions queued for approval.</a:t>
            </a:r>
          </a:p>
        </p:txBody>
      </p:sp>
      <p:sp>
        <p:nvSpPr>
          <p:cNvPr id="12" name="TextBox 11"/>
          <p:cNvSpPr txBox="1"/>
          <p:nvPr/>
        </p:nvSpPr>
        <p:spPr>
          <a:xfrm>
            <a:off x="822959" y="4343400"/>
            <a:ext cx="3322320" cy="548640"/>
          </a:xfrm>
          <a:prstGeom prst="rect">
            <a:avLst/>
          </a:prstGeom>
          <a:noFill/>
        </p:spPr>
        <p:txBody>
          <a:bodyPr wrap="square" lIns="45720" rIns="45720" tIns="27432" bIns="27432">
            <a:spAutoFit/>
          </a:bodyPr>
          <a:lstStyle/>
          <a:p>
            <a:r>
              <a:rPr sz="1200" b="1">
                <a:solidFill>
                  <a:srgbClr val="1B1B2C"/>
                </a:solidFill>
                <a:latin typeface="Segoe UI"/>
              </a:rPr>
              <a:t>Audit and surface against a standard</a:t>
            </a:r>
          </a:p>
        </p:txBody>
      </p:sp>
      <p:sp>
        <p:nvSpPr>
          <p:cNvPr id="13" name="TextBox 12"/>
          <p:cNvSpPr txBox="1"/>
          <p:nvPr/>
        </p:nvSpPr>
        <p:spPr>
          <a:xfrm>
            <a:off x="822959" y="4892040"/>
            <a:ext cx="3322320" cy="365760"/>
          </a:xfrm>
          <a:prstGeom prst="rect">
            <a:avLst/>
          </a:prstGeom>
          <a:noFill/>
        </p:spPr>
        <p:txBody>
          <a:bodyPr wrap="square" lIns="45720" rIns="45720" tIns="27432" bIns="27432">
            <a:spAutoFit/>
          </a:bodyPr>
          <a:lstStyle/>
          <a:p>
            <a:r>
              <a:rPr sz="1000" b="0">
                <a:solidFill>
                  <a:srgbClr val="5A6078"/>
                </a:solidFill>
                <a:latin typeface="Segoe UI"/>
              </a:rPr>
              <a:t>Audit files against a policy and return a sortable fix list.</a:t>
            </a:r>
          </a:p>
        </p:txBody>
      </p:sp>
      <p:sp>
        <p:nvSpPr>
          <p:cNvPr id="14" name="TextBox 13"/>
          <p:cNvSpPr txBox="1"/>
          <p:nvPr/>
        </p:nvSpPr>
        <p:spPr>
          <a:xfrm>
            <a:off x="822959" y="5303520"/>
            <a:ext cx="3322320" cy="548640"/>
          </a:xfrm>
          <a:prstGeom prst="rect">
            <a:avLst/>
          </a:prstGeom>
          <a:noFill/>
        </p:spPr>
        <p:txBody>
          <a:bodyPr wrap="square" lIns="45720" rIns="45720" tIns="27432" bIns="27432">
            <a:spAutoFit/>
          </a:bodyPr>
          <a:lstStyle/>
          <a:p>
            <a:r>
              <a:rPr sz="1200" b="1">
                <a:solidFill>
                  <a:srgbClr val="1B1B2C"/>
                </a:solidFill>
                <a:latin typeface="Segoe UI"/>
              </a:rPr>
              <a:t>Onboard a new hire with a complete 30-60-90 plan</a:t>
            </a:r>
          </a:p>
        </p:txBody>
      </p:sp>
      <p:sp>
        <p:nvSpPr>
          <p:cNvPr id="15" name="TextBox 14"/>
          <p:cNvSpPr txBox="1"/>
          <p:nvPr/>
        </p:nvSpPr>
        <p:spPr>
          <a:xfrm>
            <a:off x="822959" y="5852159"/>
            <a:ext cx="3322320" cy="365760"/>
          </a:xfrm>
          <a:prstGeom prst="rect">
            <a:avLst/>
          </a:prstGeom>
          <a:noFill/>
        </p:spPr>
        <p:txBody>
          <a:bodyPr wrap="square" lIns="45720" rIns="45720" tIns="27432" bIns="27432">
            <a:spAutoFit/>
          </a:bodyPr>
          <a:lstStyle/>
          <a:p>
            <a:r>
              <a:rPr sz="1000" b="0">
                <a:solidFill>
                  <a:srgbClr val="5A6078"/>
                </a:solidFill>
                <a:latin typeface="Segoe UI"/>
              </a:rPr>
              <a:t>Create the plan, getting started dashboard, and check-ins.</a:t>
            </a:r>
          </a:p>
        </p:txBody>
      </p:sp>
      <p:sp>
        <p:nvSpPr>
          <p:cNvPr id="16" name="Rounded Rectangle 15"/>
          <p:cNvSpPr/>
          <p:nvPr/>
        </p:nvSpPr>
        <p:spPr>
          <a:xfrm>
            <a:off x="4556760" y="1691640"/>
            <a:ext cx="368808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56760" y="1691640"/>
            <a:ext cx="368808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39640" y="1874520"/>
            <a:ext cx="3322320" cy="365760"/>
          </a:xfrm>
          <a:prstGeom prst="rect">
            <a:avLst/>
          </a:prstGeom>
          <a:noFill/>
        </p:spPr>
        <p:txBody>
          <a:bodyPr wrap="square" lIns="45720" rIns="45720" tIns="27432" bIns="27432">
            <a:spAutoFit/>
          </a:bodyPr>
          <a:lstStyle/>
          <a:p>
            <a:r>
              <a:rPr sz="1600" b="1">
                <a:solidFill>
                  <a:srgbClr val="C73E78"/>
                </a:solidFill>
                <a:latin typeface="Segoe UI"/>
              </a:rPr>
              <a:t>Sales</a:t>
            </a:r>
          </a:p>
        </p:txBody>
      </p:sp>
      <p:sp>
        <p:nvSpPr>
          <p:cNvPr id="19" name="TextBox 18"/>
          <p:cNvSpPr txBox="1"/>
          <p:nvPr/>
        </p:nvSpPr>
        <p:spPr>
          <a:xfrm>
            <a:off x="4739640" y="2423160"/>
            <a:ext cx="3322320" cy="548640"/>
          </a:xfrm>
          <a:prstGeom prst="rect">
            <a:avLst/>
          </a:prstGeom>
          <a:noFill/>
        </p:spPr>
        <p:txBody>
          <a:bodyPr wrap="square" lIns="45720" rIns="45720" tIns="27432" bIns="27432">
            <a:spAutoFit/>
          </a:bodyPr>
          <a:lstStyle/>
          <a:p>
            <a:r>
              <a:rPr sz="1200" b="1">
                <a:solidFill>
                  <a:srgbClr val="1B1B2C"/>
                </a:solidFill>
                <a:latin typeface="Segoe UI"/>
              </a:rPr>
              <a:t>Product launch customer pitch</a:t>
            </a:r>
          </a:p>
        </p:txBody>
      </p:sp>
      <p:sp>
        <p:nvSpPr>
          <p:cNvPr id="20" name="TextBox 19"/>
          <p:cNvSpPr txBox="1"/>
          <p:nvPr/>
        </p:nvSpPr>
        <p:spPr>
          <a:xfrm>
            <a:off x="4739640" y="2971800"/>
            <a:ext cx="3322320" cy="365760"/>
          </a:xfrm>
          <a:prstGeom prst="rect">
            <a:avLst/>
          </a:prstGeom>
          <a:noFill/>
        </p:spPr>
        <p:txBody>
          <a:bodyPr wrap="square" lIns="45720" rIns="45720" tIns="27432" bIns="27432">
            <a:spAutoFit/>
          </a:bodyPr>
          <a:lstStyle/>
          <a:p>
            <a:r>
              <a:rPr sz="1000" b="0">
                <a:solidFill>
                  <a:srgbClr val="5A6078"/>
                </a:solidFill>
                <a:latin typeface="Segoe UI"/>
              </a:rPr>
              <a:t>Create the comparison, value prop, and customer-ready pitch deck.</a:t>
            </a:r>
          </a:p>
        </p:txBody>
      </p:sp>
      <p:sp>
        <p:nvSpPr>
          <p:cNvPr id="21" name="TextBox 20"/>
          <p:cNvSpPr txBox="1"/>
          <p:nvPr/>
        </p:nvSpPr>
        <p:spPr>
          <a:xfrm>
            <a:off x="4739640" y="3383280"/>
            <a:ext cx="3322320" cy="548640"/>
          </a:xfrm>
          <a:prstGeom prst="rect">
            <a:avLst/>
          </a:prstGeom>
          <a:noFill/>
        </p:spPr>
        <p:txBody>
          <a:bodyPr wrap="square" lIns="45720" rIns="45720" tIns="27432" bIns="27432">
            <a:spAutoFit/>
          </a:bodyPr>
          <a:lstStyle/>
          <a:p>
            <a:r>
              <a:rPr sz="1200" b="1">
                <a:solidFill>
                  <a:srgbClr val="1B1B2C"/>
                </a:solidFill>
                <a:latin typeface="Segoe UI"/>
              </a:rPr>
              <a:t>New customer onboarding automation</a:t>
            </a:r>
          </a:p>
        </p:txBody>
      </p:sp>
      <p:sp>
        <p:nvSpPr>
          <p:cNvPr id="22" name="TextBox 21"/>
          <p:cNvSpPr txBox="1"/>
          <p:nvPr/>
        </p:nvSpPr>
        <p:spPr>
          <a:xfrm>
            <a:off x="4739640" y="3931920"/>
            <a:ext cx="3322320" cy="365760"/>
          </a:xfrm>
          <a:prstGeom prst="rect">
            <a:avLst/>
          </a:prstGeom>
          <a:noFill/>
        </p:spPr>
        <p:txBody>
          <a:bodyPr wrap="square" lIns="45720" rIns="45720" tIns="27432" bIns="27432">
            <a:spAutoFit/>
          </a:bodyPr>
          <a:lstStyle/>
          <a:p>
            <a:r>
              <a:rPr sz="1000" b="0">
                <a:solidFill>
                  <a:srgbClr val="5A6078"/>
                </a:solidFill>
                <a:latin typeface="Segoe UI"/>
              </a:rPr>
              <a:t>Set up onboarding artifacts, team message, and welcome email.</a:t>
            </a:r>
          </a:p>
        </p:txBody>
      </p:sp>
      <p:sp>
        <p:nvSpPr>
          <p:cNvPr id="23" name="TextBox 22"/>
          <p:cNvSpPr txBox="1"/>
          <p:nvPr/>
        </p:nvSpPr>
        <p:spPr>
          <a:xfrm>
            <a:off x="4739640" y="4343400"/>
            <a:ext cx="3322320" cy="548640"/>
          </a:xfrm>
          <a:prstGeom prst="rect">
            <a:avLst/>
          </a:prstGeom>
          <a:noFill/>
        </p:spPr>
        <p:txBody>
          <a:bodyPr wrap="square" lIns="45720" rIns="45720" tIns="27432" bIns="27432">
            <a:spAutoFit/>
          </a:bodyPr>
          <a:lstStyle/>
          <a:p>
            <a:r>
              <a:rPr sz="1200" b="1">
                <a:solidFill>
                  <a:srgbClr val="1B1B2C"/>
                </a:solidFill>
                <a:latin typeface="Segoe UI"/>
              </a:rPr>
              <a:t>Customer adoption materials</a:t>
            </a:r>
          </a:p>
        </p:txBody>
      </p:sp>
      <p:sp>
        <p:nvSpPr>
          <p:cNvPr id="24" name="TextBox 23"/>
          <p:cNvSpPr txBox="1"/>
          <p:nvPr/>
        </p:nvSpPr>
        <p:spPr>
          <a:xfrm>
            <a:off x="4739640" y="4892040"/>
            <a:ext cx="3322320" cy="365760"/>
          </a:xfrm>
          <a:prstGeom prst="rect">
            <a:avLst/>
          </a:prstGeom>
          <a:noFill/>
        </p:spPr>
        <p:txBody>
          <a:bodyPr wrap="square" lIns="45720" rIns="45720" tIns="27432" bIns="27432">
            <a:spAutoFit/>
          </a:bodyPr>
          <a:lstStyle/>
          <a:p>
            <a:r>
              <a:rPr sz="1000" b="0">
                <a:solidFill>
                  <a:srgbClr val="5A6078"/>
                </a:solidFill>
                <a:latin typeface="Segoe UI"/>
              </a:rPr>
              <a:t>Build persona-tailored learning paths and rollout order.</a:t>
            </a:r>
          </a:p>
        </p:txBody>
      </p:sp>
      <p:sp>
        <p:nvSpPr>
          <p:cNvPr id="25" name="TextBox 24"/>
          <p:cNvSpPr txBox="1"/>
          <p:nvPr/>
        </p:nvSpPr>
        <p:spPr>
          <a:xfrm>
            <a:off x="4739640" y="5303520"/>
            <a:ext cx="3322320" cy="548640"/>
          </a:xfrm>
          <a:prstGeom prst="rect">
            <a:avLst/>
          </a:prstGeom>
          <a:noFill/>
        </p:spPr>
        <p:txBody>
          <a:bodyPr wrap="square" lIns="45720" rIns="45720" tIns="27432" bIns="27432">
            <a:spAutoFit/>
          </a:bodyPr>
          <a:lstStyle/>
          <a:p>
            <a:r>
              <a:rPr sz="1200" b="1">
                <a:solidFill>
                  <a:srgbClr val="1B1B2C"/>
                </a:solidFill>
                <a:latin typeface="Segoe UI"/>
              </a:rPr>
              <a:t>ROI and value selling artifact</a:t>
            </a:r>
          </a:p>
        </p:txBody>
      </p:sp>
      <p:sp>
        <p:nvSpPr>
          <p:cNvPr id="26" name="TextBox 25"/>
          <p:cNvSpPr txBox="1"/>
          <p:nvPr/>
        </p:nvSpPr>
        <p:spPr>
          <a:xfrm>
            <a:off x="4739640" y="5852159"/>
            <a:ext cx="3322320" cy="365760"/>
          </a:xfrm>
          <a:prstGeom prst="rect">
            <a:avLst/>
          </a:prstGeom>
          <a:noFill/>
        </p:spPr>
        <p:txBody>
          <a:bodyPr wrap="square" lIns="45720" rIns="45720" tIns="27432" bIns="27432">
            <a:spAutoFit/>
          </a:bodyPr>
          <a:lstStyle/>
          <a:p>
            <a:r>
              <a:rPr sz="1000" b="0">
                <a:solidFill>
                  <a:srgbClr val="5A6078"/>
                </a:solidFill>
                <a:latin typeface="Segoe UI"/>
              </a:rPr>
              <a:t>Produce an executive deck and microsite with use cases and ROI model.</a:t>
            </a:r>
          </a:p>
        </p:txBody>
      </p:sp>
      <p:sp>
        <p:nvSpPr>
          <p:cNvPr id="27" name="Rounded Rectangle 26"/>
          <p:cNvSpPr/>
          <p:nvPr/>
        </p:nvSpPr>
        <p:spPr>
          <a:xfrm>
            <a:off x="8473440" y="1691640"/>
            <a:ext cx="3688080" cy="47091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73440" y="1691640"/>
            <a:ext cx="368808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56319" y="1874520"/>
            <a:ext cx="3322320" cy="365760"/>
          </a:xfrm>
          <a:prstGeom prst="rect">
            <a:avLst/>
          </a:prstGeom>
          <a:noFill/>
        </p:spPr>
        <p:txBody>
          <a:bodyPr wrap="square" lIns="45720" rIns="45720" tIns="27432" bIns="27432">
            <a:spAutoFit/>
          </a:bodyPr>
          <a:lstStyle/>
          <a:p>
            <a:r>
              <a:rPr sz="1600" b="1">
                <a:solidFill>
                  <a:srgbClr val="C73E78"/>
                </a:solidFill>
                <a:latin typeface="Segoe UI"/>
              </a:rPr>
              <a:t>Marketing</a:t>
            </a:r>
          </a:p>
        </p:txBody>
      </p:sp>
      <p:sp>
        <p:nvSpPr>
          <p:cNvPr id="30" name="TextBox 29"/>
          <p:cNvSpPr txBox="1"/>
          <p:nvPr/>
        </p:nvSpPr>
        <p:spPr>
          <a:xfrm>
            <a:off x="8656319" y="2423160"/>
            <a:ext cx="3322320" cy="594360"/>
          </a:xfrm>
          <a:prstGeom prst="rect">
            <a:avLst/>
          </a:prstGeom>
          <a:noFill/>
        </p:spPr>
        <p:txBody>
          <a:bodyPr wrap="square" lIns="45720" rIns="45720" tIns="27432" bIns="27432">
            <a:spAutoFit/>
          </a:bodyPr>
          <a:lstStyle/>
          <a:p>
            <a:r>
              <a:rPr sz="1300" b="1">
                <a:solidFill>
                  <a:srgbClr val="1B1B2C"/>
                </a:solidFill>
                <a:latin typeface="Segoe UI"/>
              </a:rPr>
              <a:t>Analyst briefing prep and rehearsal routing</a:t>
            </a:r>
          </a:p>
        </p:txBody>
      </p:sp>
      <p:sp>
        <p:nvSpPr>
          <p:cNvPr id="31" name="TextBox 30"/>
          <p:cNvSpPr txBox="1"/>
          <p:nvPr/>
        </p:nvSpPr>
        <p:spPr>
          <a:xfrm>
            <a:off x="8656319" y="3017520"/>
            <a:ext cx="3322320" cy="502919"/>
          </a:xfrm>
          <a:prstGeom prst="rect">
            <a:avLst/>
          </a:prstGeom>
          <a:noFill/>
        </p:spPr>
        <p:txBody>
          <a:bodyPr wrap="square" lIns="45720" rIns="45720" tIns="27432" bIns="27432">
            <a:spAutoFit/>
          </a:bodyPr>
          <a:lstStyle/>
          <a:p>
            <a:r>
              <a:rPr sz="1100" b="0">
                <a:solidFill>
                  <a:srgbClr val="5A6078"/>
                </a:solidFill>
                <a:latin typeface="Segoe UI"/>
              </a:rPr>
              <a:t>Build a briefing dashboard and lock rehearsal time.</a:t>
            </a:r>
          </a:p>
        </p:txBody>
      </p:sp>
      <p:sp>
        <p:nvSpPr>
          <p:cNvPr id="32" name="TextBox 31"/>
          <p:cNvSpPr txBox="1"/>
          <p:nvPr/>
        </p:nvSpPr>
        <p:spPr>
          <a:xfrm>
            <a:off x="8656319" y="3566160"/>
            <a:ext cx="3322320" cy="594360"/>
          </a:xfrm>
          <a:prstGeom prst="rect">
            <a:avLst/>
          </a:prstGeom>
          <a:noFill/>
        </p:spPr>
        <p:txBody>
          <a:bodyPr wrap="square" lIns="45720" rIns="45720" tIns="27432" bIns="27432">
            <a:spAutoFit/>
          </a:bodyPr>
          <a:lstStyle/>
          <a:p>
            <a:r>
              <a:rPr sz="1300" b="1">
                <a:solidFill>
                  <a:srgbClr val="1B1B2C"/>
                </a:solidFill>
                <a:latin typeface="Segoe UI"/>
              </a:rPr>
              <a:t>Messaging drift audit and remediation routing</a:t>
            </a:r>
          </a:p>
        </p:txBody>
      </p:sp>
      <p:sp>
        <p:nvSpPr>
          <p:cNvPr id="33" name="TextBox 32"/>
          <p:cNvSpPr txBox="1"/>
          <p:nvPr/>
        </p:nvSpPr>
        <p:spPr>
          <a:xfrm>
            <a:off x="8656319" y="4160520"/>
            <a:ext cx="3322320" cy="502919"/>
          </a:xfrm>
          <a:prstGeom prst="rect">
            <a:avLst/>
          </a:prstGeom>
          <a:noFill/>
        </p:spPr>
        <p:txBody>
          <a:bodyPr wrap="square" lIns="45720" rIns="45720" tIns="27432" bIns="27432">
            <a:spAutoFit/>
          </a:bodyPr>
          <a:lstStyle/>
          <a:p>
            <a:r>
              <a:rPr sz="1100" b="0">
                <a:solidFill>
                  <a:srgbClr val="5A6078"/>
                </a:solidFill>
                <a:latin typeface="Segoe UI"/>
              </a:rPr>
              <a:t>Flag inconsistencies with severity, fix, and owner.</a:t>
            </a:r>
          </a:p>
        </p:txBody>
      </p:sp>
      <p:sp>
        <p:nvSpPr>
          <p:cNvPr id="34" name="TextBox 33"/>
          <p:cNvSpPr txBox="1"/>
          <p:nvPr/>
        </p:nvSpPr>
        <p:spPr>
          <a:xfrm>
            <a:off x="8656319" y="4709160"/>
            <a:ext cx="3322320" cy="594360"/>
          </a:xfrm>
          <a:prstGeom prst="rect">
            <a:avLst/>
          </a:prstGeom>
          <a:noFill/>
        </p:spPr>
        <p:txBody>
          <a:bodyPr wrap="square" lIns="45720" rIns="45720" tIns="27432" bIns="27432">
            <a:spAutoFit/>
          </a:bodyPr>
          <a:lstStyle/>
          <a:p>
            <a:r>
              <a:rPr sz="1300" b="1">
                <a:solidFill>
                  <a:srgbClr val="1B1B2C"/>
                </a:solidFill>
                <a:latin typeface="Segoe UI"/>
              </a:rPr>
              <a:t>Scheduled customer signal activation</a:t>
            </a:r>
          </a:p>
        </p:txBody>
      </p:sp>
      <p:sp>
        <p:nvSpPr>
          <p:cNvPr id="35" name="TextBox 34"/>
          <p:cNvSpPr txBox="1"/>
          <p:nvPr/>
        </p:nvSpPr>
        <p:spPr>
          <a:xfrm>
            <a:off x="8656319" y="5303520"/>
            <a:ext cx="3322320" cy="502919"/>
          </a:xfrm>
          <a:prstGeom prst="rect">
            <a:avLst/>
          </a:prstGeom>
          <a:noFill/>
        </p:spPr>
        <p:txBody>
          <a:bodyPr wrap="square" lIns="45720" rIns="45720" tIns="27432" bIns="27432">
            <a:spAutoFit/>
          </a:bodyPr>
          <a:lstStyle/>
          <a:p>
            <a:r>
              <a:rPr sz="1100" b="0">
                <a:solidFill>
                  <a:srgbClr val="5A6078"/>
                </a:solidFill>
                <a:latin typeface="Segoe UI"/>
              </a:rPr>
              <a:t>Create a Friday brief with themes and campaign adjustments.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Rebalance your week and protect focus time</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COWORK LIGHT TASK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1097280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1097280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645920" cy="502920"/>
          </a:xfrm>
          <a:prstGeom prst="rect">
            <a:avLst/>
          </a:prstGeom>
          <a:noFill/>
        </p:spPr>
        <p:txBody>
          <a:bodyPr wrap="square" lIns="45720" rIns="45720" tIns="27432" bIns="27432">
            <a:spAutoFit/>
          </a:bodyPr>
          <a:lstStyle/>
          <a:p>
            <a:r>
              <a:rPr sz="2400" b="1">
                <a:solidFill>
                  <a:srgbClr val="3E8E22"/>
                </a:solidFill>
                <a:latin typeface="Segoe UI"/>
              </a:rPr>
              <a:t>Light</a:t>
            </a:r>
          </a:p>
        </p:txBody>
      </p:sp>
      <p:sp>
        <p:nvSpPr>
          <p:cNvPr id="8" name="TextBox 7"/>
          <p:cNvSpPr txBox="1"/>
          <p:nvPr/>
        </p:nvSpPr>
        <p:spPr>
          <a:xfrm>
            <a:off x="2697480" y="2011680"/>
            <a:ext cx="8595360" cy="1005840"/>
          </a:xfrm>
          <a:prstGeom prst="rect">
            <a:avLst/>
          </a:prstGeom>
          <a:noFill/>
        </p:spPr>
        <p:txBody>
          <a:bodyPr wrap="square" lIns="45720" rIns="45720" tIns="27432" bIns="27432">
            <a:spAutoFit/>
          </a:bodyPr>
          <a:lstStyle/>
          <a:p>
            <a:r>
              <a:rPr sz="1500" b="0">
                <a:solidFill>
                  <a:srgbClr val="5A6078"/>
                </a:solidFill>
                <a:latin typeface="Segoe UI"/>
              </a:rPr>
              <a:t>Quick, single-purpose handoff. Cowork pulls from one or two sources and returns a ready-to-use artifact in minutes.</a:t>
            </a:r>
          </a:p>
        </p:txBody>
      </p:sp>
      <p:sp>
        <p:nvSpPr>
          <p:cNvPr id="9" name="TextBox 8"/>
          <p:cNvSpPr txBox="1"/>
          <p:nvPr/>
        </p:nvSpPr>
        <p:spPr>
          <a:xfrm>
            <a:off x="914400" y="3383280"/>
            <a:ext cx="1554480" cy="365760"/>
          </a:xfrm>
          <a:prstGeom prst="rect">
            <a:avLst/>
          </a:prstGeom>
          <a:noFill/>
        </p:spPr>
        <p:txBody>
          <a:bodyPr wrap="square" lIns="45720" rIns="45720" tIns="27432" bIns="27432">
            <a:spAutoFit/>
          </a:bodyPr>
          <a:lstStyle/>
          <a:p>
            <a:r>
              <a:rPr sz="1600" b="1">
                <a:solidFill>
                  <a:srgbClr val="1B1B2C"/>
                </a:solidFill>
                <a:latin typeface="Segoe UI"/>
              </a:rPr>
              <a:t>Goal</a:t>
            </a:r>
          </a:p>
        </p:txBody>
      </p:sp>
      <p:sp>
        <p:nvSpPr>
          <p:cNvPr id="10" name="TextBox 9"/>
          <p:cNvSpPr txBox="1"/>
          <p:nvPr/>
        </p:nvSpPr>
        <p:spPr>
          <a:xfrm>
            <a:off x="2697480" y="3383280"/>
            <a:ext cx="8595360" cy="1097280"/>
          </a:xfrm>
          <a:prstGeom prst="rect">
            <a:avLst/>
          </a:prstGeom>
          <a:noFill/>
        </p:spPr>
        <p:txBody>
          <a:bodyPr wrap="square" lIns="45720" rIns="45720" tIns="27432" bIns="27432">
            <a:spAutoFit/>
          </a:bodyPr>
          <a:lstStyle/>
          <a:p>
            <a:r>
              <a:rPr sz="1400" b="0">
                <a:solidFill>
                  <a:srgbClr val="1B1B2C"/>
                </a:solidFill>
                <a:latin typeface="Segoe UI"/>
              </a:rPr>
              <a:t>Take control of a fragmented calendar before it takes control of your week.</a:t>
            </a:r>
          </a:p>
        </p:txBody>
      </p:sp>
      <p:sp>
        <p:nvSpPr>
          <p:cNvPr id="11" name="TextBox 10"/>
          <p:cNvSpPr txBox="1"/>
          <p:nvPr/>
        </p:nvSpPr>
        <p:spPr>
          <a:xfrm>
            <a:off x="914400" y="4709160"/>
            <a:ext cx="1691640" cy="365760"/>
          </a:xfrm>
          <a:prstGeom prst="rect">
            <a:avLst/>
          </a:prstGeom>
          <a:noFill/>
        </p:spPr>
        <p:txBody>
          <a:bodyPr wrap="square" lIns="45720" rIns="45720" tIns="27432" bIns="27432">
            <a:spAutoFit/>
          </a:bodyPr>
          <a:lstStyle/>
          <a:p>
            <a:r>
              <a:rPr sz="1600" b="1">
                <a:solidFill>
                  <a:srgbClr val="1B1B2C"/>
                </a:solidFill>
                <a:latin typeface="Segoe UI"/>
              </a:rPr>
              <a:t>Outcome</a:t>
            </a:r>
          </a:p>
        </p:txBody>
      </p:sp>
      <p:sp>
        <p:nvSpPr>
          <p:cNvPr id="12" name="TextBox 11"/>
          <p:cNvSpPr txBox="1"/>
          <p:nvPr/>
        </p:nvSpPr>
        <p:spPr>
          <a:xfrm>
            <a:off x="2697480" y="4709160"/>
            <a:ext cx="8595360" cy="1280160"/>
          </a:xfrm>
          <a:prstGeom prst="rect">
            <a:avLst/>
          </a:prstGeom>
          <a:noFill/>
        </p:spPr>
        <p:txBody>
          <a:bodyPr wrap="square" lIns="45720" rIns="45720" tIns="27432" bIns="27432">
            <a:spAutoFit/>
          </a:bodyPr>
          <a:lstStyle/>
          <a:p>
            <a:r>
              <a:rPr sz="1400" b="0">
                <a:solidFill>
                  <a:srgbClr val="1B1B2C"/>
                </a:solidFill>
                <a:latin typeface="Segoe UI"/>
              </a:rPr>
              <a:t>A rebalanced schedule that protects focus time, prioritizes high-impact meetings, and resolves conflicts, without manually negotiating your own availability.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Goal, outcome, prompt, flow</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REBALANCE YOUR WEEK AND PROTECT FOCUS TIME</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Prompt to give Cowork</a:t>
            </a:r>
          </a:p>
        </p:txBody>
      </p:sp>
      <p:sp>
        <p:nvSpPr>
          <p:cNvPr id="8" name="TextBox 7"/>
          <p:cNvSpPr txBox="1"/>
          <p:nvPr/>
        </p:nvSpPr>
        <p:spPr>
          <a:xfrm>
            <a:off x="868680" y="2331720"/>
            <a:ext cx="5029200" cy="3794760"/>
          </a:xfrm>
          <a:prstGeom prst="rect">
            <a:avLst/>
          </a:prstGeom>
          <a:noFill/>
        </p:spPr>
        <p:txBody>
          <a:bodyPr wrap="square" lIns="45720" rIns="45720" tIns="27432" bIns="27432">
            <a:spAutoFit/>
          </a:bodyPr>
          <a:lstStyle/>
          <a:p>
            <a:r>
              <a:rPr sz="1100" b="0">
                <a:solidFill>
                  <a:srgbClr val="5A6078"/>
                </a:solidFill>
                <a:latin typeface="Segoe UI"/>
              </a:rPr>
              <a:t>Help me organize my week. Review my Outlook calendar. First, show me a summary: Total meetings and hours spent, where I have focus time (2+ hours), and days with the most meetings. Before taking changes, ask clarifying questions: my manager and management chain, note if they are on a meeting, how many attendees, what I'm trying to accomplish this week, how to prioritize conflicts, personal commitments, and which meetings to decline or shorten. Then show proposed changes with explanations: meetings to accept/decline/reschedule, conflicts to resolve (including emailing organizers), and focus blocks to add. Start...</a:t>
            </a:r>
          </a:p>
        </p:txBody>
      </p:sp>
      <p:sp>
        <p:nvSpPr>
          <p:cNvPr id="9" name="Rounded Rectangle 8"/>
          <p:cNvSpPr/>
          <p:nvPr/>
        </p:nvSpPr>
        <p:spPr>
          <a:xfrm>
            <a:off x="626364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69164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Execution flow</a:t>
            </a:r>
          </a:p>
        </p:txBody>
      </p:sp>
      <p:sp>
        <p:nvSpPr>
          <p:cNvPr id="12" name="TextBox 11"/>
          <p:cNvSpPr txBox="1"/>
          <p:nvPr/>
        </p:nvSpPr>
        <p:spPr>
          <a:xfrm>
            <a:off x="6492240" y="2331720"/>
            <a:ext cx="5029200" cy="2743200"/>
          </a:xfrm>
          <a:prstGeom prst="rect">
            <a:avLst/>
          </a:prstGeom>
          <a:noFill/>
        </p:spPr>
        <p:txBody>
          <a:bodyPr wrap="square" tIns="54864" bIns="54864">
            <a:spAutoFit/>
          </a:bodyPr>
          <a:lstStyle/>
          <a:p>
            <a:pPr>
              <a:lnSpc>
                <a:spcPct val="115000"/>
              </a:lnSpc>
              <a:spcAft>
                <a:spcPts val="700"/>
              </a:spcAft>
              <a:defRPr sz="1200">
                <a:solidFill>
                  <a:srgbClr val="1B1B2C"/>
                </a:solidFill>
                <a:latin typeface="Segoe UI"/>
              </a:defRPr>
            </a:pPr>
            <a:r>
              <a:t>•  Calendar -&gt; Summarize meeting load + focus time</a:t>
            </a:r>
          </a:p>
          <a:p>
            <a:pPr>
              <a:lnSpc>
                <a:spcPct val="115000"/>
              </a:lnSpc>
              <a:spcAft>
                <a:spcPts val="700"/>
              </a:spcAft>
              <a:defRPr sz="1200">
                <a:solidFill>
                  <a:srgbClr val="1B1B2C"/>
                </a:solidFill>
                <a:latin typeface="Segoe UI"/>
              </a:defRPr>
            </a:pPr>
            <a:r>
              <a:t>•  Clarify -&gt; Weekly goals + constraints</a:t>
            </a:r>
          </a:p>
          <a:p>
            <a:pPr>
              <a:lnSpc>
                <a:spcPct val="115000"/>
              </a:lnSpc>
              <a:spcAft>
                <a:spcPts val="700"/>
              </a:spcAft>
              <a:defRPr sz="1200">
                <a:solidFill>
                  <a:srgbClr val="1B1B2C"/>
                </a:solidFill>
                <a:latin typeface="Segoe UI"/>
              </a:defRPr>
            </a:pPr>
            <a:r>
              <a:t>•  Evaluate -&gt; Meeting impact + conflicts</a:t>
            </a:r>
          </a:p>
          <a:p>
            <a:pPr>
              <a:lnSpc>
                <a:spcPct val="115000"/>
              </a:lnSpc>
              <a:spcAft>
                <a:spcPts val="700"/>
              </a:spcAft>
              <a:defRPr sz="1200">
                <a:solidFill>
                  <a:srgbClr val="1B1B2C"/>
                </a:solidFill>
                <a:latin typeface="Segoe UI"/>
              </a:defRPr>
            </a:pPr>
            <a:r>
              <a:t>•  Propose -&gt; Accept / decline / reschedule</a:t>
            </a:r>
          </a:p>
          <a:p>
            <a:pPr>
              <a:lnSpc>
                <a:spcPct val="115000"/>
              </a:lnSpc>
              <a:spcAft>
                <a:spcPts val="700"/>
              </a:spcAft>
              <a:defRPr sz="1200">
                <a:solidFill>
                  <a:srgbClr val="1B1B2C"/>
                </a:solidFill>
                <a:latin typeface="Segoe UI"/>
              </a:defRPr>
            </a:pPr>
            <a:r>
              <a:t>•  Recommend -&gt; Add focus blocks</a:t>
            </a:r>
          </a:p>
          <a:p>
            <a:pPr>
              <a:lnSpc>
                <a:spcPct val="115000"/>
              </a:lnSpc>
              <a:spcAft>
                <a:spcPts val="700"/>
              </a:spcAft>
              <a:defRPr sz="1200">
                <a:solidFill>
                  <a:srgbClr val="1B1B2C"/>
                </a:solidFill>
                <a:latin typeface="Segoe UI"/>
              </a:defRPr>
            </a:pPr>
            <a:r>
              <a:t>•  Approve -&gt; Proposed changes</a:t>
            </a:r>
          </a:p>
        </p:txBody>
      </p:sp>
      <p:sp>
        <p:nvSpPr>
          <p:cNvPr id="13" name="TextBox 12"/>
          <p:cNvSpPr txBox="1"/>
          <p:nvPr/>
        </p:nvSpPr>
        <p:spPr>
          <a:xfrm>
            <a:off x="6492240" y="5212080"/>
            <a:ext cx="731520" cy="274320"/>
          </a:xfrm>
          <a:prstGeom prst="rect">
            <a:avLst/>
          </a:prstGeom>
          <a:noFill/>
        </p:spPr>
        <p:txBody>
          <a:bodyPr wrap="square" lIns="45720" rIns="45720" tIns="27432" bIns="27432">
            <a:spAutoFit/>
          </a:bodyPr>
          <a:lstStyle/>
          <a:p>
            <a:r>
              <a:rPr sz="1200" b="1">
                <a:solidFill>
                  <a:srgbClr val="1B1B2C"/>
                </a:solidFill>
                <a:latin typeface="Segoe UI"/>
              </a:rPr>
              <a:t>Note</a:t>
            </a:r>
          </a:p>
        </p:txBody>
      </p:sp>
      <p:sp>
        <p:nvSpPr>
          <p:cNvPr id="14" name="TextBox 13"/>
          <p:cNvSpPr txBox="1"/>
          <p:nvPr/>
        </p:nvSpPr>
        <p:spPr>
          <a:xfrm>
            <a:off x="6492240" y="5486400"/>
            <a:ext cx="5029200" cy="685800"/>
          </a:xfrm>
          <a:prstGeom prst="rect">
            <a:avLst/>
          </a:prstGeom>
          <a:noFill/>
        </p:spPr>
        <p:txBody>
          <a:bodyPr wrap="square" lIns="45720" rIns="45720" tIns="27432" bIns="27432">
            <a:spAutoFit/>
          </a:bodyPr>
          <a:lstStyle/>
          <a:p>
            <a:r>
              <a:rPr sz="1100" b="0">
                <a:solidFill>
                  <a:srgbClr val="5A6078"/>
                </a:solidFill>
                <a:latin typeface="Segoe UI"/>
              </a:rPr>
              <a:t>To automate this, save the prompt, then in Microsoft 365 Copilot hover the saved prompt and choose "Schedule this prompt". Use a skill separately when you want the same workflow instructions reused.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Wrap up projects and organize all related work</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COWORK LIGHT TASK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1097280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1097280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645920" cy="502920"/>
          </a:xfrm>
          <a:prstGeom prst="rect">
            <a:avLst/>
          </a:prstGeom>
          <a:noFill/>
        </p:spPr>
        <p:txBody>
          <a:bodyPr wrap="square" lIns="45720" rIns="45720" tIns="27432" bIns="27432">
            <a:spAutoFit/>
          </a:bodyPr>
          <a:lstStyle/>
          <a:p>
            <a:r>
              <a:rPr sz="2400" b="1">
                <a:solidFill>
                  <a:srgbClr val="3E8E22"/>
                </a:solidFill>
                <a:latin typeface="Segoe UI"/>
              </a:rPr>
              <a:t>Light</a:t>
            </a:r>
          </a:p>
        </p:txBody>
      </p:sp>
      <p:sp>
        <p:nvSpPr>
          <p:cNvPr id="8" name="TextBox 7"/>
          <p:cNvSpPr txBox="1"/>
          <p:nvPr/>
        </p:nvSpPr>
        <p:spPr>
          <a:xfrm>
            <a:off x="2697480" y="2011680"/>
            <a:ext cx="8595360" cy="1005840"/>
          </a:xfrm>
          <a:prstGeom prst="rect">
            <a:avLst/>
          </a:prstGeom>
          <a:noFill/>
        </p:spPr>
        <p:txBody>
          <a:bodyPr wrap="square" lIns="45720" rIns="45720" tIns="27432" bIns="27432">
            <a:spAutoFit/>
          </a:bodyPr>
          <a:lstStyle/>
          <a:p>
            <a:r>
              <a:rPr sz="1500" b="0">
                <a:solidFill>
                  <a:srgbClr val="5A6078"/>
                </a:solidFill>
                <a:latin typeface="Segoe UI"/>
              </a:rPr>
              <a:t>Quick, single-purpose handoff. Cowork pulls from one or two sources and returns a ready-to-use artifact in minutes.</a:t>
            </a:r>
          </a:p>
        </p:txBody>
      </p:sp>
      <p:sp>
        <p:nvSpPr>
          <p:cNvPr id="9" name="TextBox 8"/>
          <p:cNvSpPr txBox="1"/>
          <p:nvPr/>
        </p:nvSpPr>
        <p:spPr>
          <a:xfrm>
            <a:off x="914400" y="3383280"/>
            <a:ext cx="1554480" cy="365760"/>
          </a:xfrm>
          <a:prstGeom prst="rect">
            <a:avLst/>
          </a:prstGeom>
          <a:noFill/>
        </p:spPr>
        <p:txBody>
          <a:bodyPr wrap="square" lIns="45720" rIns="45720" tIns="27432" bIns="27432">
            <a:spAutoFit/>
          </a:bodyPr>
          <a:lstStyle/>
          <a:p>
            <a:r>
              <a:rPr sz="1600" b="1">
                <a:solidFill>
                  <a:srgbClr val="1B1B2C"/>
                </a:solidFill>
                <a:latin typeface="Segoe UI"/>
              </a:rPr>
              <a:t>Goal</a:t>
            </a:r>
          </a:p>
        </p:txBody>
      </p:sp>
      <p:sp>
        <p:nvSpPr>
          <p:cNvPr id="10" name="TextBox 9"/>
          <p:cNvSpPr txBox="1"/>
          <p:nvPr/>
        </p:nvSpPr>
        <p:spPr>
          <a:xfrm>
            <a:off x="2697480" y="3383280"/>
            <a:ext cx="8595360" cy="1097280"/>
          </a:xfrm>
          <a:prstGeom prst="rect">
            <a:avLst/>
          </a:prstGeom>
          <a:noFill/>
        </p:spPr>
        <p:txBody>
          <a:bodyPr wrap="square" lIns="45720" rIns="45720" tIns="27432" bIns="27432">
            <a:spAutoFit/>
          </a:bodyPr>
          <a:lstStyle/>
          <a:p>
            <a:r>
              <a:rPr sz="1400" b="0">
                <a:solidFill>
                  <a:srgbClr val="1B1B2C"/>
                </a:solidFill>
                <a:latin typeface="Segoe UI"/>
              </a:rPr>
              <a:t>Close out a project with a clean, shareable archive, not a scattered trail of files.</a:t>
            </a:r>
          </a:p>
        </p:txBody>
      </p:sp>
      <p:sp>
        <p:nvSpPr>
          <p:cNvPr id="11" name="TextBox 10"/>
          <p:cNvSpPr txBox="1"/>
          <p:nvPr/>
        </p:nvSpPr>
        <p:spPr>
          <a:xfrm>
            <a:off x="914400" y="4709160"/>
            <a:ext cx="1691640" cy="365760"/>
          </a:xfrm>
          <a:prstGeom prst="rect">
            <a:avLst/>
          </a:prstGeom>
          <a:noFill/>
        </p:spPr>
        <p:txBody>
          <a:bodyPr wrap="square" lIns="45720" rIns="45720" tIns="27432" bIns="27432">
            <a:spAutoFit/>
          </a:bodyPr>
          <a:lstStyle/>
          <a:p>
            <a:r>
              <a:rPr sz="1600" b="1">
                <a:solidFill>
                  <a:srgbClr val="1B1B2C"/>
                </a:solidFill>
                <a:latin typeface="Segoe UI"/>
              </a:rPr>
              <a:t>Outcome</a:t>
            </a:r>
          </a:p>
        </p:txBody>
      </p:sp>
      <p:sp>
        <p:nvSpPr>
          <p:cNvPr id="12" name="TextBox 11"/>
          <p:cNvSpPr txBox="1"/>
          <p:nvPr/>
        </p:nvSpPr>
        <p:spPr>
          <a:xfrm>
            <a:off x="2697480" y="4709160"/>
            <a:ext cx="8595360" cy="1280160"/>
          </a:xfrm>
          <a:prstGeom prst="rect">
            <a:avLst/>
          </a:prstGeom>
          <a:noFill/>
        </p:spPr>
        <p:txBody>
          <a:bodyPr wrap="square" lIns="45720" rIns="45720" tIns="27432" bIns="27432">
            <a:spAutoFit/>
          </a:bodyPr>
          <a:lstStyle/>
          <a:p>
            <a:r>
              <a:rPr sz="1400" b="0">
                <a:solidFill>
                  <a:srgbClr val="1B1B2C"/>
                </a:solidFill>
                <a:latin typeface="Segoe UI"/>
              </a:rPr>
              <a:t>A single OneDrive folder with the project's deliverables and references, shared with the team so the work stays findable and easy to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Goal, outcome, prompt, flow</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WRAP UP PROJECTS AND ORGANIZE ALL RELATED WORK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Prompt to give Cowork</a:t>
            </a:r>
          </a:p>
        </p:txBody>
      </p:sp>
      <p:sp>
        <p:nvSpPr>
          <p:cNvPr id="8" name="TextBox 7"/>
          <p:cNvSpPr txBox="1"/>
          <p:nvPr/>
        </p:nvSpPr>
        <p:spPr>
          <a:xfrm>
            <a:off x="868680" y="2331720"/>
            <a:ext cx="5029200" cy="3794760"/>
          </a:xfrm>
          <a:prstGeom prst="rect">
            <a:avLst/>
          </a:prstGeom>
          <a:noFill/>
        </p:spPr>
        <p:txBody>
          <a:bodyPr wrap="square" lIns="45720" rIns="45720" tIns="27432" bIns="27432">
            <a:spAutoFit/>
          </a:bodyPr>
          <a:lstStyle/>
          <a:p>
            <a:r>
              <a:rPr sz="1100" b="0">
                <a:solidFill>
                  <a:srgbClr val="5A6078"/>
                </a:solidFill>
                <a:latin typeface="Segoe UI"/>
              </a:rPr>
              <a:t>I just wrapped up the [Project Name] project. Find all files in my OneDrive related to this project, docs, decks, spreadsheets. Create a new folder called "[Project Name], Archive" and move everything into it. Share the archive folder with the [Project Name] team so they have a clean reference. Then build a lightweight HTML recap page for the archive, project outcomes, key contributors, links to the headline deliverables, and a one-paragraph "what shipped" summary up top, so the archive is navigable, not just a folder of files.</a:t>
            </a:r>
          </a:p>
        </p:txBody>
      </p:sp>
      <p:sp>
        <p:nvSpPr>
          <p:cNvPr id="9" name="Rounded Rectangle 8"/>
          <p:cNvSpPr/>
          <p:nvPr/>
        </p:nvSpPr>
        <p:spPr>
          <a:xfrm>
            <a:off x="626364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691640"/>
            <a:ext cx="54406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Execution flow</a:t>
            </a:r>
          </a:p>
        </p:txBody>
      </p:sp>
      <p:sp>
        <p:nvSpPr>
          <p:cNvPr id="12" name="TextBox 11"/>
          <p:cNvSpPr txBox="1"/>
          <p:nvPr/>
        </p:nvSpPr>
        <p:spPr>
          <a:xfrm>
            <a:off x="6492240" y="2331720"/>
            <a:ext cx="5029200" cy="3749039"/>
          </a:xfrm>
          <a:prstGeom prst="rect">
            <a:avLst/>
          </a:prstGeom>
          <a:noFill/>
        </p:spPr>
        <p:txBody>
          <a:bodyPr wrap="square" tIns="54864" bIns="54864">
            <a:spAutoFit/>
          </a:bodyPr>
          <a:lstStyle/>
          <a:p>
            <a:pPr>
              <a:lnSpc>
                <a:spcPct val="115000"/>
              </a:lnSpc>
              <a:spcAft>
                <a:spcPts val="700"/>
              </a:spcAft>
              <a:defRPr sz="1200">
                <a:solidFill>
                  <a:srgbClr val="1B1B2C"/>
                </a:solidFill>
                <a:latin typeface="Segoe UI"/>
              </a:defRPr>
            </a:pPr>
            <a:r>
              <a:t>•  OneDrive -&gt; Locate project files</a:t>
            </a:r>
          </a:p>
          <a:p>
            <a:pPr>
              <a:lnSpc>
                <a:spcPct val="115000"/>
              </a:lnSpc>
              <a:spcAft>
                <a:spcPts val="700"/>
              </a:spcAft>
              <a:defRPr sz="1200">
                <a:solidFill>
                  <a:srgbClr val="1B1B2C"/>
                </a:solidFill>
                <a:latin typeface="Segoe UI"/>
              </a:defRPr>
            </a:pPr>
            <a:r>
              <a:t>•  Classify -&gt; Docs / decks / spreadsheets</a:t>
            </a:r>
          </a:p>
          <a:p>
            <a:pPr>
              <a:lnSpc>
                <a:spcPct val="115000"/>
              </a:lnSpc>
              <a:spcAft>
                <a:spcPts val="700"/>
              </a:spcAft>
              <a:defRPr sz="1200">
                <a:solidFill>
                  <a:srgbClr val="1B1B2C"/>
                </a:solidFill>
                <a:latin typeface="Segoe UI"/>
              </a:defRPr>
            </a:pPr>
            <a:r>
              <a:t>•  Create -&gt; Archive folder</a:t>
            </a:r>
          </a:p>
          <a:p>
            <a:pPr>
              <a:lnSpc>
                <a:spcPct val="115000"/>
              </a:lnSpc>
              <a:spcAft>
                <a:spcPts val="700"/>
              </a:spcAft>
              <a:defRPr sz="1200">
                <a:solidFill>
                  <a:srgbClr val="1B1B2C"/>
                </a:solidFill>
                <a:latin typeface="Segoe UI"/>
              </a:defRPr>
            </a:pPr>
            <a:r>
              <a:t>•  Move -&gt; Related artifacts</a:t>
            </a:r>
          </a:p>
          <a:p>
            <a:pPr>
              <a:lnSpc>
                <a:spcPct val="115000"/>
              </a:lnSpc>
              <a:spcAft>
                <a:spcPts val="700"/>
              </a:spcAft>
              <a:defRPr sz="1200">
                <a:solidFill>
                  <a:srgbClr val="1B1B2C"/>
                </a:solidFill>
                <a:latin typeface="Segoe UI"/>
              </a:defRPr>
            </a:pPr>
            <a:r>
              <a:t>•  Share -&gt; Archive folder</a:t>
            </a:r>
          </a:p>
          <a:p>
            <a:pPr>
              <a:lnSpc>
                <a:spcPct val="115000"/>
              </a:lnSpc>
              <a:spcAft>
                <a:spcPts val="700"/>
              </a:spcAft>
              <a:defRPr sz="1200">
                <a:solidFill>
                  <a:srgbClr val="1B1B2C"/>
                </a:solidFill>
                <a:latin typeface="Segoe UI"/>
              </a:defRPr>
            </a:pPr>
            <a:r>
              <a:t>•  Confirm -&gt; Central project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Turn inbox noise into a curated intelligence brief</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COWORK MEDIUM TASK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1097280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1097280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645920" cy="502920"/>
          </a:xfrm>
          <a:prstGeom prst="rect">
            <a:avLst/>
          </a:prstGeom>
          <a:noFill/>
        </p:spPr>
        <p:txBody>
          <a:bodyPr wrap="square" lIns="45720" rIns="45720" tIns="27432" bIns="27432">
            <a:spAutoFit/>
          </a:bodyPr>
          <a:lstStyle/>
          <a:p>
            <a:r>
              <a:rPr sz="2400" b="1">
                <a:solidFill>
                  <a:srgbClr val="0E8E92"/>
                </a:solidFill>
                <a:latin typeface="Segoe UI"/>
              </a:rPr>
              <a:t>Medium</a:t>
            </a:r>
          </a:p>
        </p:txBody>
      </p:sp>
      <p:sp>
        <p:nvSpPr>
          <p:cNvPr id="8" name="TextBox 7"/>
          <p:cNvSpPr txBox="1"/>
          <p:nvPr/>
        </p:nvSpPr>
        <p:spPr>
          <a:xfrm>
            <a:off x="2697480" y="2011680"/>
            <a:ext cx="8595360" cy="1005840"/>
          </a:xfrm>
          <a:prstGeom prst="rect">
            <a:avLst/>
          </a:prstGeom>
          <a:noFill/>
        </p:spPr>
        <p:txBody>
          <a:bodyPr wrap="square" lIns="45720" rIns="45720" tIns="27432" bIns="27432">
            <a:spAutoFit/>
          </a:bodyPr>
          <a:lstStyle/>
          <a:p>
            <a:r>
              <a:rPr sz="1500" b="0">
                <a:solidFill>
                  <a:srgbClr val="5A6078"/>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3383280"/>
            <a:ext cx="1554480" cy="365760"/>
          </a:xfrm>
          <a:prstGeom prst="rect">
            <a:avLst/>
          </a:prstGeom>
          <a:noFill/>
        </p:spPr>
        <p:txBody>
          <a:bodyPr wrap="square" lIns="45720" rIns="45720" tIns="27432" bIns="27432">
            <a:spAutoFit/>
          </a:bodyPr>
          <a:lstStyle/>
          <a:p>
            <a:r>
              <a:rPr sz="1600" b="1">
                <a:solidFill>
                  <a:srgbClr val="1B1B2C"/>
                </a:solidFill>
                <a:latin typeface="Segoe UI"/>
              </a:rPr>
              <a:t>Goal</a:t>
            </a:r>
          </a:p>
        </p:txBody>
      </p:sp>
      <p:sp>
        <p:nvSpPr>
          <p:cNvPr id="10" name="TextBox 9"/>
          <p:cNvSpPr txBox="1"/>
          <p:nvPr/>
        </p:nvSpPr>
        <p:spPr>
          <a:xfrm>
            <a:off x="2697480" y="3383280"/>
            <a:ext cx="8595360" cy="1097280"/>
          </a:xfrm>
          <a:prstGeom prst="rect">
            <a:avLst/>
          </a:prstGeom>
          <a:noFill/>
        </p:spPr>
        <p:txBody>
          <a:bodyPr wrap="square" lIns="45720" rIns="45720" tIns="27432" bIns="27432">
            <a:spAutoFit/>
          </a:bodyPr>
          <a:lstStyle/>
          <a:p>
            <a:r>
              <a:rPr sz="1400" b="0">
                <a:solidFill>
                  <a:srgbClr val="1B1B2C"/>
                </a:solidFill>
                <a:latin typeface="Segoe UI"/>
              </a:rPr>
              <a:t>Cut through a week of newsletters to the stories that actually matter to your work.</a:t>
            </a:r>
          </a:p>
        </p:txBody>
      </p:sp>
      <p:sp>
        <p:nvSpPr>
          <p:cNvPr id="11" name="TextBox 10"/>
          <p:cNvSpPr txBox="1"/>
          <p:nvPr/>
        </p:nvSpPr>
        <p:spPr>
          <a:xfrm>
            <a:off x="914400" y="4709160"/>
            <a:ext cx="1691640" cy="365760"/>
          </a:xfrm>
          <a:prstGeom prst="rect">
            <a:avLst/>
          </a:prstGeom>
          <a:noFill/>
        </p:spPr>
        <p:txBody>
          <a:bodyPr wrap="square" lIns="45720" rIns="45720" tIns="27432" bIns="27432">
            <a:spAutoFit/>
          </a:bodyPr>
          <a:lstStyle/>
          <a:p>
            <a:r>
              <a:rPr sz="1600" b="1">
                <a:solidFill>
                  <a:srgbClr val="1B1B2C"/>
                </a:solidFill>
                <a:latin typeface="Segoe UI"/>
              </a:rPr>
              <a:t>Outcome</a:t>
            </a:r>
          </a:p>
        </p:txBody>
      </p:sp>
      <p:sp>
        <p:nvSpPr>
          <p:cNvPr id="12" name="TextBox 11"/>
          <p:cNvSpPr txBox="1"/>
          <p:nvPr/>
        </p:nvSpPr>
        <p:spPr>
          <a:xfrm>
            <a:off x="2697480" y="4709160"/>
            <a:ext cx="8595360" cy="1280160"/>
          </a:xfrm>
          <a:prstGeom prst="rect">
            <a:avLst/>
          </a:prstGeom>
          <a:noFill/>
        </p:spPr>
        <p:txBody>
          <a:bodyPr wrap="square" lIns="45720" rIns="45720" tIns="27432" bIns="27432">
            <a:spAutoFit/>
          </a:bodyPr>
          <a:lstStyle/>
          <a:p>
            <a:r>
              <a:rPr sz="1400" b="0">
                <a:solidFill>
                  <a:srgbClr val="1B1B2C"/>
                </a:solidFill>
                <a:latin typeface="Segoe UI"/>
              </a:rPr>
              <a:t>A curated weekly brief that surfaces meaningful trends across the publications you follow, without the time spent reading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Goal, outcome, prompt, flow</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TURN INBOX NOISE INTO A CURATED INTELLIGENCE BRIEF</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544068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Prompt to give Cowork</a:t>
            </a:r>
          </a:p>
        </p:txBody>
      </p:sp>
      <p:sp>
        <p:nvSpPr>
          <p:cNvPr id="8" name="TextBox 7"/>
          <p:cNvSpPr txBox="1"/>
          <p:nvPr/>
        </p:nvSpPr>
        <p:spPr>
          <a:xfrm>
            <a:off x="868680" y="2331720"/>
            <a:ext cx="5029200" cy="3794760"/>
          </a:xfrm>
          <a:prstGeom prst="rect">
            <a:avLst/>
          </a:prstGeom>
          <a:noFill/>
        </p:spPr>
        <p:txBody>
          <a:bodyPr wrap="square" lIns="45720" rIns="45720" tIns="27432" bIns="27432">
            <a:spAutoFit/>
          </a:bodyPr>
          <a:lstStyle/>
          <a:p>
            <a:r>
              <a:rPr sz="1100" b="0">
                <a:solidFill>
                  <a:srgbClr val="5A6078"/>
                </a:solidFill>
                <a:latin typeface="Segoe UI"/>
              </a:rPr>
              <a:t>Search my inbox for all newsletters, digests, and industry publications received in the past 7 days. Then write a polished, article-style weekly brief covering four sections: (1) [Company] internal newsletters, (2) AI &amp; tech news, (3) World affairs/news publications, and (4) [Your industry], weaving the key stories and themes from each into flowing narrative paragraphs, not bullet lists. Exclude personal or consumer newsletters (hardware, food bank fundraisers, etc.). End with a 2,3 sentence throughline tying the week's themes together. Write the output inline as a readable article. Include links inline to the...</a:t>
            </a:r>
          </a:p>
        </p:txBody>
      </p:sp>
      <p:sp>
        <p:nvSpPr>
          <p:cNvPr id="9" name="Rounded Rectangle 8"/>
          <p:cNvSpPr/>
          <p:nvPr/>
        </p:nvSpPr>
        <p:spPr>
          <a:xfrm>
            <a:off x="626364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691640"/>
            <a:ext cx="544068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Execution flow</a:t>
            </a:r>
          </a:p>
        </p:txBody>
      </p:sp>
      <p:sp>
        <p:nvSpPr>
          <p:cNvPr id="12" name="TextBox 11"/>
          <p:cNvSpPr txBox="1"/>
          <p:nvPr/>
        </p:nvSpPr>
        <p:spPr>
          <a:xfrm>
            <a:off x="6492240" y="2331720"/>
            <a:ext cx="5029200" cy="2743200"/>
          </a:xfrm>
          <a:prstGeom prst="rect">
            <a:avLst/>
          </a:prstGeom>
          <a:noFill/>
        </p:spPr>
        <p:txBody>
          <a:bodyPr wrap="square" tIns="54864" bIns="54864">
            <a:spAutoFit/>
          </a:bodyPr>
          <a:lstStyle/>
          <a:p>
            <a:pPr>
              <a:lnSpc>
                <a:spcPct val="115000"/>
              </a:lnSpc>
              <a:spcAft>
                <a:spcPts val="700"/>
              </a:spcAft>
              <a:defRPr sz="1200">
                <a:solidFill>
                  <a:srgbClr val="1B1B2C"/>
                </a:solidFill>
                <a:latin typeface="Segoe UI"/>
              </a:defRPr>
            </a:pPr>
            <a:r>
              <a:t>•  Inbox -&gt; Identify newsletters + digests</a:t>
            </a:r>
          </a:p>
          <a:p>
            <a:pPr>
              <a:lnSpc>
                <a:spcPct val="115000"/>
              </a:lnSpc>
              <a:spcAft>
                <a:spcPts val="700"/>
              </a:spcAft>
              <a:defRPr sz="1200">
                <a:solidFill>
                  <a:srgbClr val="1B1B2C"/>
                </a:solidFill>
                <a:latin typeface="Segoe UI"/>
              </a:defRPr>
            </a:pPr>
            <a:r>
              <a:t>•  Categorize -&gt; Internal / AI / news / industry</a:t>
            </a:r>
          </a:p>
          <a:p>
            <a:pPr>
              <a:lnSpc>
                <a:spcPct val="115000"/>
              </a:lnSpc>
              <a:spcAft>
                <a:spcPts val="700"/>
              </a:spcAft>
              <a:defRPr sz="1200">
                <a:solidFill>
                  <a:srgbClr val="1B1B2C"/>
                </a:solidFill>
                <a:latin typeface="Segoe UI"/>
              </a:defRPr>
            </a:pPr>
            <a:r>
              <a:t>•  Filter -&gt; Exclude consumer content</a:t>
            </a:r>
          </a:p>
          <a:p>
            <a:pPr>
              <a:lnSpc>
                <a:spcPct val="115000"/>
              </a:lnSpc>
              <a:spcAft>
                <a:spcPts val="700"/>
              </a:spcAft>
              <a:defRPr sz="1200">
                <a:solidFill>
                  <a:srgbClr val="1B1B2C"/>
                </a:solidFill>
                <a:latin typeface="Segoe UI"/>
              </a:defRPr>
            </a:pPr>
            <a:r>
              <a:t>•  Synthesize -&gt; Narrative brief</a:t>
            </a:r>
          </a:p>
          <a:p>
            <a:pPr>
              <a:lnSpc>
                <a:spcPct val="115000"/>
              </a:lnSpc>
              <a:spcAft>
                <a:spcPts val="700"/>
              </a:spcAft>
              <a:defRPr sz="1200">
                <a:solidFill>
                  <a:srgbClr val="1B1B2C"/>
                </a:solidFill>
                <a:latin typeface="Segoe UI"/>
              </a:defRPr>
            </a:pPr>
            <a:r>
              <a:t>•  Compile -&gt; Inline article</a:t>
            </a:r>
          </a:p>
          <a:p>
            <a:pPr>
              <a:lnSpc>
                <a:spcPct val="115000"/>
              </a:lnSpc>
              <a:spcAft>
                <a:spcPts val="700"/>
              </a:spcAft>
              <a:defRPr sz="1200">
                <a:solidFill>
                  <a:srgbClr val="1B1B2C"/>
                </a:solidFill>
                <a:latin typeface="Segoe UI"/>
              </a:defRPr>
            </a:pPr>
            <a:r>
              <a:t>•  Link -&gt; Source emails</a:t>
            </a:r>
          </a:p>
        </p:txBody>
      </p:sp>
      <p:sp>
        <p:nvSpPr>
          <p:cNvPr id="13" name="TextBox 12"/>
          <p:cNvSpPr txBox="1"/>
          <p:nvPr/>
        </p:nvSpPr>
        <p:spPr>
          <a:xfrm>
            <a:off x="6492240" y="5212080"/>
            <a:ext cx="731520" cy="274320"/>
          </a:xfrm>
          <a:prstGeom prst="rect">
            <a:avLst/>
          </a:prstGeom>
          <a:noFill/>
        </p:spPr>
        <p:txBody>
          <a:bodyPr wrap="square" lIns="45720" rIns="45720" tIns="27432" bIns="27432">
            <a:spAutoFit/>
          </a:bodyPr>
          <a:lstStyle/>
          <a:p>
            <a:r>
              <a:rPr sz="1200" b="1">
                <a:solidFill>
                  <a:srgbClr val="1B1B2C"/>
                </a:solidFill>
                <a:latin typeface="Segoe UI"/>
              </a:rPr>
              <a:t>Note</a:t>
            </a:r>
          </a:p>
        </p:txBody>
      </p:sp>
      <p:sp>
        <p:nvSpPr>
          <p:cNvPr id="14" name="TextBox 13"/>
          <p:cNvSpPr txBox="1"/>
          <p:nvPr/>
        </p:nvSpPr>
        <p:spPr>
          <a:xfrm>
            <a:off x="6492240" y="5486400"/>
            <a:ext cx="5029200" cy="685800"/>
          </a:xfrm>
          <a:prstGeom prst="rect">
            <a:avLst/>
          </a:prstGeom>
          <a:noFill/>
        </p:spPr>
        <p:txBody>
          <a:bodyPr wrap="square" lIns="45720" rIns="45720" tIns="27432" bIns="27432">
            <a:spAutoFit/>
          </a:bodyPr>
          <a:lstStyle/>
          <a:p>
            <a:r>
              <a:rPr sz="1100" b="0">
                <a:solidFill>
                  <a:srgbClr val="5A6078"/>
                </a:solidFill>
                <a:latin typeface="Segoe UI"/>
              </a:rPr>
              <a:t>This task can use a scheduled prompt. In Microsoft 365 Copilot, save the prompt, hover it, choose "Schedule this prompt", and set the recurrence.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Partner and channel activation kit</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COWORK MEDIUM TASK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1097280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1097280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645920" cy="502920"/>
          </a:xfrm>
          <a:prstGeom prst="rect">
            <a:avLst/>
          </a:prstGeom>
          <a:noFill/>
        </p:spPr>
        <p:txBody>
          <a:bodyPr wrap="square" lIns="45720" rIns="45720" tIns="27432" bIns="27432">
            <a:spAutoFit/>
          </a:bodyPr>
          <a:lstStyle/>
          <a:p>
            <a:r>
              <a:rPr sz="2400" b="1">
                <a:solidFill>
                  <a:srgbClr val="0E8E92"/>
                </a:solidFill>
                <a:latin typeface="Segoe UI"/>
              </a:rPr>
              <a:t>Medium</a:t>
            </a:r>
          </a:p>
        </p:txBody>
      </p:sp>
      <p:sp>
        <p:nvSpPr>
          <p:cNvPr id="8" name="TextBox 7"/>
          <p:cNvSpPr txBox="1"/>
          <p:nvPr/>
        </p:nvSpPr>
        <p:spPr>
          <a:xfrm>
            <a:off x="2697480" y="2011680"/>
            <a:ext cx="8595360" cy="1005840"/>
          </a:xfrm>
          <a:prstGeom prst="rect">
            <a:avLst/>
          </a:prstGeom>
          <a:noFill/>
        </p:spPr>
        <p:txBody>
          <a:bodyPr wrap="square" lIns="45720" rIns="45720" tIns="27432" bIns="27432">
            <a:spAutoFit/>
          </a:bodyPr>
          <a:lstStyle/>
          <a:p>
            <a:r>
              <a:rPr sz="1500" b="0">
                <a:solidFill>
                  <a:srgbClr val="5A6078"/>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3383280"/>
            <a:ext cx="1554480" cy="365760"/>
          </a:xfrm>
          <a:prstGeom prst="rect">
            <a:avLst/>
          </a:prstGeom>
          <a:noFill/>
        </p:spPr>
        <p:txBody>
          <a:bodyPr wrap="square" lIns="45720" rIns="45720" tIns="27432" bIns="27432">
            <a:spAutoFit/>
          </a:bodyPr>
          <a:lstStyle/>
          <a:p>
            <a:r>
              <a:rPr sz="1600" b="1">
                <a:solidFill>
                  <a:srgbClr val="1B1B2C"/>
                </a:solidFill>
                <a:latin typeface="Segoe UI"/>
              </a:rPr>
              <a:t>Goal</a:t>
            </a:r>
          </a:p>
        </p:txBody>
      </p:sp>
      <p:sp>
        <p:nvSpPr>
          <p:cNvPr id="10" name="TextBox 9"/>
          <p:cNvSpPr txBox="1"/>
          <p:nvPr/>
        </p:nvSpPr>
        <p:spPr>
          <a:xfrm>
            <a:off x="2697480" y="3383280"/>
            <a:ext cx="8595360" cy="1097280"/>
          </a:xfrm>
          <a:prstGeom prst="rect">
            <a:avLst/>
          </a:prstGeom>
          <a:noFill/>
        </p:spPr>
        <p:txBody>
          <a:bodyPr wrap="square" lIns="45720" rIns="45720" tIns="27432" bIns="27432">
            <a:spAutoFit/>
          </a:bodyPr>
          <a:lstStyle/>
          <a:p>
            <a:r>
              <a:rPr sz="1400" b="0">
                <a:solidFill>
                  <a:srgbClr val="1B1B2C"/>
                </a:solidFill>
                <a:latin typeface="Segoe UI"/>
              </a:rPr>
              <a:t>Adapt the [Product/Campaign Name] launch materials for partners and channel teams and route them for review.</a:t>
            </a:r>
          </a:p>
        </p:txBody>
      </p:sp>
      <p:sp>
        <p:nvSpPr>
          <p:cNvPr id="11" name="TextBox 10"/>
          <p:cNvSpPr txBox="1"/>
          <p:nvPr/>
        </p:nvSpPr>
        <p:spPr>
          <a:xfrm>
            <a:off x="914400" y="4709160"/>
            <a:ext cx="1691640" cy="365760"/>
          </a:xfrm>
          <a:prstGeom prst="rect">
            <a:avLst/>
          </a:prstGeom>
          <a:noFill/>
        </p:spPr>
        <p:txBody>
          <a:bodyPr wrap="square" lIns="45720" rIns="45720" tIns="27432" bIns="27432">
            <a:spAutoFit/>
          </a:bodyPr>
          <a:lstStyle/>
          <a:p>
            <a:r>
              <a:rPr sz="1600" b="1">
                <a:solidFill>
                  <a:srgbClr val="1B1B2C"/>
                </a:solidFill>
                <a:latin typeface="Segoe UI"/>
              </a:rPr>
              <a:t>Outcome</a:t>
            </a:r>
          </a:p>
        </p:txBody>
      </p:sp>
      <p:sp>
        <p:nvSpPr>
          <p:cNvPr id="12" name="TextBox 11"/>
          <p:cNvSpPr txBox="1"/>
          <p:nvPr/>
        </p:nvSpPr>
        <p:spPr>
          <a:xfrm>
            <a:off x="2697480" y="4709160"/>
            <a:ext cx="8595360" cy="1280160"/>
          </a:xfrm>
          <a:prstGeom prst="rect">
            <a:avLst/>
          </a:prstGeom>
          <a:noFill/>
        </p:spPr>
        <p:txBody>
          <a:bodyPr wrap="square" lIns="45720" rIns="45720" tIns="27432" bIns="27432">
            <a:spAutoFit/>
          </a:bodyPr>
          <a:lstStyle/>
          <a:p>
            <a:r>
              <a:rPr sz="1400" b="0">
                <a:solidFill>
                  <a:srgbClr val="1B1B2C"/>
                </a:solidFill>
                <a:latin typeface="Segoe UI"/>
              </a:rPr>
              <a:t>A partner-ready and channel-ready activation kit across Word and Excel, plus a routing plan so partner, field, and channel marketing can move fast.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Goal, outcome, prompt, flow</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PARTNER AND CHANNEL ACTIVATION KIT</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544068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Prompt to give Cowork</a:t>
            </a:r>
          </a:p>
        </p:txBody>
      </p:sp>
      <p:sp>
        <p:nvSpPr>
          <p:cNvPr id="8" name="TextBox 7"/>
          <p:cNvSpPr txBox="1"/>
          <p:nvPr/>
        </p:nvSpPr>
        <p:spPr>
          <a:xfrm>
            <a:off x="868680" y="2331720"/>
            <a:ext cx="5029200" cy="3794760"/>
          </a:xfrm>
          <a:prstGeom prst="rect">
            <a:avLst/>
          </a:prstGeom>
          <a:noFill/>
        </p:spPr>
        <p:txBody>
          <a:bodyPr wrap="square" lIns="45720" rIns="45720" tIns="27432" bIns="27432">
            <a:spAutoFit/>
          </a:bodyPr>
          <a:lstStyle/>
          <a:p>
            <a:r>
              <a:rPr sz="1100" b="0">
                <a:solidFill>
                  <a:srgbClr val="5A6078"/>
                </a:solidFill>
                <a:latin typeface="Segoe UI"/>
              </a:rPr>
              <a:t>[Product/Campaign Name] is moving into partner and channel activation. I need the launch materials adapted so partner marketing and the channel teams can execute without translation. Source: Latest launch materials in [OneDrive Folder] Approved messaging in [Messaging Doc] Prior partner-facing communications for tone reference Create the following: Partner one-pager (Word) Co-marketing talking points (Word) Partner FAQ (Word) Partner email template (Word) Channel-ready social pack, three LinkedIn variants and two X variants with creative guidance (Excel) Route: Send to [Partner Marketing Owner] for...</a:t>
            </a:r>
          </a:p>
        </p:txBody>
      </p:sp>
      <p:sp>
        <p:nvSpPr>
          <p:cNvPr id="9" name="Rounded Rectangle 8"/>
          <p:cNvSpPr/>
          <p:nvPr/>
        </p:nvSpPr>
        <p:spPr>
          <a:xfrm>
            <a:off x="626364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691640"/>
            <a:ext cx="5440680" cy="82296"/>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Execution flow</a:t>
            </a:r>
          </a:p>
        </p:txBody>
      </p:sp>
      <p:sp>
        <p:nvSpPr>
          <p:cNvPr id="12" name="TextBox 11"/>
          <p:cNvSpPr txBox="1"/>
          <p:nvPr/>
        </p:nvSpPr>
        <p:spPr>
          <a:xfrm>
            <a:off x="6492240" y="2331720"/>
            <a:ext cx="5029200" cy="3749039"/>
          </a:xfrm>
          <a:prstGeom prst="rect">
            <a:avLst/>
          </a:prstGeom>
          <a:noFill/>
        </p:spPr>
        <p:txBody>
          <a:bodyPr wrap="square" tIns="54864" bIns="54864">
            <a:spAutoFit/>
          </a:bodyPr>
          <a:lstStyle/>
          <a:p>
            <a:pPr>
              <a:lnSpc>
                <a:spcPct val="115000"/>
              </a:lnSpc>
              <a:spcAft>
                <a:spcPts val="700"/>
              </a:spcAft>
              <a:defRPr sz="1200">
                <a:solidFill>
                  <a:srgbClr val="1B1B2C"/>
                </a:solidFill>
                <a:latin typeface="Segoe UI"/>
              </a:defRPr>
            </a:pPr>
            <a:r>
              <a:t>•  OneDrive [Folder] -&gt; Read the launch materials</a:t>
            </a:r>
          </a:p>
          <a:p>
            <a:pPr>
              <a:lnSpc>
                <a:spcPct val="115000"/>
              </a:lnSpc>
              <a:spcAft>
                <a:spcPts val="700"/>
              </a:spcAft>
              <a:defRPr sz="1200">
                <a:solidFill>
                  <a:srgbClr val="1B1B2C"/>
                </a:solidFill>
                <a:latin typeface="Segoe UI"/>
              </a:defRPr>
            </a:pPr>
            <a:r>
              <a:t>•  Messaging Doc -&gt; Ground every adaptation in approved positioning</a:t>
            </a:r>
          </a:p>
          <a:p>
            <a:pPr>
              <a:lnSpc>
                <a:spcPct val="115000"/>
              </a:lnSpc>
              <a:spcAft>
                <a:spcPts val="700"/>
              </a:spcAft>
              <a:defRPr sz="1200">
                <a:solidFill>
                  <a:srgbClr val="1B1B2C"/>
                </a:solidFill>
                <a:latin typeface="Segoe UI"/>
              </a:defRPr>
            </a:pPr>
            <a:r>
              <a:t>•  Adapt -&gt; One-pager · talking points · FAQ</a:t>
            </a:r>
          </a:p>
          <a:p>
            <a:pPr>
              <a:lnSpc>
                <a:spcPct val="115000"/>
              </a:lnSpc>
              <a:spcAft>
                <a:spcPts val="700"/>
              </a:spcAft>
              <a:defRPr sz="1200">
                <a:solidFill>
                  <a:srgbClr val="1B1B2C"/>
                </a:solidFill>
                <a:latin typeface="Segoe UI"/>
              </a:defRPr>
            </a:pPr>
            <a:r>
              <a:t>•  Adapt -&gt; Email template · social pack</a:t>
            </a:r>
          </a:p>
          <a:p>
            <a:pPr>
              <a:lnSpc>
                <a:spcPct val="115000"/>
              </a:lnSpc>
              <a:spcAft>
                <a:spcPts val="700"/>
              </a:spcAft>
              <a:defRPr sz="1200">
                <a:solidFill>
                  <a:srgbClr val="1B1B2C"/>
                </a:solidFill>
                <a:latin typeface="Segoe UI"/>
              </a:defRPr>
            </a:pPr>
            <a:r>
              <a:t>•  Org directory -&gt; Identify partner and channel owners</a:t>
            </a:r>
          </a:p>
          <a:p>
            <a:pPr>
              <a:lnSpc>
                <a:spcPct val="115000"/>
              </a:lnSpc>
              <a:spcAft>
                <a:spcPts val="700"/>
              </a:spcAft>
              <a:defRPr sz="1200">
                <a:solidFill>
                  <a:srgbClr val="1B1B2C"/>
                </a:solidFill>
                <a:latin typeface="Segoe UI"/>
              </a:defRPr>
            </a:pPr>
            <a:r>
              <a:t>•  Route -&gt; Kit to owners for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Prepare a complete out-of-office handoff</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COWORK HEAVY TASK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1097280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1097280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645920" cy="502920"/>
          </a:xfrm>
          <a:prstGeom prst="rect">
            <a:avLst/>
          </a:prstGeom>
          <a:noFill/>
        </p:spPr>
        <p:txBody>
          <a:bodyPr wrap="square" lIns="45720" rIns="45720" tIns="27432" bIns="27432">
            <a:spAutoFit/>
          </a:bodyPr>
          <a:lstStyle/>
          <a:p>
            <a:r>
              <a:rPr sz="2400" b="1">
                <a:solidFill>
                  <a:srgbClr val="C73E78"/>
                </a:solidFill>
                <a:latin typeface="Segoe UI"/>
              </a:rPr>
              <a:t>Heavy</a:t>
            </a:r>
          </a:p>
        </p:txBody>
      </p:sp>
      <p:sp>
        <p:nvSpPr>
          <p:cNvPr id="8" name="TextBox 7"/>
          <p:cNvSpPr txBox="1"/>
          <p:nvPr/>
        </p:nvSpPr>
        <p:spPr>
          <a:xfrm>
            <a:off x="2697480" y="2011680"/>
            <a:ext cx="8595360" cy="1005840"/>
          </a:xfrm>
          <a:prstGeom prst="rect">
            <a:avLst/>
          </a:prstGeom>
          <a:noFill/>
        </p:spPr>
        <p:txBody>
          <a:bodyPr wrap="square" lIns="45720" rIns="45720" tIns="27432" bIns="27432">
            <a:spAutoFit/>
          </a:bodyPr>
          <a:lstStyle/>
          <a:p>
            <a:r>
              <a:rPr sz="1500" b="0">
                <a:solidFill>
                  <a:srgbClr val="5A6078"/>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3383280"/>
            <a:ext cx="1554480" cy="365760"/>
          </a:xfrm>
          <a:prstGeom prst="rect">
            <a:avLst/>
          </a:prstGeom>
          <a:noFill/>
        </p:spPr>
        <p:txBody>
          <a:bodyPr wrap="square" lIns="45720" rIns="45720" tIns="27432" bIns="27432">
            <a:spAutoFit/>
          </a:bodyPr>
          <a:lstStyle/>
          <a:p>
            <a:r>
              <a:rPr sz="1600" b="1">
                <a:solidFill>
                  <a:srgbClr val="1B1B2C"/>
                </a:solidFill>
                <a:latin typeface="Segoe UI"/>
              </a:rPr>
              <a:t>Goal</a:t>
            </a:r>
          </a:p>
        </p:txBody>
      </p:sp>
      <p:sp>
        <p:nvSpPr>
          <p:cNvPr id="10" name="TextBox 9"/>
          <p:cNvSpPr txBox="1"/>
          <p:nvPr/>
        </p:nvSpPr>
        <p:spPr>
          <a:xfrm>
            <a:off x="2697480" y="3383280"/>
            <a:ext cx="8595360" cy="1097280"/>
          </a:xfrm>
          <a:prstGeom prst="rect">
            <a:avLst/>
          </a:prstGeom>
          <a:noFill/>
        </p:spPr>
        <p:txBody>
          <a:bodyPr wrap="square" lIns="45720" rIns="45720" tIns="27432" bIns="27432">
            <a:spAutoFit/>
          </a:bodyPr>
          <a:lstStyle/>
          <a:p>
            <a:r>
              <a:rPr sz="1400" b="0">
                <a:solidFill>
                  <a:srgbClr val="1B1B2C"/>
                </a:solidFill>
                <a:latin typeface="Segoe UI"/>
              </a:rPr>
              <a:t>Step away from your laptop knowing nothing in flight will stall while you are out.</a:t>
            </a:r>
          </a:p>
        </p:txBody>
      </p:sp>
      <p:sp>
        <p:nvSpPr>
          <p:cNvPr id="11" name="TextBox 10"/>
          <p:cNvSpPr txBox="1"/>
          <p:nvPr/>
        </p:nvSpPr>
        <p:spPr>
          <a:xfrm>
            <a:off x="914400" y="4709160"/>
            <a:ext cx="1691640" cy="365760"/>
          </a:xfrm>
          <a:prstGeom prst="rect">
            <a:avLst/>
          </a:prstGeom>
          <a:noFill/>
        </p:spPr>
        <p:txBody>
          <a:bodyPr wrap="square" lIns="45720" rIns="45720" tIns="27432" bIns="27432">
            <a:spAutoFit/>
          </a:bodyPr>
          <a:lstStyle/>
          <a:p>
            <a:r>
              <a:rPr sz="1600" b="1">
                <a:solidFill>
                  <a:srgbClr val="1B1B2C"/>
                </a:solidFill>
                <a:latin typeface="Segoe UI"/>
              </a:rPr>
              <a:t>Outcome</a:t>
            </a:r>
          </a:p>
        </p:txBody>
      </p:sp>
      <p:sp>
        <p:nvSpPr>
          <p:cNvPr id="12" name="TextBox 11"/>
          <p:cNvSpPr txBox="1"/>
          <p:nvPr/>
        </p:nvSpPr>
        <p:spPr>
          <a:xfrm>
            <a:off x="2697480" y="4709160"/>
            <a:ext cx="8595360" cy="1280160"/>
          </a:xfrm>
          <a:prstGeom prst="rect">
            <a:avLst/>
          </a:prstGeom>
          <a:noFill/>
        </p:spPr>
        <p:txBody>
          <a:bodyPr wrap="square" lIns="45720" rIns="45720" tIns="27432" bIns="27432">
            <a:spAutoFit/>
          </a:bodyPr>
          <a:lstStyle/>
          <a:p>
            <a:r>
              <a:rPr sz="1400" b="0">
                <a:solidFill>
                  <a:srgbClr val="1B1B2C"/>
                </a:solidFill>
                <a:latin typeface="Segoe UI"/>
              </a:rPr>
              <a:t>A handover document built from your real work, projects, owners, deadlines, and supporting files, so coverage stays clear and execution keeps moving.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Goal, outcome, prompt, flow</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PREPARE A COMPLETE OUT-OF-OFFICE HANDOFF</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544068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Prompt to give Cowork</a:t>
            </a:r>
          </a:p>
        </p:txBody>
      </p:sp>
      <p:sp>
        <p:nvSpPr>
          <p:cNvPr id="8" name="TextBox 7"/>
          <p:cNvSpPr txBox="1"/>
          <p:nvPr/>
        </p:nvSpPr>
        <p:spPr>
          <a:xfrm>
            <a:off x="868680" y="2331720"/>
            <a:ext cx="5029200" cy="3794760"/>
          </a:xfrm>
          <a:prstGeom prst="rect">
            <a:avLst/>
          </a:prstGeom>
          <a:noFill/>
        </p:spPr>
        <p:txBody>
          <a:bodyPr wrap="square" lIns="45720" rIns="45720" tIns="27432" bIns="27432">
            <a:spAutoFit/>
          </a:bodyPr>
          <a:lstStyle/>
          <a:p>
            <a:r>
              <a:rPr sz="1100" b="0">
                <a:solidFill>
                  <a:srgbClr val="5A6078"/>
                </a:solidFill>
                <a:latin typeface="Segoe UI"/>
              </a:rPr>
              <a:t>I am about to go out of office for x week(s) beginning this coming [date]. Build an out-of-office tracker to cover off on all ongoing projects and tasks that will require things to move forward while I am gone. This should cover all team meetings from this week, all emails, and all Teams messages (both in meeting chats, individual chats, and group chats). Please also analyze my calendar for next week, and any projects that have action items for next week and include these in the handover. This should cover big project asks as well as smaller project tasks. Please limit the team members who are covering to my...</a:t>
            </a:r>
          </a:p>
        </p:txBody>
      </p:sp>
      <p:sp>
        <p:nvSpPr>
          <p:cNvPr id="9" name="Rounded Rectangle 8"/>
          <p:cNvSpPr/>
          <p:nvPr/>
        </p:nvSpPr>
        <p:spPr>
          <a:xfrm>
            <a:off x="626364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691640"/>
            <a:ext cx="544068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Execution flow</a:t>
            </a:r>
          </a:p>
        </p:txBody>
      </p:sp>
      <p:sp>
        <p:nvSpPr>
          <p:cNvPr id="12" name="TextBox 11"/>
          <p:cNvSpPr txBox="1"/>
          <p:nvPr/>
        </p:nvSpPr>
        <p:spPr>
          <a:xfrm>
            <a:off x="6492240" y="2331720"/>
            <a:ext cx="5029200" cy="3749039"/>
          </a:xfrm>
          <a:prstGeom prst="rect">
            <a:avLst/>
          </a:prstGeom>
          <a:noFill/>
        </p:spPr>
        <p:txBody>
          <a:bodyPr wrap="square" tIns="54864" bIns="54864">
            <a:spAutoFit/>
          </a:bodyPr>
          <a:lstStyle/>
          <a:p>
            <a:pPr>
              <a:lnSpc>
                <a:spcPct val="115000"/>
              </a:lnSpc>
              <a:spcAft>
                <a:spcPts val="700"/>
              </a:spcAft>
              <a:defRPr sz="1200">
                <a:solidFill>
                  <a:srgbClr val="1B1B2C"/>
                </a:solidFill>
                <a:latin typeface="Segoe UI"/>
              </a:defRPr>
            </a:pPr>
            <a:r>
              <a:t>•  Meetings (this week) -&gt; Identify active projects + stakeholders</a:t>
            </a:r>
          </a:p>
          <a:p>
            <a:pPr>
              <a:lnSpc>
                <a:spcPct val="115000"/>
              </a:lnSpc>
              <a:spcAft>
                <a:spcPts val="700"/>
              </a:spcAft>
              <a:defRPr sz="1200">
                <a:solidFill>
                  <a:srgbClr val="1B1B2C"/>
                </a:solidFill>
                <a:latin typeface="Segoe UI"/>
              </a:defRPr>
            </a:pPr>
            <a:r>
              <a:t>•  Email threads -&gt; Extract open requests + dependencies</a:t>
            </a:r>
          </a:p>
          <a:p>
            <a:pPr>
              <a:lnSpc>
                <a:spcPct val="115000"/>
              </a:lnSpc>
              <a:spcAft>
                <a:spcPts val="700"/>
              </a:spcAft>
              <a:defRPr sz="1200">
                <a:solidFill>
                  <a:srgbClr val="1B1B2C"/>
                </a:solidFill>
                <a:latin typeface="Segoe UI"/>
              </a:defRPr>
            </a:pPr>
            <a:r>
              <a:t>•  Teams chats -&gt; Capture in-flight tasks</a:t>
            </a:r>
          </a:p>
          <a:p>
            <a:pPr>
              <a:lnSpc>
                <a:spcPct val="115000"/>
              </a:lnSpc>
              <a:spcAft>
                <a:spcPts val="700"/>
              </a:spcAft>
              <a:defRPr sz="1200">
                <a:solidFill>
                  <a:srgbClr val="1B1B2C"/>
                </a:solidFill>
                <a:latin typeface="Segoe UI"/>
              </a:defRPr>
            </a:pPr>
            <a:r>
              <a:t>•  Calendar (next week) -&gt; Detect upcoming deadlines</a:t>
            </a:r>
          </a:p>
          <a:p>
            <a:pPr>
              <a:lnSpc>
                <a:spcPct val="115000"/>
              </a:lnSpc>
              <a:spcAft>
                <a:spcPts val="700"/>
              </a:spcAft>
              <a:defRPr sz="1200">
                <a:solidFill>
                  <a:srgbClr val="1B1B2C"/>
                </a:solidFill>
                <a:latin typeface="Segoe UI"/>
              </a:defRPr>
            </a:pPr>
            <a:r>
              <a:t>•  Org directory -&gt; Match internal team coverage</a:t>
            </a:r>
          </a:p>
          <a:p>
            <a:pPr>
              <a:lnSpc>
                <a:spcPct val="115000"/>
              </a:lnSpc>
              <a:spcAft>
                <a:spcPts val="700"/>
              </a:spcAft>
              <a:defRPr sz="1200">
                <a:solidFill>
                  <a:srgbClr val="1B1B2C"/>
                </a:solidFill>
                <a:latin typeface="Segoe UI"/>
              </a:defRPr>
            </a:pPr>
            <a:r>
              <a:t>•  Files -&gt; Link supporting documents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Analyze and optimize your OneDrive at scale</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COWORK HEAVY TASK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1097280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1097280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645920" cy="502920"/>
          </a:xfrm>
          <a:prstGeom prst="rect">
            <a:avLst/>
          </a:prstGeom>
          <a:noFill/>
        </p:spPr>
        <p:txBody>
          <a:bodyPr wrap="square" lIns="45720" rIns="45720" tIns="27432" bIns="27432">
            <a:spAutoFit/>
          </a:bodyPr>
          <a:lstStyle/>
          <a:p>
            <a:r>
              <a:rPr sz="2400" b="1">
                <a:solidFill>
                  <a:srgbClr val="C73E78"/>
                </a:solidFill>
                <a:latin typeface="Segoe UI"/>
              </a:rPr>
              <a:t>Heavy</a:t>
            </a:r>
          </a:p>
        </p:txBody>
      </p:sp>
      <p:sp>
        <p:nvSpPr>
          <p:cNvPr id="8" name="TextBox 7"/>
          <p:cNvSpPr txBox="1"/>
          <p:nvPr/>
        </p:nvSpPr>
        <p:spPr>
          <a:xfrm>
            <a:off x="2697480" y="2011680"/>
            <a:ext cx="8595360" cy="1005840"/>
          </a:xfrm>
          <a:prstGeom prst="rect">
            <a:avLst/>
          </a:prstGeom>
          <a:noFill/>
        </p:spPr>
        <p:txBody>
          <a:bodyPr wrap="square" lIns="45720" rIns="45720" tIns="27432" bIns="27432">
            <a:spAutoFit/>
          </a:bodyPr>
          <a:lstStyle/>
          <a:p>
            <a:r>
              <a:rPr sz="1500" b="0">
                <a:solidFill>
                  <a:srgbClr val="5A6078"/>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3383280"/>
            <a:ext cx="1554480" cy="365760"/>
          </a:xfrm>
          <a:prstGeom prst="rect">
            <a:avLst/>
          </a:prstGeom>
          <a:noFill/>
        </p:spPr>
        <p:txBody>
          <a:bodyPr wrap="square" lIns="45720" rIns="45720" tIns="27432" bIns="27432">
            <a:spAutoFit/>
          </a:bodyPr>
          <a:lstStyle/>
          <a:p>
            <a:r>
              <a:rPr sz="1600" b="1">
                <a:solidFill>
                  <a:srgbClr val="1B1B2C"/>
                </a:solidFill>
                <a:latin typeface="Segoe UI"/>
              </a:rPr>
              <a:t>Goal</a:t>
            </a:r>
          </a:p>
        </p:txBody>
      </p:sp>
      <p:sp>
        <p:nvSpPr>
          <p:cNvPr id="10" name="TextBox 9"/>
          <p:cNvSpPr txBox="1"/>
          <p:nvPr/>
        </p:nvSpPr>
        <p:spPr>
          <a:xfrm>
            <a:off x="2697480" y="3383280"/>
            <a:ext cx="8595360" cy="1097280"/>
          </a:xfrm>
          <a:prstGeom prst="rect">
            <a:avLst/>
          </a:prstGeom>
          <a:noFill/>
        </p:spPr>
        <p:txBody>
          <a:bodyPr wrap="square" lIns="45720" rIns="45720" tIns="27432" bIns="27432">
            <a:spAutoFit/>
          </a:bodyPr>
          <a:lstStyle/>
          <a:p>
            <a:r>
              <a:rPr sz="1400" b="0">
                <a:solidFill>
                  <a:srgbClr val="1B1B2C"/>
                </a:solidFill>
                <a:latin typeface="Segoe UI"/>
              </a:rPr>
              <a:t>Turn a sprawling OneDrive into a structured catalog you can actually act on.</a:t>
            </a:r>
          </a:p>
        </p:txBody>
      </p:sp>
      <p:sp>
        <p:nvSpPr>
          <p:cNvPr id="11" name="TextBox 10"/>
          <p:cNvSpPr txBox="1"/>
          <p:nvPr/>
        </p:nvSpPr>
        <p:spPr>
          <a:xfrm>
            <a:off x="914400" y="4709160"/>
            <a:ext cx="1691640" cy="365760"/>
          </a:xfrm>
          <a:prstGeom prst="rect">
            <a:avLst/>
          </a:prstGeom>
          <a:noFill/>
        </p:spPr>
        <p:txBody>
          <a:bodyPr wrap="square" lIns="45720" rIns="45720" tIns="27432" bIns="27432">
            <a:spAutoFit/>
          </a:bodyPr>
          <a:lstStyle/>
          <a:p>
            <a:r>
              <a:rPr sz="1600" b="1">
                <a:solidFill>
                  <a:srgbClr val="1B1B2C"/>
                </a:solidFill>
                <a:latin typeface="Segoe UI"/>
              </a:rPr>
              <a:t>Outcome</a:t>
            </a:r>
          </a:p>
        </p:txBody>
      </p:sp>
      <p:sp>
        <p:nvSpPr>
          <p:cNvPr id="12" name="TextBox 11"/>
          <p:cNvSpPr txBox="1"/>
          <p:nvPr/>
        </p:nvSpPr>
        <p:spPr>
          <a:xfrm>
            <a:off x="2697480" y="4709160"/>
            <a:ext cx="8595360" cy="1280160"/>
          </a:xfrm>
          <a:prstGeom prst="rect">
            <a:avLst/>
          </a:prstGeom>
          <a:noFill/>
        </p:spPr>
        <p:txBody>
          <a:bodyPr wrap="square" lIns="45720" rIns="45720" tIns="27432" bIns="27432">
            <a:spAutoFit/>
          </a:bodyPr>
          <a:lstStyle/>
          <a:p>
            <a:r>
              <a:rPr sz="1400" b="0">
                <a:solidFill>
                  <a:srgbClr val="1B1B2C"/>
                </a:solidFill>
                <a:latin typeface="Segoe UI"/>
              </a:rPr>
              <a:t>An organization plan and visual overview of your files, with cleanup decisions queued up for your approval.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Goal, outcome, prompt, flow</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ANALYZE AND OPTIMIZE YOUR ONEDRIVE AT SCALE</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544068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Prompt to give Cowork</a:t>
            </a:r>
          </a:p>
        </p:txBody>
      </p:sp>
      <p:sp>
        <p:nvSpPr>
          <p:cNvPr id="8" name="TextBox 7"/>
          <p:cNvSpPr txBox="1"/>
          <p:nvPr/>
        </p:nvSpPr>
        <p:spPr>
          <a:xfrm>
            <a:off x="868680" y="2331720"/>
            <a:ext cx="5029200" cy="3794760"/>
          </a:xfrm>
          <a:prstGeom prst="rect">
            <a:avLst/>
          </a:prstGeom>
          <a:noFill/>
        </p:spPr>
        <p:txBody>
          <a:bodyPr wrap="square" lIns="45720" rIns="45720" tIns="27432" bIns="27432">
            <a:spAutoFit/>
          </a:bodyPr>
          <a:lstStyle/>
          <a:p>
            <a:r>
              <a:rPr sz="1100" b="0">
                <a:solidFill>
                  <a:srgbClr val="5A6078"/>
                </a:solidFill>
                <a:latin typeface="Segoe UI"/>
              </a:rPr>
              <a:t>Analyze my OneDrive. Catalog and categorize all of the files. Create a dynamic HTML presentation showing the disposition of the files, age, relevancy, customer, product etc. The presentation should be no more than five scrolling screens with an executive overview with animated interactivity. The sixth screen should be recommendations. Create a plan to optimize my files and reorganize them. The plan should include folders and files to delete which you will rename by prepending the original name with "Delete_" and place them all into a Delete folder. Present me with your plan before you act on it.</a:t>
            </a:r>
          </a:p>
        </p:txBody>
      </p:sp>
      <p:sp>
        <p:nvSpPr>
          <p:cNvPr id="9" name="Rounded Rectangle 8"/>
          <p:cNvSpPr/>
          <p:nvPr/>
        </p:nvSpPr>
        <p:spPr>
          <a:xfrm>
            <a:off x="6263640" y="1691640"/>
            <a:ext cx="5440680" cy="452628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691640"/>
            <a:ext cx="5440680" cy="82296"/>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20240"/>
            <a:ext cx="5029200" cy="365760"/>
          </a:xfrm>
          <a:prstGeom prst="rect">
            <a:avLst/>
          </a:prstGeom>
          <a:noFill/>
        </p:spPr>
        <p:txBody>
          <a:bodyPr wrap="square" lIns="45720" rIns="45720" tIns="27432" bIns="27432">
            <a:spAutoFit/>
          </a:bodyPr>
          <a:lstStyle/>
          <a:p>
            <a:r>
              <a:rPr sz="1500" b="1">
                <a:solidFill>
                  <a:srgbClr val="1B1B2C"/>
                </a:solidFill>
                <a:latin typeface="Segoe UI"/>
              </a:rPr>
              <a:t>Execution flow</a:t>
            </a:r>
          </a:p>
        </p:txBody>
      </p:sp>
      <p:sp>
        <p:nvSpPr>
          <p:cNvPr id="12" name="TextBox 11"/>
          <p:cNvSpPr txBox="1"/>
          <p:nvPr/>
        </p:nvSpPr>
        <p:spPr>
          <a:xfrm>
            <a:off x="6492240" y="2331720"/>
            <a:ext cx="5029200" cy="3749039"/>
          </a:xfrm>
          <a:prstGeom prst="rect">
            <a:avLst/>
          </a:prstGeom>
          <a:noFill/>
        </p:spPr>
        <p:txBody>
          <a:bodyPr wrap="square" tIns="54864" bIns="54864">
            <a:spAutoFit/>
          </a:bodyPr>
          <a:lstStyle/>
          <a:p>
            <a:pPr>
              <a:lnSpc>
                <a:spcPct val="115000"/>
              </a:lnSpc>
              <a:spcAft>
                <a:spcPts val="700"/>
              </a:spcAft>
              <a:defRPr sz="1200">
                <a:solidFill>
                  <a:srgbClr val="1B1B2C"/>
                </a:solidFill>
                <a:latin typeface="Segoe UI"/>
              </a:defRPr>
            </a:pPr>
            <a:r>
              <a:t>•  OneDrive -&gt; Scan file inventory</a:t>
            </a:r>
          </a:p>
          <a:p>
            <a:pPr>
              <a:lnSpc>
                <a:spcPct val="115000"/>
              </a:lnSpc>
              <a:spcAft>
                <a:spcPts val="700"/>
              </a:spcAft>
              <a:defRPr sz="1200">
                <a:solidFill>
                  <a:srgbClr val="1B1B2C"/>
                </a:solidFill>
                <a:latin typeface="Segoe UI"/>
              </a:defRPr>
            </a:pPr>
            <a:r>
              <a:t>•  Catalog -&gt; Age + relevance</a:t>
            </a:r>
          </a:p>
          <a:p>
            <a:pPr>
              <a:lnSpc>
                <a:spcPct val="115000"/>
              </a:lnSpc>
              <a:spcAft>
                <a:spcPts val="700"/>
              </a:spcAft>
              <a:defRPr sz="1200">
                <a:solidFill>
                  <a:srgbClr val="1B1B2C"/>
                </a:solidFill>
                <a:latin typeface="Segoe UI"/>
              </a:defRPr>
            </a:pPr>
            <a:r>
              <a:t>•  Categorize -&gt; Customer / product</a:t>
            </a:r>
          </a:p>
          <a:p>
            <a:pPr>
              <a:lnSpc>
                <a:spcPct val="115000"/>
              </a:lnSpc>
              <a:spcAft>
                <a:spcPts val="700"/>
              </a:spcAft>
              <a:defRPr sz="1200">
                <a:solidFill>
                  <a:srgbClr val="1B1B2C"/>
                </a:solidFill>
                <a:latin typeface="Segoe UI"/>
              </a:defRPr>
            </a:pPr>
            <a:r>
              <a:t>•  Visualize -&gt; HTML dashboard</a:t>
            </a:r>
          </a:p>
          <a:p>
            <a:pPr>
              <a:lnSpc>
                <a:spcPct val="115000"/>
              </a:lnSpc>
              <a:spcAft>
                <a:spcPts val="700"/>
              </a:spcAft>
              <a:defRPr sz="1200">
                <a:solidFill>
                  <a:srgbClr val="1B1B2C"/>
                </a:solidFill>
                <a:latin typeface="Segoe UI"/>
              </a:defRPr>
            </a:pPr>
            <a:r>
              <a:t>•  Recommend -&gt; Optimization plan</a:t>
            </a:r>
          </a:p>
          <a:p>
            <a:pPr>
              <a:lnSpc>
                <a:spcPct val="115000"/>
              </a:lnSpc>
              <a:spcAft>
                <a:spcPts val="700"/>
              </a:spcAft>
              <a:defRPr sz="1200">
                <a:solidFill>
                  <a:srgbClr val="1B1B2C"/>
                </a:solidFill>
                <a:latin typeface="Segoe UI"/>
              </a:defRPr>
            </a:pPr>
            <a:r>
              <a:t>•  Rename -&gt; "Delete_" files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Add-on tip: schedule Cowork prompts</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COPILOT COWORK</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88720" y="2194560"/>
            <a:ext cx="9784080" cy="3108960"/>
          </a:xfrm>
          <a:prstGeom prst="roundRect">
            <a:avLst/>
          </a:prstGeom>
          <a:solidFill>
            <a:srgbClr val="FFFFFF"/>
          </a:solidFill>
          <a:ln w="9525">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88720" y="2194560"/>
            <a:ext cx="9784080" cy="82296"/>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2606040"/>
            <a:ext cx="1463040" cy="548640"/>
          </a:xfrm>
          <a:prstGeom prst="rect">
            <a:avLst/>
          </a:prstGeom>
          <a:noFill/>
        </p:spPr>
        <p:txBody>
          <a:bodyPr wrap="square" lIns="45720" rIns="45720" tIns="27432" bIns="27432">
            <a:spAutoFit/>
          </a:bodyPr>
          <a:lstStyle/>
          <a:p>
            <a:r>
              <a:rPr sz="2800" b="1">
                <a:solidFill>
                  <a:srgbClr val="3E8E22"/>
                </a:solidFill>
                <a:latin typeface="Segoe UI"/>
              </a:rPr>
              <a:t>Tip</a:t>
            </a:r>
          </a:p>
        </p:txBody>
      </p:sp>
      <p:sp>
        <p:nvSpPr>
          <p:cNvPr id="8" name="TextBox 7"/>
          <p:cNvSpPr txBox="1"/>
          <p:nvPr/>
        </p:nvSpPr>
        <p:spPr>
          <a:xfrm>
            <a:off x="1554480" y="3337560"/>
            <a:ext cx="9052560" cy="1737360"/>
          </a:xfrm>
          <a:prstGeom prst="rect">
            <a:avLst/>
          </a:prstGeom>
          <a:noFill/>
        </p:spPr>
        <p:txBody>
          <a:bodyPr wrap="square" lIns="45720" rIns="45720" tIns="27432" bIns="27432">
            <a:spAutoFit/>
          </a:bodyPr>
          <a:lstStyle/>
          <a:p>
            <a:r>
              <a:rPr sz="1900" b="0">
                <a:solidFill>
                  <a:srgbClr val="1B1B2C"/>
                </a:solidFill>
                <a:latin typeface="Segoe UI"/>
              </a:rPr>
              <a:t>Any of these Cowork tasks can be scheduled to run automatically. In Microsoft 365 Copilot, hover a saved prompt and pick "Schedule this prompt", then choose a daily or weekly cadence (requires a Microsoft 365 Copilot licence).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itle 1"/>
          <p:cNvSpPr>
            <a:spLocks noGrp="1"/>
          </p:cNvSpPr>
          <p:nvPr>
            <p:ph type="title"/>
          </p:nvPr>
        </p:nvSpPr>
        <p:spPr>
          <a:xfrm>
            <a:off x="640080" y="502920"/>
            <a:ext cx="10972800" cy="822960"/>
          </a:xfrm>
        </p:spPr>
        <p:txBody>
          <a:bodyPr wrap="square" lIns="27432" rIns="27432" tIns="0" bIns="0"/>
          <a:lstStyle/>
          <a:p>
            <a:pPr algn="l"/>
            <a:r>
              <a:rPr sz="2800" b="1">
                <a:solidFill>
                  <a:srgbClr val="1B1B2C"/>
                </a:solidFill>
                <a:latin typeface="Segoe UI"/>
              </a:rPr>
              <a:t>References</a:t>
            </a:r>
          </a:p>
        </p:txBody>
      </p:sp>
      <p:sp>
        <p:nvSpPr>
          <p:cNvPr id="3" name="TextBox 2"/>
          <p:cNvSpPr txBox="1"/>
          <p:nvPr/>
        </p:nvSpPr>
        <p:spPr>
          <a:xfrm>
            <a:off x="640080" y="256032"/>
            <a:ext cx="9144000" cy="256032"/>
          </a:xfrm>
          <a:prstGeom prst="rect">
            <a:avLst/>
          </a:prstGeom>
          <a:noFill/>
        </p:spPr>
        <p:txBody>
          <a:bodyPr wrap="square" lIns="45720" rIns="45720" tIns="27432" bIns="27432">
            <a:spAutoFit/>
          </a:bodyPr>
          <a:lstStyle/>
          <a:p>
            <a:r>
              <a:rPr sz="1100" b="1">
                <a:solidFill>
                  <a:srgbClr val="5A6078"/>
                </a:solidFill>
                <a:latin typeface="Segoe UI"/>
              </a:rPr>
              <a:t>MICROSOFT SOURCES</a:t>
            </a:r>
          </a:p>
        </p:txBody>
      </p:sp>
      <p:sp>
        <p:nvSpPr>
          <p:cNvPr id="4" name="Rectangle 3"/>
          <p:cNvSpPr/>
          <p:nvPr/>
        </p:nvSpPr>
        <p:spPr>
          <a:xfrm>
            <a:off x="640080" y="1371600"/>
            <a:ext cx="1463040" cy="54864"/>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91640"/>
            <a:ext cx="10515600" cy="4572000"/>
          </a:xfrm>
          <a:prstGeom prst="rect">
            <a:avLst/>
          </a:prstGeom>
          <a:noFill/>
        </p:spPr>
        <p:txBody>
          <a:bodyPr wrap="square" tIns="54864">
            <a:spAutoFit/>
          </a:bodyPr>
          <a:lstStyle/>
          <a:p>
            <a:pPr>
              <a:lnSpc>
                <a:spcPct val="120000"/>
              </a:lnSpc>
              <a:spcAft>
                <a:spcPts val="800"/>
              </a:spcAft>
            </a:pPr>
            <a:r>
              <a:rPr sz="1400">
                <a:solidFill>
                  <a:srgbClr val="1B1B2C"/>
                </a:solidFill>
                <a:latin typeface="Segoe UI"/>
              </a:rPr>
              <a:t>•  </a:t>
            </a:r>
            <a:r>
              <a:rPr sz="1400" u="sng">
                <a:solidFill>
                  <a:srgbClr val="1A6FD6"/>
                </a:solidFill>
                <a:latin typeface="Segoe UI"/>
                <a:hlinkClick r:id="rId2"/>
              </a:rPr>
              <a:t>LEARN Decide which Copilot is right for you</a:t>
            </a:r>
          </a:p>
          <a:p>
            <a:pPr>
              <a:lnSpc>
                <a:spcPct val="120000"/>
              </a:lnSpc>
              <a:spcAft>
                <a:spcPts val="800"/>
              </a:spcAft>
            </a:pPr>
            <a:r>
              <a:rPr sz="1400">
                <a:solidFill>
                  <a:srgbClr val="1B1B2C"/>
                </a:solidFill>
                <a:latin typeface="Segoe UI"/>
              </a:rPr>
              <a:t>•  </a:t>
            </a:r>
            <a:r>
              <a:rPr sz="1400" u="sng">
                <a:solidFill>
                  <a:srgbClr val="1A6FD6"/>
                </a:solidFill>
                <a:latin typeface="Segoe UI"/>
                <a:hlinkClick r:id="rId3"/>
              </a:rPr>
              <a:t>LEARN Copilot Cowork overview</a:t>
            </a:r>
          </a:p>
          <a:p>
            <a:pPr>
              <a:lnSpc>
                <a:spcPct val="120000"/>
              </a:lnSpc>
              <a:spcAft>
                <a:spcPts val="800"/>
              </a:spcAft>
            </a:pPr>
            <a:r>
              <a:rPr sz="1400">
                <a:solidFill>
                  <a:srgbClr val="1B1B2C"/>
                </a:solidFill>
                <a:latin typeface="Segoe UI"/>
              </a:rPr>
              <a:t>•  </a:t>
            </a:r>
            <a:r>
              <a:rPr sz="1400" u="sng">
                <a:solidFill>
                  <a:srgbClr val="1A6FD6"/>
                </a:solidFill>
                <a:latin typeface="Segoe UI"/>
                <a:hlinkClick r:id="rId4"/>
              </a:rPr>
              <a:t>LEARN Copilot Cowork common questions</a:t>
            </a:r>
          </a:p>
          <a:p>
            <a:pPr>
              <a:lnSpc>
                <a:spcPct val="120000"/>
              </a:lnSpc>
              <a:spcAft>
                <a:spcPts val="800"/>
              </a:spcAft>
            </a:pPr>
            <a:r>
              <a:rPr sz="1400">
                <a:solidFill>
                  <a:srgbClr val="1B1B2C"/>
                </a:solidFill>
                <a:latin typeface="Segoe UI"/>
              </a:rPr>
              <a:t>•  </a:t>
            </a:r>
            <a:r>
              <a:rPr sz="1400" u="sng">
                <a:solidFill>
                  <a:srgbClr val="1A6FD6"/>
                </a:solidFill>
                <a:latin typeface="Segoe UI"/>
                <a:hlinkClick r:id="rId5"/>
              </a:rPr>
              <a:t>LEARN Researcher agent in Microsoft 365 Copilot</a:t>
            </a:r>
          </a:p>
          <a:p>
            <a:pPr>
              <a:lnSpc>
                <a:spcPct val="120000"/>
              </a:lnSpc>
              <a:spcAft>
                <a:spcPts val="800"/>
              </a:spcAft>
            </a:pPr>
            <a:r>
              <a:rPr sz="1400">
                <a:solidFill>
                  <a:srgbClr val="1B1B2C"/>
                </a:solidFill>
                <a:latin typeface="Segoe UI"/>
              </a:rPr>
              <a:t>•  </a:t>
            </a:r>
            <a:r>
              <a:rPr sz="1400" u="sng">
                <a:solidFill>
                  <a:srgbClr val="1A6FD6"/>
                </a:solidFill>
                <a:latin typeface="Segoe UI"/>
                <a:hlinkClick r:id="rId6"/>
              </a:rPr>
              <a:t>LEARN Agents for Microsoft 365 Copilot Chat</a:t>
            </a:r>
          </a:p>
          <a:p>
            <a:pPr>
              <a:lnSpc>
                <a:spcPct val="120000"/>
              </a:lnSpc>
              <a:spcAft>
                <a:spcPts val="800"/>
              </a:spcAft>
            </a:pPr>
            <a:r>
              <a:rPr sz="1400">
                <a:solidFill>
                  <a:srgbClr val="1B1B2C"/>
                </a:solidFill>
                <a:latin typeface="Segoe UI"/>
              </a:rPr>
              <a:t>•  </a:t>
            </a:r>
            <a:r>
              <a:rPr sz="1400" u="sng">
                <a:solidFill>
                  <a:srgbClr val="1A6FD6"/>
                </a:solidFill>
                <a:latin typeface="Segoe UI"/>
                <a:hlinkClick r:id="rId7"/>
              </a:rPr>
              <a:t>SUPPORT Schedule your most used Copilot prompts</a:t>
            </a:r>
          </a:p>
          <a:p>
            <a:pPr>
              <a:lnSpc>
                <a:spcPct val="120000"/>
              </a:lnSpc>
              <a:spcAft>
                <a:spcPts val="800"/>
              </a:spcAft>
            </a:pPr>
            <a:r>
              <a:rPr sz="1400">
                <a:solidFill>
                  <a:srgbClr val="1B1B2C"/>
                </a:solidFill>
                <a:latin typeface="Segoe UI"/>
              </a:rPr>
              <a:t>•  </a:t>
            </a:r>
            <a:r>
              <a:rPr sz="1400" u="sng">
                <a:solidFill>
                  <a:srgbClr val="1A6FD6"/>
                </a:solidFill>
                <a:latin typeface="Segoe UI"/>
                <a:hlinkClick r:id="rId8"/>
              </a:rPr>
              <a:t>ADOPT Cowork for the AI user (prompt structure)</a:t>
            </a:r>
          </a:p>
          <a:p>
            <a:pPr>
              <a:lnSpc>
                <a:spcPct val="120000"/>
              </a:lnSpc>
              <a:spcAft>
                <a:spcPts val="800"/>
              </a:spcAft>
            </a:pPr>
            <a:r>
              <a:rPr sz="1400">
                <a:solidFill>
                  <a:srgbClr val="1B1B2C"/>
                </a:solidFill>
                <a:latin typeface="Segoe UI"/>
              </a:rPr>
              <a:t>•  </a:t>
            </a:r>
            <a:r>
              <a:rPr sz="1400" u="sng">
                <a:solidFill>
                  <a:srgbClr val="1A6FD6"/>
                </a:solidFill>
                <a:latin typeface="Segoe UI"/>
                <a:hlinkClick r:id="rId9"/>
              </a:rPr>
              <a:t>ADOPT Microsoft 365 Copilot Adoption 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