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learn.microsoft.com/en-us/microsoft-365/copilot/which-copilot-for-your-organization" TargetMode="External"/><Relationship Id="rId3" Type="http://schemas.openxmlformats.org/officeDocument/2006/relationships/hyperlink" Target="https://learn.microsoft.com/en-us/microsoft-365/copilot/cowork/" TargetMode="External"/><Relationship Id="rId4" Type="http://schemas.openxmlformats.org/officeDocument/2006/relationships/hyperlink" Target="https://learn.microsoft.com/en-us/microsoft-365/copilot/cowork/cowork-faq" TargetMode="External"/><Relationship Id="rId5" Type="http://schemas.openxmlformats.org/officeDocument/2006/relationships/hyperlink" Target="https://learn.microsoft.com/en-us/microsoft-365/copilot/researcher-agent" TargetMode="External"/><Relationship Id="rId6" Type="http://schemas.openxmlformats.org/officeDocument/2006/relationships/hyperlink" Target="https://learn.microsoft.com/en-us/copilot/agents" TargetMode="External"/><Relationship Id="rId7" Type="http://schemas.openxmlformats.org/officeDocument/2006/relationships/hyperlink" Target="https://support.microsoft.com/en-us/microsoft-365-copilot/schedule-your-most-used-copilot-prompts" TargetMode="External"/><Relationship Id="rId8" Type="http://schemas.openxmlformats.org/officeDocument/2006/relationships/hyperlink" Target="https://adoption.microsoft.com/en-us/copilot/cowork/ai-user/" TargetMode="External"/><Relationship Id="rId9" Type="http://schemas.openxmlformats.org/officeDocument/2006/relationships/hyperlink" Target="https://adoption.microsoft.com/"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ctrTitle"/>
          </p:nvPr>
        </p:nvSpPr>
        <p:spPr>
          <a:xfrm>
            <a:off x="640080" y="868680"/>
            <a:ext cx="6995160" cy="1234440"/>
          </a:xfrm>
        </p:spPr>
        <p:txBody>
          <a:bodyPr/>
          <a:lstStyle/>
          <a:p>
            <a:r>
              <a:rPr sz="2600" b="1">
                <a:solidFill>
                  <a:srgbClr val="1B1B2C"/>
                </a:solidFill>
                <a:latin typeface="Segoe UI"/>
              </a:rPr>
              <a:t>Microsoft 365 Copilot &amp; Cowork: what to use when</a:t>
            </a:r>
          </a:p>
        </p:txBody>
      </p:sp>
      <p:sp>
        <p:nvSpPr>
          <p:cNvPr id="3" name="Subtitle 2"/>
          <p:cNvSpPr>
            <a:spLocks noGrp="1"/>
          </p:cNvSpPr>
          <p:nvPr>
            <p:ph type="subTitle" idx="1"/>
          </p:nvPr>
        </p:nvSpPr>
        <p:spPr>
          <a:xfrm>
            <a:off x="658368" y="2212848"/>
            <a:ext cx="7726679" cy="1005840"/>
          </a:xfrm>
        </p:spPr>
        <p:txBody>
          <a:bodyPr/>
          <a:lstStyle/>
          <a:p>
            <a:r>
              <a:rPr sz="1400">
                <a:solidFill>
                  <a:srgbClr val="5A6078"/>
                </a:solidFill>
                <a:latin typeface="Segoe UI"/>
              </a:rPr>
              <a:t>Microsoft 365 Copilot is your everyday AI assistant. Copilot Cowork is the AI coworker that does the work for you. This guide helps you pick the right one for each task. Every claim is grounded in Microsoft Learn or microsoft.com, with links at the bottom.</a:t>
            </a:r>
          </a:p>
        </p:txBody>
      </p:sp>
      <p:sp>
        <p:nvSpPr>
          <p:cNvPr id="4" name="Oval 3"/>
          <p:cNvSpPr/>
          <p:nvPr/>
        </p:nvSpPr>
        <p:spPr>
          <a:xfrm>
            <a:off x="7680960" y="-365760"/>
            <a:ext cx="2011680" cy="2011680"/>
          </a:xfrm>
          <a:prstGeom prst="ellipse">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1A6FD6"/>
                </a:solidFill>
                <a:latin typeface="Segoe UI"/>
              </a:rPr>
              <a:t>Warm customer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At a glance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01</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Pick by how the work shows up: a question to answer, or a job to get done end-to-end.</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Microsoft 365 Copilot</a:t>
            </a:r>
          </a:p>
          <a:p>
            <a:pPr>
              <a:spcAft>
                <a:spcPts val="500"/>
              </a:spcAft>
              <a:defRPr sz="1300">
                <a:solidFill>
                  <a:srgbClr val="1B1B2C"/>
                </a:solidFill>
                <a:latin typeface="Segoe UI"/>
              </a:defRPr>
            </a:pPr>
            <a:r>
              <a:t>• Copilot Cowork</a:t>
            </a:r>
          </a:p>
          <a:p>
            <a:pPr>
              <a:spcAft>
                <a:spcPts val="500"/>
              </a:spcAft>
              <a:defRPr sz="1300">
                <a:solidFill>
                  <a:srgbClr val="1B1B2C"/>
                </a:solidFill>
                <a:latin typeface="Segoe UI"/>
              </a:defRPr>
            </a:pPr>
            <a:r>
              <a:t>• Pick by how the work shows up: a question to answer, or a job to get done end-to-end.</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Pick by the job to be done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02</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One recommendation per task, with a note when something else also works.</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Quick question, brainstorm, or short reply</a:t>
            </a:r>
          </a:p>
          <a:p>
            <a:pPr>
              <a:spcAft>
                <a:spcPts val="500"/>
              </a:spcAft>
              <a:defRPr sz="1300">
                <a:solidFill>
                  <a:srgbClr val="1B1B2C"/>
                </a:solidFill>
                <a:latin typeface="Segoe UI"/>
              </a:defRPr>
            </a:pPr>
            <a:r>
              <a:t>• Draft or reply in Outlook, summarise a Teams meeting, edit a document</a:t>
            </a:r>
          </a:p>
          <a:p>
            <a:pPr>
              <a:spcAft>
                <a:spcPts val="500"/>
              </a:spcAft>
              <a:defRPr sz="1300">
                <a:solidFill>
                  <a:srgbClr val="1B1B2C"/>
                </a:solidFill>
                <a:latin typeface="Segoe UI"/>
              </a:defRPr>
            </a:pPr>
            <a:r>
              <a:t>• Deep, multi-source research with citations</a:t>
            </a:r>
          </a:p>
          <a:p>
            <a:pPr>
              <a:spcAft>
                <a:spcPts val="500"/>
              </a:spcAft>
              <a:defRPr sz="1300">
                <a:solidFill>
                  <a:srgbClr val="1B1B2C"/>
                </a:solidFill>
                <a:latin typeface="Segoe UI"/>
              </a:defRPr>
            </a:pPr>
            <a:r>
              <a:t>• Take real action across M365 (send, schedule, create, post)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One prompt, multiple deliverables (brief, model, deck)</a:t>
            </a:r>
          </a:p>
          <a:p>
            <a:pPr>
              <a:spcAft>
                <a:spcPts val="500"/>
              </a:spcAft>
              <a:defRPr sz="1300">
                <a:solidFill>
                  <a:srgbClr val="1B1B2C"/>
                </a:solidFill>
                <a:latin typeface="Segoe UI"/>
              </a:defRPr>
            </a:pPr>
            <a:r>
              <a:t>• A small Q&amp;A bot for yourself or a small team</a:t>
            </a:r>
          </a:p>
          <a:p>
            <a:pPr>
              <a:spcAft>
                <a:spcPts val="500"/>
              </a:spcAft>
              <a:defRPr sz="1300">
                <a:solidFill>
                  <a:srgbClr val="1B1B2C"/>
                </a:solidFill>
                <a:latin typeface="Segoe UI"/>
              </a:defRPr>
            </a:pPr>
            <a:r>
              <a:t>• Run a prompt on a recurring schedule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Same app, different power</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03</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When the work involves an M365 app, you have more than one Copilot option. Some live inside the app, others act on its files and signals from their own surface. Pick by how much heavy lifting you need.</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How to ask Cowork well</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04</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vague prompt forces Cowork to guess. Five small parts make the difference.</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A vague prompt forces Cowork to guess. Five small parts make the difference.</a:t>
            </a:r>
          </a:p>
          <a:p>
            <a:pPr>
              <a:spcAft>
                <a:spcPts val="500"/>
              </a:spcAft>
              <a:defRPr sz="1300">
                <a:solidFill>
                  <a:srgbClr val="1B1B2C"/>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How these tools play together in real work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05</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picture of the right tool for typical jobs in each function.</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Monday pipeline review</a:t>
            </a:r>
          </a:p>
          <a:p>
            <a:pPr>
              <a:spcAft>
                <a:spcPts val="500"/>
              </a:spcAft>
              <a:defRPr sz="1300">
                <a:solidFill>
                  <a:srgbClr val="1B1B2C"/>
                </a:solidFill>
                <a:latin typeface="Segoe UI"/>
              </a:defRPr>
            </a:pPr>
            <a:r>
              <a:t>• Campaign launch pack</a:t>
            </a:r>
          </a:p>
          <a:p>
            <a:pPr>
              <a:spcAft>
                <a:spcPts val="500"/>
              </a:spcAft>
              <a:defRPr sz="1300">
                <a:solidFill>
                  <a:srgbClr val="1B1B2C"/>
                </a:solidFill>
                <a:latin typeface="Segoe UI"/>
              </a:defRPr>
            </a:pPr>
            <a:r>
              <a:t>• Month-end variance pack</a:t>
            </a:r>
          </a:p>
          <a:p>
            <a:pPr>
              <a:spcAft>
                <a:spcPts val="500"/>
              </a:spcAft>
              <a:defRPr sz="1300">
                <a:solidFill>
                  <a:srgbClr val="1B1B2C"/>
                </a:solidFill>
                <a:latin typeface="Segoe UI"/>
              </a:defRPr>
            </a:pPr>
            <a:r>
              <a:t>• Contract redline against your playbook</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RFP shortlist and evaluation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Check this order first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06</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Lean on what is already there before you reach for a bigger tool.</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Can a saved prompt do it?</a:t>
            </a:r>
          </a:p>
          <a:p>
            <a:pPr>
              <a:spcAft>
                <a:spcPts val="500"/>
              </a:spcAft>
              <a:defRPr sz="1300">
                <a:solidFill>
                  <a:srgbClr val="1B1B2C"/>
                </a:solidFill>
                <a:latin typeface="Segoe UI"/>
              </a:defRPr>
            </a:pPr>
            <a:r>
              <a:t>• Is there a ready Microsoft agent?</a:t>
            </a:r>
          </a:p>
          <a:p>
            <a:pPr>
              <a:spcAft>
                <a:spcPts val="500"/>
              </a:spcAft>
              <a:defRPr sz="1300">
                <a:solidFill>
                  <a:srgbClr val="1B1B2C"/>
                </a:solidFill>
                <a:latin typeface="Segoe UI"/>
              </a:defRPr>
            </a:pPr>
            <a:r>
              <a:t>• Does Cowork cover the full job?</a:t>
            </a:r>
          </a:p>
          <a:p>
            <a:pPr>
              <a:spcAft>
                <a:spcPts val="500"/>
              </a:spcAft>
              <a:defRPr sz="1300">
                <a:solidFill>
                  <a:srgbClr val="1B1B2C"/>
                </a:solidFill>
                <a:latin typeface="Segoe UI"/>
              </a:defRPr>
            </a:pPr>
            <a:r>
              <a:t>• Simplest: Can a saved prompt do it?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Reuse: Is there a ready Microsoft agent?</a:t>
            </a:r>
          </a:p>
          <a:p>
            <a:pPr>
              <a:spcAft>
                <a:spcPts val="500"/>
              </a:spcAft>
              <a:defRPr sz="1300">
                <a:solidFill>
                  <a:srgbClr val="1B1B2C"/>
                </a:solidFill>
                <a:latin typeface="Segoe UI"/>
              </a:defRPr>
            </a:pPr>
            <a:r>
              <a:t>• Scale on demand: Does Cowork cover the full job?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light, medium, heavy</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5A6078"/>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light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5A6078"/>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5A6078"/>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1B1B2C"/>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5A6078"/>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1B1B2C"/>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5A6078"/>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5A6078"/>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5A6078"/>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medium</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1B1B2C"/>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5A6078"/>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1B1B2C"/>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5A6078"/>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heavy</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1B1B2C"/>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5A6078"/>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1B1B2C"/>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5A6078"/>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1B1B2C"/>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1B1B2C"/>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5A6078"/>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1B1B2C"/>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5A6078"/>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1B1B2C"/>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5A6078"/>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1B1B2C"/>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1B1B2C"/>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5A6078"/>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1B1B2C"/>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5A6078"/>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Rebalance your week and protect focus time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LIGHT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Take control of a fragmented calendar before it takes control of your week.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REBALANCE YOUR WEEK AND PROTECT FOCUS TIME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Calendar -&gt; Summarize meeting load + focus time</a:t>
            </a:r>
          </a:p>
          <a:p>
            <a:pPr>
              <a:spcAft>
                <a:spcPts val="500"/>
              </a:spcAft>
              <a:defRPr sz="1000">
                <a:solidFill>
                  <a:srgbClr val="1B1B2C"/>
                </a:solidFill>
                <a:latin typeface="Segoe UI"/>
              </a:defRPr>
            </a:pPr>
            <a:r>
              <a:t>• Clarify -&gt; Weekly goals + constraints</a:t>
            </a:r>
          </a:p>
          <a:p>
            <a:pPr>
              <a:spcAft>
                <a:spcPts val="500"/>
              </a:spcAft>
              <a:defRPr sz="1000">
                <a:solidFill>
                  <a:srgbClr val="1B1B2C"/>
                </a:solidFill>
                <a:latin typeface="Segoe UI"/>
              </a:defRPr>
            </a:pPr>
            <a:r>
              <a:t>• Evaluate -&gt; Meeting impact + conflicts</a:t>
            </a:r>
          </a:p>
          <a:p>
            <a:pPr>
              <a:spcAft>
                <a:spcPts val="500"/>
              </a:spcAft>
              <a:defRPr sz="1000">
                <a:solidFill>
                  <a:srgbClr val="1B1B2C"/>
                </a:solidFill>
                <a:latin typeface="Segoe UI"/>
              </a:defRPr>
            </a:pPr>
            <a:r>
              <a:t>• Propose -&gt; Accept / decline / reschedule</a:t>
            </a:r>
          </a:p>
          <a:p>
            <a:pPr>
              <a:spcAft>
                <a:spcPts val="500"/>
              </a:spcAft>
              <a:defRPr sz="1000">
                <a:solidFill>
                  <a:srgbClr val="1B1B2C"/>
                </a:solidFill>
                <a:latin typeface="Segoe UI"/>
              </a:defRPr>
            </a:pPr>
            <a:r>
              <a:t>• Recommend -&gt; Add focus blocks</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1B1B2C"/>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5A6078"/>
                </a:solidFill>
                <a:latin typeface="Segoe UI"/>
              </a:rPr>
              <a:t>You can schedule this to run automatically by starting your prompt with "Create a skill where this occurs every Monday morning."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Wrap up projects and organize all related work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LIGHT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Close out a project with a clean, shareable archive, not a scattered trail of files.</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WRAP UP PROJECTS AND ORGANIZE ALL RELATED 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-&gt; Locate project files</a:t>
            </a:r>
          </a:p>
          <a:p>
            <a:pPr>
              <a:spcAft>
                <a:spcPts val="500"/>
              </a:spcAft>
              <a:defRPr sz="1000">
                <a:solidFill>
                  <a:srgbClr val="1B1B2C"/>
                </a:solidFill>
                <a:latin typeface="Segoe UI"/>
              </a:defRPr>
            </a:pPr>
            <a:r>
              <a:t>• Classify -&gt; Docs / decks / spreadsheets</a:t>
            </a:r>
          </a:p>
          <a:p>
            <a:pPr>
              <a:spcAft>
                <a:spcPts val="500"/>
              </a:spcAft>
              <a:defRPr sz="1000">
                <a:solidFill>
                  <a:srgbClr val="1B1B2C"/>
                </a:solidFill>
                <a:latin typeface="Segoe UI"/>
              </a:defRPr>
            </a:pPr>
            <a:r>
              <a:t>• Create -&gt; Archive folder</a:t>
            </a:r>
          </a:p>
          <a:p>
            <a:pPr>
              <a:spcAft>
                <a:spcPts val="500"/>
              </a:spcAft>
              <a:defRPr sz="1000">
                <a:solidFill>
                  <a:srgbClr val="1B1B2C"/>
                </a:solidFill>
                <a:latin typeface="Segoe UI"/>
              </a:defRPr>
            </a:pPr>
            <a:r>
              <a:t>• Move -&gt; Related artifacts</a:t>
            </a:r>
          </a:p>
          <a:p>
            <a:pPr>
              <a:spcAft>
                <a:spcPts val="500"/>
              </a:spcAft>
              <a:defRPr sz="1000">
                <a:solidFill>
                  <a:srgbClr val="1B1B2C"/>
                </a:solidFill>
                <a:latin typeface="Segoe UI"/>
              </a:defRPr>
            </a:pPr>
            <a:r>
              <a:t>• Share -&gt; Archive folder</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single OneDrive folder with the project's deliverables and references, shared with the team so the work stays findable and easy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Turn inbox noise into a curated intelligence brief</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MEDIUM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Cut through a week of newsletters to the stories that actually matter to your work.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TURN INBOX NOISE INTO A CURATED INTELLIGENCE BRIEF</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Inbox -&gt; Identify newsletters + digests</a:t>
            </a:r>
          </a:p>
          <a:p>
            <a:pPr>
              <a:spcAft>
                <a:spcPts val="500"/>
              </a:spcAft>
              <a:defRPr sz="1000">
                <a:solidFill>
                  <a:srgbClr val="1B1B2C"/>
                </a:solidFill>
                <a:latin typeface="Segoe UI"/>
              </a:defRPr>
            </a:pPr>
            <a:r>
              <a:t>• Categorize -&gt; Internal / AI / news / industry</a:t>
            </a:r>
          </a:p>
          <a:p>
            <a:pPr>
              <a:spcAft>
                <a:spcPts val="500"/>
              </a:spcAft>
              <a:defRPr sz="1000">
                <a:solidFill>
                  <a:srgbClr val="1B1B2C"/>
                </a:solidFill>
                <a:latin typeface="Segoe UI"/>
              </a:defRPr>
            </a:pPr>
            <a:r>
              <a:t>• Filter -&gt; Exclude consumer content</a:t>
            </a:r>
          </a:p>
          <a:p>
            <a:pPr>
              <a:spcAft>
                <a:spcPts val="500"/>
              </a:spcAft>
              <a:defRPr sz="1000">
                <a:solidFill>
                  <a:srgbClr val="1B1B2C"/>
                </a:solidFill>
                <a:latin typeface="Segoe UI"/>
              </a:defRPr>
            </a:pPr>
            <a:r>
              <a:t>• Synthesize -&gt; Narrative brief</a:t>
            </a:r>
          </a:p>
          <a:p>
            <a:pPr>
              <a:spcAft>
                <a:spcPts val="500"/>
              </a:spcAft>
              <a:defRPr sz="1000">
                <a:solidFill>
                  <a:srgbClr val="1B1B2C"/>
                </a:solidFill>
                <a:latin typeface="Segoe UI"/>
              </a:defRPr>
            </a:pPr>
            <a:r>
              <a:t>• Compile -&gt; Inline article</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1B1B2C"/>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5A6078"/>
                </a:solidFill>
                <a:latin typeface="Segoe UI"/>
              </a:rPr>
              <a:t>This task features a scheduled prompt, which tells Cowork you want it to run automatically on a recurring basis. To create a scheduled prompt, simply describe what...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Partner and channel activation kit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MEDIUM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Adapt the [Product/Campaign Name] launch materials for partners and channel teams and route them for review.</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PARTNER AND CHANNEL ACTIVATION KIT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[Folder] -&gt; Read the launch materials</a:t>
            </a:r>
          </a:p>
          <a:p>
            <a:pPr>
              <a:spcAft>
                <a:spcPts val="500"/>
              </a:spcAft>
              <a:defRPr sz="1000">
                <a:solidFill>
                  <a:srgbClr val="1B1B2C"/>
                </a:solidFill>
                <a:latin typeface="Segoe UI"/>
              </a:defRPr>
            </a:pPr>
            <a:r>
              <a:t>• Messaging Doc -&gt; Ground every adaptation in approved positioning</a:t>
            </a:r>
          </a:p>
          <a:p>
            <a:pPr>
              <a:spcAft>
                <a:spcPts val="500"/>
              </a:spcAft>
              <a:defRPr sz="1000">
                <a:solidFill>
                  <a:srgbClr val="1B1B2C"/>
                </a:solidFill>
                <a:latin typeface="Segoe UI"/>
              </a:defRPr>
            </a:pPr>
            <a:r>
              <a:t>• Adapt -&gt; One-pager · talking points · FAQ</a:t>
            </a:r>
          </a:p>
          <a:p>
            <a:pPr>
              <a:spcAft>
                <a:spcPts val="500"/>
              </a:spcAft>
              <a:defRPr sz="1000">
                <a:solidFill>
                  <a:srgbClr val="1B1B2C"/>
                </a:solidFill>
                <a:latin typeface="Segoe UI"/>
              </a:defRPr>
            </a:pPr>
            <a:r>
              <a:t>• Adapt -&gt; Email template · social pack</a:t>
            </a:r>
          </a:p>
          <a:p>
            <a:pPr>
              <a:spcAft>
                <a:spcPts val="500"/>
              </a:spcAft>
              <a:defRPr sz="1000">
                <a:solidFill>
                  <a:srgbClr val="1B1B2C"/>
                </a:solidFill>
                <a:latin typeface="Segoe UI"/>
              </a:defRPr>
            </a:pPr>
            <a:r>
              <a:t>• Org directory -&gt; Identify partner and channel owners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partner-ready and channel-ready activation kit across Word and Excel, plus a routing plan so partner, field, and channel marketing can...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Prepare a complete out-of-office handoff</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HEAVY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Step away from your laptop knowing nothing in flight will stall while you are out.</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PREPARE A COMPLETE OUT-OF-OFFICE HANDOFF</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Meetings (this week) -&gt; Identify active projects + stakeholders</a:t>
            </a:r>
          </a:p>
          <a:p>
            <a:pPr>
              <a:spcAft>
                <a:spcPts val="500"/>
              </a:spcAft>
              <a:defRPr sz="1000">
                <a:solidFill>
                  <a:srgbClr val="1B1B2C"/>
                </a:solidFill>
                <a:latin typeface="Segoe UI"/>
              </a:defRPr>
            </a:pPr>
            <a:r>
              <a:t>• Email threads -&gt; Extract open requests + dependencies</a:t>
            </a:r>
          </a:p>
          <a:p>
            <a:pPr>
              <a:spcAft>
                <a:spcPts val="500"/>
              </a:spcAft>
              <a:defRPr sz="1000">
                <a:solidFill>
                  <a:srgbClr val="1B1B2C"/>
                </a:solidFill>
                <a:latin typeface="Segoe UI"/>
              </a:defRPr>
            </a:pPr>
            <a:r>
              <a:t>• Teams chats -&gt; Capture in-flight tasks</a:t>
            </a:r>
          </a:p>
          <a:p>
            <a:pPr>
              <a:spcAft>
                <a:spcPts val="500"/>
              </a:spcAft>
              <a:defRPr sz="1000">
                <a:solidFill>
                  <a:srgbClr val="1B1B2C"/>
                </a:solidFill>
                <a:latin typeface="Segoe UI"/>
              </a:defRPr>
            </a:pPr>
            <a:r>
              <a:t>• Calendar (next week) -&gt; Detect upcoming deadlines</a:t>
            </a:r>
          </a:p>
          <a:p>
            <a:pPr>
              <a:spcAft>
                <a:spcPts val="500"/>
              </a:spcAft>
              <a:defRPr sz="1000">
                <a:solidFill>
                  <a:srgbClr val="1B1B2C"/>
                </a:solidFill>
                <a:latin typeface="Segoe UI"/>
              </a:defRPr>
            </a:pPr>
            <a:r>
              <a:t>• Org directory -&gt; Match internal team coverage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handover document built from your real work, projects, owners, deadlines, and supporting files, so coverage stays clear and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Analyze and optimize your OneDrive at scale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HEAVY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Turn a sprawling OneDrive into a structured catalog you can actually act on.</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ANALYZE AND OPTIMIZE YOUR ONEDRIVE AT SCALE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-&gt; Scan file inventory</a:t>
            </a:r>
          </a:p>
          <a:p>
            <a:pPr>
              <a:spcAft>
                <a:spcPts val="500"/>
              </a:spcAft>
              <a:defRPr sz="1000">
                <a:solidFill>
                  <a:srgbClr val="1B1B2C"/>
                </a:solidFill>
                <a:latin typeface="Segoe UI"/>
              </a:defRPr>
            </a:pPr>
            <a:r>
              <a:t>• Catalog -&gt; Age + relevance</a:t>
            </a:r>
          </a:p>
          <a:p>
            <a:pPr>
              <a:spcAft>
                <a:spcPts val="500"/>
              </a:spcAft>
              <a:defRPr sz="1000">
                <a:solidFill>
                  <a:srgbClr val="1B1B2C"/>
                </a:solidFill>
                <a:latin typeface="Segoe UI"/>
              </a:defRPr>
            </a:pPr>
            <a:r>
              <a:t>• Categorize -&gt; Customer / product</a:t>
            </a:r>
          </a:p>
          <a:p>
            <a:pPr>
              <a:spcAft>
                <a:spcPts val="500"/>
              </a:spcAft>
              <a:defRPr sz="1000">
                <a:solidFill>
                  <a:srgbClr val="1B1B2C"/>
                </a:solidFill>
                <a:latin typeface="Segoe UI"/>
              </a:defRPr>
            </a:pPr>
            <a:r>
              <a:t>• Visualize -&gt; HTML dashboard</a:t>
            </a:r>
          </a:p>
          <a:p>
            <a:pPr>
              <a:spcAft>
                <a:spcPts val="500"/>
              </a:spcAft>
              <a:defRPr sz="1000">
                <a:solidFill>
                  <a:srgbClr val="1B1B2C"/>
                </a:solidFill>
                <a:latin typeface="Segoe UI"/>
              </a:defRPr>
            </a:pPr>
            <a:r>
              <a:t>• Recommend -&gt; Optimization plan</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An organization plan and visual overview of your files, with cleanup decisions queued up for your approval.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Add-on tip: schedule Cowork prompts</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3E8E22"/>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1B1B2C"/>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References</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MICROSOFT SOURCES</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square" lIns="73152" rIns="73152" tIns="36576">
            <a:spAutoFit/>
          </a:bodyPr>
          <a:lstStyle/>
          <a:p>
            <a:pPr>
              <a:spcAft>
                <a:spcPts val="500"/>
              </a:spcAft>
            </a:pPr>
            <a:r>
              <a:rPr sz="1200">
                <a:solidFill>
                  <a:srgbClr val="1B1B2C"/>
                </a:solidFill>
                <a:latin typeface="Segoe UI"/>
              </a:rPr>
              <a:t>• </a:t>
            </a:r>
            <a:r>
              <a:rPr sz="1200" u="sng">
                <a:solidFill>
                  <a:srgbClr val="1A6FD6"/>
                </a:solidFill>
                <a:latin typeface="Segoe UI"/>
                <a:hlinkClick r:id="rId2"/>
              </a:rPr>
              <a:t>LEARN Decide which Copilot is right for you</a:t>
            </a:r>
          </a:p>
          <a:p>
            <a:pPr>
              <a:spcAft>
                <a:spcPts val="500"/>
              </a:spcAft>
            </a:pPr>
            <a:r>
              <a:rPr sz="1200">
                <a:solidFill>
                  <a:srgbClr val="1B1B2C"/>
                </a:solidFill>
                <a:latin typeface="Segoe UI"/>
              </a:rPr>
              <a:t>• </a:t>
            </a:r>
            <a:r>
              <a:rPr sz="1200" u="sng">
                <a:solidFill>
                  <a:srgbClr val="1A6FD6"/>
                </a:solidFill>
                <a:latin typeface="Segoe UI"/>
                <a:hlinkClick r:id="rId3"/>
              </a:rPr>
              <a:t>LEARN Copilot Cowork overview</a:t>
            </a:r>
          </a:p>
          <a:p>
            <a:pPr>
              <a:spcAft>
                <a:spcPts val="500"/>
              </a:spcAft>
            </a:pPr>
            <a:r>
              <a:rPr sz="1200">
                <a:solidFill>
                  <a:srgbClr val="1B1B2C"/>
                </a:solidFill>
                <a:latin typeface="Segoe UI"/>
              </a:rPr>
              <a:t>• </a:t>
            </a:r>
            <a:r>
              <a:rPr sz="1200" u="sng">
                <a:solidFill>
                  <a:srgbClr val="1A6FD6"/>
                </a:solidFill>
                <a:latin typeface="Segoe UI"/>
                <a:hlinkClick r:id="rId4"/>
              </a:rPr>
              <a:t>LEARN Copilot Cowork common questions</a:t>
            </a:r>
          </a:p>
          <a:p>
            <a:pPr>
              <a:spcAft>
                <a:spcPts val="500"/>
              </a:spcAft>
            </a:pPr>
            <a:r>
              <a:rPr sz="1200">
                <a:solidFill>
                  <a:srgbClr val="1B1B2C"/>
                </a:solidFill>
                <a:latin typeface="Segoe UI"/>
              </a:rPr>
              <a:t>• </a:t>
            </a:r>
            <a:r>
              <a:rPr sz="1200" u="sng">
                <a:solidFill>
                  <a:srgbClr val="1A6FD6"/>
                </a:solidFill>
                <a:latin typeface="Segoe UI"/>
                <a:hlinkClick r:id="rId5"/>
              </a:rPr>
              <a:t>LEARN Researcher agent in Microsoft 365 Copilot</a:t>
            </a:r>
          </a:p>
          <a:p>
            <a:pPr>
              <a:spcAft>
                <a:spcPts val="500"/>
              </a:spcAft>
            </a:pPr>
            <a:r>
              <a:rPr sz="1200">
                <a:solidFill>
                  <a:srgbClr val="1B1B2C"/>
                </a:solidFill>
                <a:latin typeface="Segoe UI"/>
              </a:rPr>
              <a:t>• </a:t>
            </a:r>
            <a:r>
              <a:rPr sz="1200" u="sng">
                <a:solidFill>
                  <a:srgbClr val="1A6FD6"/>
                </a:solidFill>
                <a:latin typeface="Segoe UI"/>
                <a:hlinkClick r:id="rId6"/>
              </a:rPr>
              <a:t>LEARN Agents for Microsoft 365 Copilot Chat</a:t>
            </a:r>
          </a:p>
          <a:p>
            <a:pPr>
              <a:spcAft>
                <a:spcPts val="500"/>
              </a:spcAft>
            </a:pPr>
            <a:r>
              <a:rPr sz="1200">
                <a:solidFill>
                  <a:srgbClr val="1B1B2C"/>
                </a:solidFill>
                <a:latin typeface="Segoe UI"/>
              </a:rPr>
              <a:t>• </a:t>
            </a:r>
            <a:r>
              <a:rPr sz="1200" u="sng">
                <a:solidFill>
                  <a:srgbClr val="1A6FD6"/>
                </a:solidFill>
                <a:latin typeface="Segoe UI"/>
                <a:hlinkClick r:id="rId7"/>
              </a:rPr>
              <a:t>SUPPORT Schedule your most used Copilot prompts</a:t>
            </a:r>
          </a:p>
          <a:p>
            <a:pPr>
              <a:spcAft>
                <a:spcPts val="500"/>
              </a:spcAft>
            </a:pPr>
            <a:r>
              <a:rPr sz="1200">
                <a:solidFill>
                  <a:srgbClr val="1B1B2C"/>
                </a:solidFill>
                <a:latin typeface="Segoe UI"/>
              </a:rPr>
              <a:t>• </a:t>
            </a:r>
            <a:r>
              <a:rPr sz="1200" u="sng">
                <a:solidFill>
                  <a:srgbClr val="1A6FD6"/>
                </a:solidFill>
                <a:latin typeface="Segoe UI"/>
                <a:hlinkClick r:id="rId8"/>
              </a:rPr>
              <a:t>ADOPT Cowork for the AI user (prompt structure)</a:t>
            </a:r>
          </a:p>
          <a:p>
            <a:pPr>
              <a:spcAft>
                <a:spcPts val="500"/>
              </a:spcAft>
            </a:pPr>
            <a:r>
              <a:rPr sz="1200">
                <a:solidFill>
                  <a:srgbClr val="1B1B2C"/>
                </a:solidFill>
                <a:latin typeface="Segoe UI"/>
              </a:rPr>
              <a:t>• </a:t>
            </a:r>
            <a:r>
              <a:rPr sz="1200" u="sng">
                <a:solidFill>
                  <a:srgbClr val="1A6FD6"/>
                </a:solidFill>
                <a:latin typeface="Segoe UI"/>
                <a:hlinkClick r:id="rId9"/>
              </a:rPr>
              <a:t>ADOPT Microsoft Copilot Adoption hub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