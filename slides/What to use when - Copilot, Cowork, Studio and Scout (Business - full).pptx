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learn.microsoft.com/en-us/microsoft-365/copilot/which-copilot-for-your-organization" TargetMode="External"/><Relationship Id="rId3" Type="http://schemas.openxmlformats.org/officeDocument/2006/relationships/hyperlink" Target="https://learn.microsoft.com/en-us/microsoft-365/copilot/cowork/" TargetMode="External"/><Relationship Id="rId4" Type="http://schemas.openxmlformats.org/officeDocument/2006/relationships/hyperlink" Target="https://learn.microsoft.com/en-us/microsoft-365/copilot/cowork/cowork-faq" TargetMode="External"/><Relationship Id="rId5" Type="http://schemas.openxmlformats.org/officeDocument/2006/relationships/hyperlink" Target="https://learn.microsoft.com/en-us/microsoft-copilot-studio/fundamentals-what-is-copilot-studio" TargetMode="External"/><Relationship Id="rId6" Type="http://schemas.openxmlformats.org/officeDocument/2006/relationships/hyperlink" Target="https://learn.microsoft.com/en-us/microsoft-365/copilot/extensibility/copilot-studio-experience" TargetMode="External"/><Relationship Id="rId7" Type="http://schemas.openxmlformats.org/officeDocument/2006/relationships/hyperlink" Target="https://learn.microsoft.com/en-us/microsoft-365/copilot/researcher-agent" TargetMode="External"/><Relationship Id="rId8" Type="http://schemas.openxmlformats.org/officeDocument/2006/relationships/hyperlink" Target="https://learn.microsoft.com/en-us/copilot/agents" TargetMode="External"/><Relationship Id="rId9" Type="http://schemas.openxmlformats.org/officeDocument/2006/relationships/hyperlink" Target="https://learn.microsoft.com/microsoft-scout"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ctrTitle"/>
          </p:nvPr>
        </p:nvSpPr>
        <p:spPr>
          <a:xfrm>
            <a:off x="640080" y="868680"/>
            <a:ext cx="6995160" cy="1234440"/>
          </a:xfrm>
        </p:spPr>
        <p:txBody>
          <a:bodyPr/>
          <a:lstStyle/>
          <a:p>
            <a:r>
              <a:rPr sz="2600" b="1">
                <a:solidFill>
                  <a:srgbClr val="1B1B2C"/>
                </a:solidFill>
                <a:latin typeface="Segoe UI"/>
              </a:rPr>
              <a:t>Copilot, Cowork, Studio &amp; Scout: what to use when</a:t>
            </a:r>
          </a:p>
        </p:txBody>
      </p:sp>
      <p:sp>
        <p:nvSpPr>
          <p:cNvPr id="3" name="Subtitle 2"/>
          <p:cNvSpPr>
            <a:spLocks noGrp="1"/>
          </p:cNvSpPr>
          <p:nvPr>
            <p:ph type="subTitle" idx="1"/>
          </p:nvPr>
        </p:nvSpPr>
        <p:spPr>
          <a:xfrm>
            <a:off x="658368" y="2212848"/>
            <a:ext cx="7726679" cy="1005840"/>
          </a:xfrm>
        </p:spPr>
        <p:txBody>
          <a:bodyPr/>
          <a:lstStyle/>
          <a:p>
            <a:r>
              <a:rPr sz="1400">
                <a:solidFill>
                  <a:srgbClr val="5A6078"/>
                </a:solidFill>
                <a:latin typeface="Segoe UI"/>
              </a:rPr>
              <a:t>Most tasks work in more than one tool. This is the simplest way to pick the right one and graduate as the work gets bigger. Every claim is grounded in Microsoft Learn or microsoft.com, with links at the bottom.</a:t>
            </a:r>
          </a:p>
        </p:txBody>
      </p:sp>
      <p:sp>
        <p:nvSpPr>
          <p:cNvPr id="4" name="Oval 3"/>
          <p:cNvSpPr/>
          <p:nvPr/>
        </p:nvSpPr>
        <p:spPr>
          <a:xfrm>
            <a:off x="7680960" y="-365760"/>
            <a:ext cx="2011680" cy="2011680"/>
          </a:xfrm>
          <a:prstGeom prst="ellipse">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4389120"/>
            <a:ext cx="4114800" cy="274320"/>
          </a:xfrm>
          <a:prstGeom prst="rect">
            <a:avLst/>
          </a:prstGeom>
          <a:noFill/>
        </p:spPr>
        <p:txBody>
          <a:bodyPr wrap="square" lIns="27432" rIns="27432" tIns="18288" bIns="18288">
            <a:spAutoFit/>
          </a:bodyPr>
          <a:lstStyle/>
          <a:p>
            <a:r>
              <a:rPr sz="1200" b="1">
                <a:solidFill>
                  <a:srgbClr val="1A6FD6"/>
                </a:solidFill>
                <a:latin typeface="Segoe UI"/>
              </a:rPr>
              <a:t>Warm customer guide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1B1B2C"/>
                </a:solidFill>
                <a:latin typeface="Segoe UI"/>
              </a:rPr>
              <a:t>At a glance</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5A6078"/>
                </a:solidFill>
                <a:latin typeface="Segoe UI"/>
              </a:rPr>
              <a:t>SECTION 01</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5A6078"/>
                </a:solidFill>
                <a:latin typeface="Segoe UI"/>
              </a:rPr>
              <a:t>Pick by how the work shows up: a question, a process, a repeated team task, or something that needs to run on its own.</a:t>
            </a:r>
          </a:p>
        </p:txBody>
      </p:sp>
      <p:sp>
        <p:nvSpPr>
          <p:cNvPr id="6" name="Rounded Rectangle 5"/>
          <p:cNvSpPr/>
          <p:nvPr/>
        </p:nvSpPr>
        <p:spPr>
          <a:xfrm>
            <a:off x="548640" y="1783080"/>
            <a:ext cx="3886200" cy="260604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1B1B2C"/>
                </a:solidFill>
                <a:latin typeface="Segoe UI"/>
              </a:defRPr>
            </a:pPr>
            <a:r>
              <a:t>• Microsoft 365 Copilot</a:t>
            </a:r>
          </a:p>
          <a:p>
            <a:pPr>
              <a:spcAft>
                <a:spcPts val="500"/>
              </a:spcAft>
              <a:defRPr sz="1300">
                <a:solidFill>
                  <a:srgbClr val="1B1B2C"/>
                </a:solidFill>
                <a:latin typeface="Segoe UI"/>
              </a:defRPr>
            </a:pPr>
            <a:r>
              <a:t>• Copilot Cowork</a:t>
            </a:r>
          </a:p>
          <a:p>
            <a:pPr>
              <a:spcAft>
                <a:spcPts val="500"/>
              </a:spcAft>
              <a:defRPr sz="1300">
                <a:solidFill>
                  <a:srgbClr val="1B1B2C"/>
                </a:solidFill>
                <a:latin typeface="Segoe UI"/>
              </a:defRPr>
            </a:pPr>
            <a:r>
              <a:t>• Copilot Studio</a:t>
            </a:r>
          </a:p>
          <a:p>
            <a:pPr>
              <a:spcAft>
                <a:spcPts val="500"/>
              </a:spcAft>
              <a:defRPr sz="1300">
                <a:solidFill>
                  <a:srgbClr val="1B1B2C"/>
                </a:solidFill>
                <a:latin typeface="Segoe UI"/>
              </a:defRPr>
            </a:pPr>
            <a:r>
              <a:t>• Microsoft Scout</a:t>
            </a:r>
          </a:p>
        </p:txBody>
      </p:sp>
      <p:sp>
        <p:nvSpPr>
          <p:cNvPr id="9" name="Rounded Rectangle 8"/>
          <p:cNvSpPr/>
          <p:nvPr/>
        </p:nvSpPr>
        <p:spPr>
          <a:xfrm>
            <a:off x="4709160" y="1783080"/>
            <a:ext cx="3886200" cy="260604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3480" y="2057400"/>
            <a:ext cx="3108960" cy="274320"/>
          </a:xfrm>
          <a:prstGeom prst="rect">
            <a:avLst/>
          </a:prstGeom>
          <a:noFill/>
        </p:spPr>
        <p:txBody>
          <a:bodyPr wrap="square" lIns="27432" rIns="27432" tIns="18288" bIns="18288">
            <a:spAutoFit/>
          </a:bodyPr>
          <a:lstStyle/>
          <a:p>
            <a:r>
              <a:rPr sz="1500" b="1">
                <a:solidFill>
                  <a:srgbClr val="1B1B2C"/>
                </a:solidFill>
                <a:latin typeface="Segoe UI"/>
              </a:rPr>
              <a:t>Key takeaway</a:t>
            </a:r>
          </a:p>
        </p:txBody>
      </p:sp>
      <p:sp>
        <p:nvSpPr>
          <p:cNvPr id="12" name="TextBox 11"/>
          <p:cNvSpPr txBox="1"/>
          <p:nvPr/>
        </p:nvSpPr>
        <p:spPr>
          <a:xfrm>
            <a:off x="4983480" y="2514600"/>
            <a:ext cx="3017520" cy="731520"/>
          </a:xfrm>
          <a:prstGeom prst="rect">
            <a:avLst/>
          </a:prstGeom>
          <a:noFill/>
        </p:spPr>
        <p:txBody>
          <a:bodyPr wrap="square" lIns="27432" rIns="27432" tIns="18288" bIns="18288">
            <a:spAutoFit/>
          </a:bodyPr>
          <a:lstStyle/>
          <a:p>
            <a:r>
              <a:rPr sz="1400" b="0">
                <a:solidFill>
                  <a:srgbClr val="5A6078"/>
                </a:solidFill>
                <a:latin typeface="Segoe UI"/>
              </a:rPr>
              <a:t>Pick the simplest Copilot surface that can finish the job with the right level of control.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1B1B2C"/>
                </a:solidFill>
                <a:latin typeface="Segoe UI"/>
              </a:rPr>
              <a:t>Pick by the job to be done</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5A6078"/>
                </a:solidFill>
                <a:latin typeface="Segoe UI"/>
              </a:rPr>
              <a:t>SECTION 02</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5A6078"/>
                </a:solidFill>
                <a:latin typeface="Segoe UI"/>
              </a:rPr>
              <a:t>One recommendation per task, with a note when something else also works.</a:t>
            </a:r>
          </a:p>
        </p:txBody>
      </p:sp>
      <p:sp>
        <p:nvSpPr>
          <p:cNvPr id="6" name="Rounded Rectangle 5"/>
          <p:cNvSpPr/>
          <p:nvPr/>
        </p:nvSpPr>
        <p:spPr>
          <a:xfrm>
            <a:off x="548640" y="1783080"/>
            <a:ext cx="3886200" cy="260604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1B1B2C"/>
                </a:solidFill>
                <a:latin typeface="Segoe UI"/>
              </a:defRPr>
            </a:pPr>
            <a:r>
              <a:t>• Quick question, brainstorm, or short reply</a:t>
            </a:r>
          </a:p>
          <a:p>
            <a:pPr>
              <a:spcAft>
                <a:spcPts val="500"/>
              </a:spcAft>
              <a:defRPr sz="1300">
                <a:solidFill>
                  <a:srgbClr val="1B1B2C"/>
                </a:solidFill>
                <a:latin typeface="Segoe UI"/>
              </a:defRPr>
            </a:pPr>
            <a:r>
              <a:t>• Draft or reply in Outlook, summarise a Teams meeting, edit a document</a:t>
            </a:r>
          </a:p>
          <a:p>
            <a:pPr>
              <a:spcAft>
                <a:spcPts val="500"/>
              </a:spcAft>
              <a:defRPr sz="1300">
                <a:solidFill>
                  <a:srgbClr val="1B1B2C"/>
                </a:solidFill>
                <a:latin typeface="Segoe UI"/>
              </a:defRPr>
            </a:pPr>
            <a:r>
              <a:t>• Deep, multi-source research with citations</a:t>
            </a:r>
          </a:p>
          <a:p>
            <a:pPr>
              <a:spcAft>
                <a:spcPts val="500"/>
              </a:spcAft>
              <a:defRPr sz="1300">
                <a:solidFill>
                  <a:srgbClr val="1B1B2C"/>
                </a:solidFill>
                <a:latin typeface="Segoe UI"/>
              </a:defRPr>
            </a:pPr>
            <a:r>
              <a:t>• Take real action across M365 (send, schedule, create, post)</a:t>
            </a:r>
          </a:p>
        </p:txBody>
      </p:sp>
      <p:sp>
        <p:nvSpPr>
          <p:cNvPr id="9" name="Rounded Rectangle 8"/>
          <p:cNvSpPr/>
          <p:nvPr/>
        </p:nvSpPr>
        <p:spPr>
          <a:xfrm>
            <a:off x="4709160" y="1783080"/>
            <a:ext cx="3886200" cy="260604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2029968"/>
            <a:ext cx="3429000" cy="2057400"/>
          </a:xfrm>
          <a:prstGeom prst="rect">
            <a:avLst/>
          </a:prstGeom>
          <a:noFill/>
        </p:spPr>
        <p:txBody>
          <a:bodyPr wrap="none" lIns="73152" rIns="73152" tIns="36576">
            <a:spAutoFit/>
          </a:bodyPr>
          <a:lstStyle/>
          <a:p>
            <a:pPr>
              <a:spcAft>
                <a:spcPts val="500"/>
              </a:spcAft>
              <a:defRPr sz="1300">
                <a:solidFill>
                  <a:srgbClr val="1B1B2C"/>
                </a:solidFill>
                <a:latin typeface="Segoe UI"/>
              </a:defRPr>
            </a:pPr>
            <a:r>
              <a:t>• One prompt, multiple deliverables (brief, model, deck)</a:t>
            </a:r>
          </a:p>
          <a:p>
            <a:pPr>
              <a:spcAft>
                <a:spcPts val="500"/>
              </a:spcAft>
              <a:defRPr sz="1300">
                <a:solidFill>
                  <a:srgbClr val="1B1B2C"/>
                </a:solidFill>
                <a:latin typeface="Segoe UI"/>
              </a:defRPr>
            </a:pPr>
            <a:r>
              <a:t>• A small Q&amp;A bot for yourself or a small team</a:t>
            </a:r>
          </a:p>
          <a:p>
            <a:pPr>
              <a:spcAft>
                <a:spcPts val="500"/>
              </a:spcAft>
              <a:defRPr sz="1300">
                <a:solidFill>
                  <a:srgbClr val="1B1B2C"/>
                </a:solidFill>
                <a:latin typeface="Segoe UI"/>
              </a:defRPr>
            </a:pPr>
            <a:r>
              <a:t>• A repeated, team-wide process with workflows and approvals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1B1B2C"/>
                </a:solidFill>
                <a:latin typeface="Segoe UI"/>
              </a:rPr>
              <a:t>Same app, different power</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5A6078"/>
                </a:solidFill>
                <a:latin typeface="Segoe UI"/>
              </a:rPr>
              <a:t>SECTION 03</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5A6078"/>
                </a:solidFill>
                <a:latin typeface="Segoe UI"/>
              </a:rPr>
              <a:t>When the work involves an M365 app, you have more than one Copilot option. Some live inside the app, others act on its files and signals from their own surface. Pick by how much heavy lifting you need.</a:t>
            </a:r>
          </a:p>
        </p:txBody>
      </p:sp>
      <p:sp>
        <p:nvSpPr>
          <p:cNvPr id="6" name="Rounded Rectangle 5"/>
          <p:cNvSpPr/>
          <p:nvPr/>
        </p:nvSpPr>
        <p:spPr>
          <a:xfrm>
            <a:off x="548640" y="1783080"/>
            <a:ext cx="3886200" cy="260604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1B1B2C"/>
                </a:solidFill>
                <a:latin typeface="Segoe UI"/>
              </a:defRPr>
            </a:pPr>
            <a:r>
              <a:t>• Use this page section as the decision checkpoint for the workflow.</a:t>
            </a:r>
          </a:p>
        </p:txBody>
      </p:sp>
      <p:sp>
        <p:nvSpPr>
          <p:cNvPr id="9" name="Rounded Rectangle 8"/>
          <p:cNvSpPr/>
          <p:nvPr/>
        </p:nvSpPr>
        <p:spPr>
          <a:xfrm>
            <a:off x="4709160" y="1783080"/>
            <a:ext cx="3886200" cy="260604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3480" y="2057400"/>
            <a:ext cx="3108960" cy="274320"/>
          </a:xfrm>
          <a:prstGeom prst="rect">
            <a:avLst/>
          </a:prstGeom>
          <a:noFill/>
        </p:spPr>
        <p:txBody>
          <a:bodyPr wrap="square" lIns="27432" rIns="27432" tIns="18288" bIns="18288">
            <a:spAutoFit/>
          </a:bodyPr>
          <a:lstStyle/>
          <a:p>
            <a:r>
              <a:rPr sz="1500" b="1">
                <a:solidFill>
                  <a:srgbClr val="1B1B2C"/>
                </a:solidFill>
                <a:latin typeface="Segoe UI"/>
              </a:rPr>
              <a:t>Key takeaway</a:t>
            </a:r>
          </a:p>
        </p:txBody>
      </p:sp>
      <p:sp>
        <p:nvSpPr>
          <p:cNvPr id="12" name="TextBox 11"/>
          <p:cNvSpPr txBox="1"/>
          <p:nvPr/>
        </p:nvSpPr>
        <p:spPr>
          <a:xfrm>
            <a:off x="4983480" y="2514600"/>
            <a:ext cx="3017520" cy="731520"/>
          </a:xfrm>
          <a:prstGeom prst="rect">
            <a:avLst/>
          </a:prstGeom>
          <a:noFill/>
        </p:spPr>
        <p:txBody>
          <a:bodyPr wrap="square" lIns="27432" rIns="27432" tIns="18288" bIns="18288">
            <a:spAutoFit/>
          </a:bodyPr>
          <a:lstStyle/>
          <a:p>
            <a:r>
              <a:rPr sz="1400" b="0">
                <a:solidFill>
                  <a:srgbClr val="5A6078"/>
                </a:solidFill>
                <a:latin typeface="Segoe UI"/>
              </a:rPr>
              <a:t>Pick the simplest Copilot surface that can finish the job with the right level of control.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1B1B2C"/>
                </a:solidFill>
                <a:latin typeface="Segoe UI"/>
              </a:rPr>
              <a:t>How to ask Cowork well</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5A6078"/>
                </a:solidFill>
                <a:latin typeface="Segoe UI"/>
              </a:rPr>
              <a:t>SECTION 04</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5A6078"/>
                </a:solidFill>
                <a:latin typeface="Segoe UI"/>
              </a:rPr>
              <a:t>A vague prompt forces Cowork to guess. Five small parts make the difference.</a:t>
            </a:r>
          </a:p>
        </p:txBody>
      </p:sp>
      <p:sp>
        <p:nvSpPr>
          <p:cNvPr id="6" name="Rounded Rectangle 5"/>
          <p:cNvSpPr/>
          <p:nvPr/>
        </p:nvSpPr>
        <p:spPr>
          <a:xfrm>
            <a:off x="548640" y="1783080"/>
            <a:ext cx="3886200" cy="260604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1B1B2C"/>
                </a:solidFill>
                <a:latin typeface="Segoe UI"/>
              </a:defRPr>
            </a:pPr>
            <a:r>
              <a:t>• A vague prompt forces Cowork to guess. Five small parts make the difference.</a:t>
            </a:r>
          </a:p>
          <a:p>
            <a:pPr>
              <a:spcAft>
                <a:spcPts val="500"/>
              </a:spcAft>
              <a:defRPr sz="1300">
                <a:solidFill>
                  <a:srgbClr val="1B1B2C"/>
                </a:solidFill>
                <a:latin typeface="Segoe UI"/>
              </a:defRPr>
            </a:pPr>
            <a:r>
              <a:t>• "Help me prep for my offsite next week."</a:t>
            </a:r>
          </a:p>
        </p:txBody>
      </p:sp>
      <p:sp>
        <p:nvSpPr>
          <p:cNvPr id="9" name="Rounded Rectangle 8"/>
          <p:cNvSpPr/>
          <p:nvPr/>
        </p:nvSpPr>
        <p:spPr>
          <a:xfrm>
            <a:off x="4709160" y="1783080"/>
            <a:ext cx="3886200" cy="260604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3480" y="2057400"/>
            <a:ext cx="3108960" cy="274320"/>
          </a:xfrm>
          <a:prstGeom prst="rect">
            <a:avLst/>
          </a:prstGeom>
          <a:noFill/>
        </p:spPr>
        <p:txBody>
          <a:bodyPr wrap="square" lIns="27432" rIns="27432" tIns="18288" bIns="18288">
            <a:spAutoFit/>
          </a:bodyPr>
          <a:lstStyle/>
          <a:p>
            <a:r>
              <a:rPr sz="1500" b="1">
                <a:solidFill>
                  <a:srgbClr val="1B1B2C"/>
                </a:solidFill>
                <a:latin typeface="Segoe UI"/>
              </a:rPr>
              <a:t>Key takeaway</a:t>
            </a:r>
          </a:p>
        </p:txBody>
      </p:sp>
      <p:sp>
        <p:nvSpPr>
          <p:cNvPr id="12" name="TextBox 11"/>
          <p:cNvSpPr txBox="1"/>
          <p:nvPr/>
        </p:nvSpPr>
        <p:spPr>
          <a:xfrm>
            <a:off x="4983480" y="2514600"/>
            <a:ext cx="3017520" cy="731520"/>
          </a:xfrm>
          <a:prstGeom prst="rect">
            <a:avLst/>
          </a:prstGeom>
          <a:noFill/>
        </p:spPr>
        <p:txBody>
          <a:bodyPr wrap="square" lIns="27432" rIns="27432" tIns="18288" bIns="18288">
            <a:spAutoFit/>
          </a:bodyPr>
          <a:lstStyle/>
          <a:p>
            <a:r>
              <a:rPr sz="1400" b="0">
                <a:solidFill>
                  <a:srgbClr val="5A6078"/>
                </a:solidFill>
                <a:latin typeface="Segoe UI"/>
              </a:rPr>
              <a:t>Pick the simplest Copilot surface that can finish the job with the right level of control.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1B1B2C"/>
                </a:solidFill>
                <a:latin typeface="Segoe UI"/>
              </a:rPr>
              <a:t>How these tools play together in real work</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5A6078"/>
                </a:solidFill>
                <a:latin typeface="Segoe UI"/>
              </a:rPr>
              <a:t>SECTION 05</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5A6078"/>
                </a:solidFill>
                <a:latin typeface="Segoe UI"/>
              </a:rPr>
              <a:t>A picture of the right tool for typical jobs in each function.</a:t>
            </a:r>
          </a:p>
        </p:txBody>
      </p:sp>
      <p:sp>
        <p:nvSpPr>
          <p:cNvPr id="6" name="Rounded Rectangle 5"/>
          <p:cNvSpPr/>
          <p:nvPr/>
        </p:nvSpPr>
        <p:spPr>
          <a:xfrm>
            <a:off x="548640" y="1783080"/>
            <a:ext cx="3886200" cy="260604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1B1B2C"/>
                </a:solidFill>
                <a:latin typeface="Segoe UI"/>
              </a:defRPr>
            </a:pPr>
            <a:r>
              <a:t>• Monday pipeline review</a:t>
            </a:r>
          </a:p>
          <a:p>
            <a:pPr>
              <a:spcAft>
                <a:spcPts val="500"/>
              </a:spcAft>
              <a:defRPr sz="1300">
                <a:solidFill>
                  <a:srgbClr val="1B1B2C"/>
                </a:solidFill>
                <a:latin typeface="Segoe UI"/>
              </a:defRPr>
            </a:pPr>
            <a:r>
              <a:t>• Campaign launch pack</a:t>
            </a:r>
          </a:p>
          <a:p>
            <a:pPr>
              <a:spcAft>
                <a:spcPts val="500"/>
              </a:spcAft>
              <a:defRPr sz="1300">
                <a:solidFill>
                  <a:srgbClr val="1B1B2C"/>
                </a:solidFill>
                <a:latin typeface="Segoe UI"/>
              </a:defRPr>
            </a:pPr>
            <a:r>
              <a:t>• Month-end variance pack</a:t>
            </a:r>
          </a:p>
          <a:p>
            <a:pPr>
              <a:spcAft>
                <a:spcPts val="500"/>
              </a:spcAft>
              <a:defRPr sz="1300">
                <a:solidFill>
                  <a:srgbClr val="1B1B2C"/>
                </a:solidFill>
                <a:latin typeface="Segoe UI"/>
              </a:defRPr>
            </a:pPr>
            <a:r>
              <a:t>• New-hire 30-day onboarding journey</a:t>
            </a:r>
          </a:p>
        </p:txBody>
      </p:sp>
      <p:sp>
        <p:nvSpPr>
          <p:cNvPr id="9" name="Rounded Rectangle 8"/>
          <p:cNvSpPr/>
          <p:nvPr/>
        </p:nvSpPr>
        <p:spPr>
          <a:xfrm>
            <a:off x="4709160" y="1783080"/>
            <a:ext cx="3886200" cy="260604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2029968"/>
            <a:ext cx="3429000" cy="2057400"/>
          </a:xfrm>
          <a:prstGeom prst="rect">
            <a:avLst/>
          </a:prstGeom>
          <a:noFill/>
        </p:spPr>
        <p:txBody>
          <a:bodyPr wrap="none" lIns="73152" rIns="73152" tIns="36576">
            <a:spAutoFit/>
          </a:bodyPr>
          <a:lstStyle/>
          <a:p>
            <a:pPr>
              <a:spcAft>
                <a:spcPts val="500"/>
              </a:spcAft>
              <a:defRPr sz="1300">
                <a:solidFill>
                  <a:srgbClr val="1B1B2C"/>
                </a:solidFill>
                <a:latin typeface="Segoe UI"/>
              </a:defRPr>
            </a:pPr>
            <a:r>
              <a:t>• Internal helpdesk triage</a:t>
            </a:r>
          </a:p>
          <a:p>
            <a:pPr>
              <a:spcAft>
                <a:spcPts val="500"/>
              </a:spcAft>
              <a:defRPr sz="1300">
                <a:solidFill>
                  <a:srgbClr val="1B1B2C"/>
                </a:solidFill>
                <a:latin typeface="Segoe UI"/>
              </a:defRPr>
            </a:pPr>
            <a:r>
              <a:t>• Supplier and inventory risk</a:t>
            </a:r>
          </a:p>
          <a:p>
            <a:pPr>
              <a:spcAft>
                <a:spcPts val="500"/>
              </a:spcAft>
              <a:defRPr sz="1300">
                <a:solidFill>
                  <a:srgbClr val="1B1B2C"/>
                </a:solidFill>
                <a:latin typeface="Segoe UI"/>
              </a:defRPr>
            </a:pPr>
            <a:r>
              <a:t>• Top 30 query bot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1B1B2C"/>
                </a:solidFill>
                <a:latin typeface="Segoe UI"/>
              </a:rPr>
              <a:t>Check this order first</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5A6078"/>
                </a:solidFill>
                <a:latin typeface="Segoe UI"/>
              </a:rPr>
              <a:t>SECTION 06</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5A6078"/>
                </a:solidFill>
                <a:latin typeface="Segoe UI"/>
              </a:rPr>
              <a:t>Building your own agent should be the last step, not the first.</a:t>
            </a:r>
          </a:p>
        </p:txBody>
      </p:sp>
      <p:sp>
        <p:nvSpPr>
          <p:cNvPr id="6" name="Rounded Rectangle 5"/>
          <p:cNvSpPr/>
          <p:nvPr/>
        </p:nvSpPr>
        <p:spPr>
          <a:xfrm>
            <a:off x="548640" y="1783080"/>
            <a:ext cx="3886200" cy="260604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1B1B2C"/>
                </a:solidFill>
                <a:latin typeface="Segoe UI"/>
              </a:defRPr>
            </a:pPr>
            <a:r>
              <a:t>• Can a saved prompt do it?</a:t>
            </a:r>
          </a:p>
          <a:p>
            <a:pPr>
              <a:spcAft>
                <a:spcPts val="500"/>
              </a:spcAft>
              <a:defRPr sz="1300">
                <a:solidFill>
                  <a:srgbClr val="1B1B2C"/>
                </a:solidFill>
                <a:latin typeface="Segoe UI"/>
              </a:defRPr>
            </a:pPr>
            <a:r>
              <a:t>• Is there a ready Microsoft agent?</a:t>
            </a:r>
          </a:p>
          <a:p>
            <a:pPr>
              <a:spcAft>
                <a:spcPts val="500"/>
              </a:spcAft>
              <a:defRPr sz="1300">
                <a:solidFill>
                  <a:srgbClr val="1B1B2C"/>
                </a:solidFill>
                <a:latin typeface="Segoe UI"/>
              </a:defRPr>
            </a:pPr>
            <a:r>
              <a:t>• Does Cowork already cover it?</a:t>
            </a:r>
          </a:p>
          <a:p>
            <a:pPr>
              <a:spcAft>
                <a:spcPts val="500"/>
              </a:spcAft>
              <a:defRPr sz="1300">
                <a:solidFill>
                  <a:srgbClr val="1B1B2C"/>
                </a:solidFill>
                <a:latin typeface="Segoe UI"/>
              </a:defRPr>
            </a:pPr>
            <a:r>
              <a:t>• Agent Builder or Copilot Studio</a:t>
            </a:r>
          </a:p>
        </p:txBody>
      </p:sp>
      <p:sp>
        <p:nvSpPr>
          <p:cNvPr id="9" name="Rounded Rectangle 8"/>
          <p:cNvSpPr/>
          <p:nvPr/>
        </p:nvSpPr>
        <p:spPr>
          <a:xfrm>
            <a:off x="4709160" y="1783080"/>
            <a:ext cx="3886200" cy="260604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2029968"/>
            <a:ext cx="3429000" cy="2057400"/>
          </a:xfrm>
          <a:prstGeom prst="rect">
            <a:avLst/>
          </a:prstGeom>
          <a:noFill/>
        </p:spPr>
        <p:txBody>
          <a:bodyPr wrap="none" lIns="73152" rIns="73152" tIns="36576">
            <a:spAutoFit/>
          </a:bodyPr>
          <a:lstStyle/>
          <a:p>
            <a:pPr>
              <a:spcAft>
                <a:spcPts val="500"/>
              </a:spcAft>
              <a:defRPr sz="1300">
                <a:solidFill>
                  <a:srgbClr val="1B1B2C"/>
                </a:solidFill>
                <a:latin typeface="Segoe UI"/>
              </a:defRPr>
            </a:pPr>
            <a:r>
              <a:t>• Simplest: Can a saved prompt do it?</a:t>
            </a:r>
          </a:p>
          <a:p>
            <a:pPr>
              <a:spcAft>
                <a:spcPts val="500"/>
              </a:spcAft>
              <a:defRPr sz="1300">
                <a:solidFill>
                  <a:srgbClr val="1B1B2C"/>
                </a:solidFill>
                <a:latin typeface="Segoe UI"/>
              </a:defRPr>
            </a:pPr>
            <a:r>
              <a:t>• Reuse: Is there a ready Microsoft agent?</a:t>
            </a:r>
          </a:p>
          <a:p>
            <a:pPr>
              <a:spcAft>
                <a:spcPts val="500"/>
              </a:spcAft>
              <a:defRPr sz="1300">
                <a:solidFill>
                  <a:srgbClr val="1B1B2C"/>
                </a:solidFill>
                <a:latin typeface="Segoe UI"/>
              </a:defRPr>
            </a:pPr>
            <a:r>
              <a:t>• Scale on demand: Does Cowork already cover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1B1B2C"/>
                </a:solidFill>
                <a:latin typeface="Segoe UI"/>
              </a:rPr>
              <a:t>Cowork tasks: light, medium, heavy</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5A6078"/>
                </a:solidFill>
                <a:latin typeface="Segoe UI"/>
              </a:rPr>
              <a:t>COPILOT COWORK</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94360" y="1508760"/>
            <a:ext cx="2514600" cy="233172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508760"/>
            <a:ext cx="251460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83080"/>
            <a:ext cx="2011680" cy="347472"/>
          </a:xfrm>
          <a:prstGeom prst="rect">
            <a:avLst/>
          </a:prstGeom>
          <a:noFill/>
        </p:spPr>
        <p:txBody>
          <a:bodyPr wrap="square" lIns="27432" rIns="27432" tIns="18288" bIns="18288">
            <a:spAutoFit/>
          </a:bodyPr>
          <a:lstStyle/>
          <a:p>
            <a:pPr algn="ctr"/>
            <a:r>
              <a:rPr sz="2200" b="1">
                <a:solidFill>
                  <a:srgbClr val="3E8E22"/>
                </a:solidFill>
                <a:latin typeface="Segoe UI"/>
              </a:rPr>
              <a:t>Light</a:t>
            </a:r>
          </a:p>
        </p:txBody>
      </p:sp>
      <p:sp>
        <p:nvSpPr>
          <p:cNvPr id="8" name="TextBox 7"/>
          <p:cNvSpPr txBox="1"/>
          <p:nvPr/>
        </p:nvSpPr>
        <p:spPr>
          <a:xfrm>
            <a:off x="868680" y="2331720"/>
            <a:ext cx="1965960" cy="822960"/>
          </a:xfrm>
          <a:prstGeom prst="rect">
            <a:avLst/>
          </a:prstGeom>
          <a:noFill/>
        </p:spPr>
        <p:txBody>
          <a:bodyPr wrap="square" lIns="27432" rIns="27432" tIns="18288" bIns="18288">
            <a:spAutoFit/>
          </a:bodyPr>
          <a:lstStyle/>
          <a:p>
            <a:pPr algn="ctr"/>
            <a:r>
              <a:rPr sz="1400" b="0">
                <a:solidFill>
                  <a:srgbClr val="5A6078"/>
                </a:solidFill>
                <a:latin typeface="Segoe UI"/>
              </a:rPr>
              <a:t>Quick everyday handoffs, minutes to finish, a source or two.</a:t>
            </a:r>
          </a:p>
        </p:txBody>
      </p:sp>
      <p:sp>
        <p:nvSpPr>
          <p:cNvPr id="9" name="Rounded Rectangle 8"/>
          <p:cNvSpPr/>
          <p:nvPr/>
        </p:nvSpPr>
        <p:spPr>
          <a:xfrm>
            <a:off x="3429000" y="1508760"/>
            <a:ext cx="2514600" cy="233172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29000" y="1508760"/>
            <a:ext cx="251460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783080"/>
            <a:ext cx="2011680" cy="347472"/>
          </a:xfrm>
          <a:prstGeom prst="rect">
            <a:avLst/>
          </a:prstGeom>
          <a:noFill/>
        </p:spPr>
        <p:txBody>
          <a:bodyPr wrap="square" lIns="27432" rIns="27432" tIns="18288" bIns="18288">
            <a:spAutoFit/>
          </a:bodyPr>
          <a:lstStyle/>
          <a:p>
            <a:pPr algn="ctr"/>
            <a:r>
              <a:rPr sz="2200" b="1">
                <a:solidFill>
                  <a:srgbClr val="0E8E92"/>
                </a:solidFill>
                <a:latin typeface="Segoe UI"/>
              </a:rPr>
              <a:t>Medium</a:t>
            </a:r>
          </a:p>
        </p:txBody>
      </p:sp>
      <p:sp>
        <p:nvSpPr>
          <p:cNvPr id="12" name="TextBox 11"/>
          <p:cNvSpPr txBox="1"/>
          <p:nvPr/>
        </p:nvSpPr>
        <p:spPr>
          <a:xfrm>
            <a:off x="3703320" y="2331720"/>
            <a:ext cx="1965960" cy="822960"/>
          </a:xfrm>
          <a:prstGeom prst="rect">
            <a:avLst/>
          </a:prstGeom>
          <a:noFill/>
        </p:spPr>
        <p:txBody>
          <a:bodyPr wrap="square" lIns="27432" rIns="27432" tIns="18288" bIns="18288">
            <a:spAutoFit/>
          </a:bodyPr>
          <a:lstStyle/>
          <a:p>
            <a:pPr algn="ctr"/>
            <a:r>
              <a:rPr sz="1400" b="0">
                <a:solidFill>
                  <a:srgbClr val="5A6078"/>
                </a:solidFill>
                <a:latin typeface="Segoe UI"/>
              </a:rPr>
              <a:t>Recurring multi-step work that reasons across several sources.</a:t>
            </a:r>
          </a:p>
        </p:txBody>
      </p:sp>
      <p:sp>
        <p:nvSpPr>
          <p:cNvPr id="13" name="Rounded Rectangle 12"/>
          <p:cNvSpPr/>
          <p:nvPr/>
        </p:nvSpPr>
        <p:spPr>
          <a:xfrm>
            <a:off x="6263640" y="1508760"/>
            <a:ext cx="2514600" cy="233172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508760"/>
            <a:ext cx="251460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783080"/>
            <a:ext cx="2011680" cy="347472"/>
          </a:xfrm>
          <a:prstGeom prst="rect">
            <a:avLst/>
          </a:prstGeom>
          <a:noFill/>
        </p:spPr>
        <p:txBody>
          <a:bodyPr wrap="square" lIns="27432" rIns="27432" tIns="18288" bIns="18288">
            <a:spAutoFit/>
          </a:bodyPr>
          <a:lstStyle/>
          <a:p>
            <a:pPr algn="ctr"/>
            <a:r>
              <a:rPr sz="2200" b="1">
                <a:solidFill>
                  <a:srgbClr val="C73E78"/>
                </a:solidFill>
                <a:latin typeface="Segoe UI"/>
              </a:rPr>
              <a:t>Heavy</a:t>
            </a:r>
          </a:p>
        </p:txBody>
      </p:sp>
      <p:sp>
        <p:nvSpPr>
          <p:cNvPr id="16" name="TextBox 15"/>
          <p:cNvSpPr txBox="1"/>
          <p:nvPr/>
        </p:nvSpPr>
        <p:spPr>
          <a:xfrm>
            <a:off x="6537960" y="2331720"/>
            <a:ext cx="1965960" cy="822960"/>
          </a:xfrm>
          <a:prstGeom prst="rect">
            <a:avLst/>
          </a:prstGeom>
          <a:noFill/>
        </p:spPr>
        <p:txBody>
          <a:bodyPr wrap="square" lIns="27432" rIns="27432" tIns="18288" bIns="18288">
            <a:spAutoFit/>
          </a:bodyPr>
          <a:lstStyle/>
          <a:p>
            <a:pPr algn="ctr"/>
            <a:r>
              <a:rPr sz="1400" b="0">
                <a:solidFill>
                  <a:srgbClr val="5A6078"/>
                </a:solidFill>
                <a:latin typeface="Segoe UI"/>
              </a:rPr>
              <a:t>Large multi-part jobs that produce a full set of artifacts.</a:t>
            </a:r>
          </a:p>
        </p:txBody>
      </p:sp>
      <p:sp>
        <p:nvSpPr>
          <p:cNvPr id="17" name="TextBox 16"/>
          <p:cNvSpPr txBox="1"/>
          <p:nvPr/>
        </p:nvSpPr>
        <p:spPr>
          <a:xfrm>
            <a:off x="731520" y="4251960"/>
            <a:ext cx="7680960" cy="320040"/>
          </a:xfrm>
          <a:prstGeom prst="rect">
            <a:avLst/>
          </a:prstGeom>
          <a:noFill/>
        </p:spPr>
        <p:txBody>
          <a:bodyPr wrap="square" lIns="27432" rIns="27432" tIns="18288" bIns="18288">
            <a:spAutoFit/>
          </a:bodyPr>
          <a:lstStyle/>
          <a:p>
            <a:pPr algn="ctr"/>
            <a:r>
              <a:rPr sz="1200" b="0">
                <a:solidFill>
                  <a:srgbClr val="5A6078"/>
                </a:solidFill>
                <a:latin typeface="Segoe UI"/>
              </a:rPr>
              <a:t>Classification follows the source task packs: Lightweight, Everyday workflows, and Hard Problems.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1B1B2C"/>
                </a:solidFill>
                <a:latin typeface="Segoe UI"/>
              </a:rPr>
              <a:t>Cowork tasks: light</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5A6078"/>
                </a:solidFill>
                <a:latin typeface="Segoe UI"/>
              </a:rPr>
              <a:t>GROUPED BY AUDIENCE</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261872"/>
            <a:ext cx="2636520" cy="3456432"/>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61872"/>
            <a:ext cx="263652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63040"/>
            <a:ext cx="2362200" cy="274320"/>
          </a:xfrm>
          <a:prstGeom prst="rect">
            <a:avLst/>
          </a:prstGeom>
          <a:noFill/>
        </p:spPr>
        <p:txBody>
          <a:bodyPr wrap="square" lIns="27432" rIns="27432" tIns="18288" bIns="18288">
            <a:spAutoFit/>
          </a:bodyPr>
          <a:lstStyle/>
          <a:p>
            <a:r>
              <a:rPr sz="1300" b="1">
                <a:solidFill>
                  <a:srgbClr val="3E8E22"/>
                </a:solidFill>
                <a:latin typeface="Segoe UI"/>
              </a:rPr>
              <a:t>All teams</a:t>
            </a:r>
          </a:p>
        </p:txBody>
      </p:sp>
      <p:sp>
        <p:nvSpPr>
          <p:cNvPr id="8" name="TextBox 7"/>
          <p:cNvSpPr txBox="1"/>
          <p:nvPr/>
        </p:nvSpPr>
        <p:spPr>
          <a:xfrm>
            <a:off x="713232" y="1828800"/>
            <a:ext cx="2307336" cy="228600"/>
          </a:xfrm>
          <a:prstGeom prst="rect">
            <a:avLst/>
          </a:prstGeom>
          <a:noFill/>
        </p:spPr>
        <p:txBody>
          <a:bodyPr wrap="square" lIns="27432" rIns="27432" tIns="18288" bIns="18288">
            <a:spAutoFit/>
          </a:bodyPr>
          <a:lstStyle/>
          <a:p>
            <a:r>
              <a:rPr sz="1000" b="1">
                <a:solidFill>
                  <a:srgbClr val="1B1B2C"/>
                </a:solidFill>
                <a:latin typeface="Segoe UI"/>
              </a:rPr>
              <a:t>Rebalance your week and protect focus time</a:t>
            </a:r>
          </a:p>
        </p:txBody>
      </p:sp>
      <p:sp>
        <p:nvSpPr>
          <p:cNvPr id="9" name="TextBox 8"/>
          <p:cNvSpPr txBox="1"/>
          <p:nvPr/>
        </p:nvSpPr>
        <p:spPr>
          <a:xfrm>
            <a:off x="713232" y="2048256"/>
            <a:ext cx="2307336" cy="301752"/>
          </a:xfrm>
          <a:prstGeom prst="rect">
            <a:avLst/>
          </a:prstGeom>
          <a:noFill/>
        </p:spPr>
        <p:txBody>
          <a:bodyPr wrap="square" lIns="27432" rIns="27432" tIns="18288" bIns="18288">
            <a:spAutoFit/>
          </a:bodyPr>
          <a:lstStyle/>
          <a:p>
            <a:r>
              <a:rPr sz="900" b="0">
                <a:solidFill>
                  <a:srgbClr val="5A6078"/>
                </a:solidFill>
                <a:latin typeface="Segoe UI"/>
              </a:rPr>
              <a:t>Rebalance the week, resolve conflicts, and protect focus blocks.</a:t>
            </a:r>
          </a:p>
        </p:txBody>
      </p:sp>
      <p:sp>
        <p:nvSpPr>
          <p:cNvPr id="10" name="TextBox 9"/>
          <p:cNvSpPr txBox="1"/>
          <p:nvPr/>
        </p:nvSpPr>
        <p:spPr>
          <a:xfrm>
            <a:off x="713232" y="2487168"/>
            <a:ext cx="2307336" cy="228600"/>
          </a:xfrm>
          <a:prstGeom prst="rect">
            <a:avLst/>
          </a:prstGeom>
          <a:noFill/>
        </p:spPr>
        <p:txBody>
          <a:bodyPr wrap="square" lIns="27432" rIns="27432" tIns="18288" bIns="18288">
            <a:spAutoFit/>
          </a:bodyPr>
          <a:lstStyle/>
          <a:p>
            <a:r>
              <a:rPr sz="1000" b="1">
                <a:solidFill>
                  <a:srgbClr val="1B1B2C"/>
                </a:solidFill>
                <a:latin typeface="Segoe UI"/>
              </a:rPr>
              <a:t>Wrap up projects and organize all related work</a:t>
            </a:r>
          </a:p>
        </p:txBody>
      </p:sp>
      <p:sp>
        <p:nvSpPr>
          <p:cNvPr id="11" name="TextBox 10"/>
          <p:cNvSpPr txBox="1"/>
          <p:nvPr/>
        </p:nvSpPr>
        <p:spPr>
          <a:xfrm>
            <a:off x="713232" y="2706624"/>
            <a:ext cx="2307336" cy="301752"/>
          </a:xfrm>
          <a:prstGeom prst="rect">
            <a:avLst/>
          </a:prstGeom>
          <a:noFill/>
        </p:spPr>
        <p:txBody>
          <a:bodyPr wrap="square" lIns="27432" rIns="27432" tIns="18288" bIns="18288">
            <a:spAutoFit/>
          </a:bodyPr>
          <a:lstStyle/>
          <a:p>
            <a:r>
              <a:rPr sz="900" b="0">
                <a:solidFill>
                  <a:srgbClr val="5A6078"/>
                </a:solidFill>
                <a:latin typeface="Segoe UI"/>
              </a:rPr>
              <a:t>Close the project with a clean, shareable OneDrive archive.</a:t>
            </a:r>
          </a:p>
        </p:txBody>
      </p:sp>
      <p:sp>
        <p:nvSpPr>
          <p:cNvPr id="12" name="TextBox 11"/>
          <p:cNvSpPr txBox="1"/>
          <p:nvPr/>
        </p:nvSpPr>
        <p:spPr>
          <a:xfrm>
            <a:off x="713232" y="3145535"/>
            <a:ext cx="2307336" cy="228600"/>
          </a:xfrm>
          <a:prstGeom prst="rect">
            <a:avLst/>
          </a:prstGeom>
          <a:noFill/>
        </p:spPr>
        <p:txBody>
          <a:bodyPr wrap="square" lIns="27432" rIns="27432" tIns="18288" bIns="18288">
            <a:spAutoFit/>
          </a:bodyPr>
          <a:lstStyle/>
          <a:p>
            <a:r>
              <a:rPr sz="1000" b="1">
                <a:solidFill>
                  <a:srgbClr val="1B1B2C"/>
                </a:solidFill>
                <a:latin typeface="Segoe UI"/>
              </a:rPr>
              <a:t>Catch up on messages and send replies automatically</a:t>
            </a:r>
          </a:p>
        </p:txBody>
      </p:sp>
      <p:sp>
        <p:nvSpPr>
          <p:cNvPr id="13" name="TextBox 12"/>
          <p:cNvSpPr txBox="1"/>
          <p:nvPr/>
        </p:nvSpPr>
        <p:spPr>
          <a:xfrm>
            <a:off x="713232" y="3364991"/>
            <a:ext cx="2307336" cy="301752"/>
          </a:xfrm>
          <a:prstGeom prst="rect">
            <a:avLst/>
          </a:prstGeom>
          <a:noFill/>
        </p:spPr>
        <p:txBody>
          <a:bodyPr wrap="square" lIns="27432" rIns="27432" tIns="18288" bIns="18288">
            <a:spAutoFit/>
          </a:bodyPr>
          <a:lstStyle/>
          <a:p>
            <a:r>
              <a:rPr sz="900" b="0">
                <a:solidFill>
                  <a:srgbClr val="5A6078"/>
                </a:solidFill>
                <a:latin typeface="Segoe UI"/>
              </a:rPr>
              <a:t>Handle routine replies and draft higher-stakes responses for review.</a:t>
            </a:r>
          </a:p>
        </p:txBody>
      </p:sp>
      <p:sp>
        <p:nvSpPr>
          <p:cNvPr id="14" name="Rounded Rectangle 13"/>
          <p:cNvSpPr/>
          <p:nvPr/>
        </p:nvSpPr>
        <p:spPr>
          <a:xfrm>
            <a:off x="3340608" y="1261872"/>
            <a:ext cx="2636520" cy="3456432"/>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40608" y="1261872"/>
            <a:ext cx="263652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7768" y="1463040"/>
            <a:ext cx="2362200" cy="274320"/>
          </a:xfrm>
          <a:prstGeom prst="rect">
            <a:avLst/>
          </a:prstGeom>
          <a:noFill/>
        </p:spPr>
        <p:txBody>
          <a:bodyPr wrap="square" lIns="27432" rIns="27432" tIns="18288" bIns="18288">
            <a:spAutoFit/>
          </a:bodyPr>
          <a:lstStyle/>
          <a:p>
            <a:r>
              <a:rPr sz="1300" b="1">
                <a:solidFill>
                  <a:srgbClr val="3E8E22"/>
                </a:solidFill>
                <a:latin typeface="Segoe UI"/>
              </a:rPr>
              <a:t>Sales</a:t>
            </a:r>
          </a:p>
        </p:txBody>
      </p:sp>
      <p:sp>
        <p:nvSpPr>
          <p:cNvPr id="17" name="TextBox 16"/>
          <p:cNvSpPr txBox="1"/>
          <p:nvPr/>
        </p:nvSpPr>
        <p:spPr>
          <a:xfrm>
            <a:off x="3505200" y="1828800"/>
            <a:ext cx="2307336" cy="228600"/>
          </a:xfrm>
          <a:prstGeom prst="rect">
            <a:avLst/>
          </a:prstGeom>
          <a:noFill/>
        </p:spPr>
        <p:txBody>
          <a:bodyPr wrap="square" lIns="27432" rIns="27432" tIns="18288" bIns="18288">
            <a:spAutoFit/>
          </a:bodyPr>
          <a:lstStyle/>
          <a:p>
            <a:r>
              <a:rPr sz="1000" b="1">
                <a:solidFill>
                  <a:srgbClr val="1B1B2C"/>
                </a:solidFill>
                <a:latin typeface="Segoe UI"/>
              </a:rPr>
              <a:t>Pricing screenshot to customer presentation</a:t>
            </a:r>
          </a:p>
        </p:txBody>
      </p:sp>
      <p:sp>
        <p:nvSpPr>
          <p:cNvPr id="18" name="TextBox 17"/>
          <p:cNvSpPr txBox="1"/>
          <p:nvPr/>
        </p:nvSpPr>
        <p:spPr>
          <a:xfrm>
            <a:off x="3505200" y="2048256"/>
            <a:ext cx="2307336" cy="301752"/>
          </a:xfrm>
          <a:prstGeom prst="rect">
            <a:avLst/>
          </a:prstGeom>
          <a:noFill/>
        </p:spPr>
        <p:txBody>
          <a:bodyPr wrap="square" lIns="27432" rIns="27432" tIns="18288" bIns="18288">
            <a:spAutoFit/>
          </a:bodyPr>
          <a:lstStyle/>
          <a:p>
            <a:r>
              <a:rPr sz="900" b="0">
                <a:solidFill>
                  <a:srgbClr val="5A6078"/>
                </a:solidFill>
                <a:latin typeface="Segoe UI"/>
              </a:rPr>
              <a:t>Turn approved pricing into a customer-ready deck and draft email.</a:t>
            </a:r>
          </a:p>
        </p:txBody>
      </p:sp>
      <p:sp>
        <p:nvSpPr>
          <p:cNvPr id="19" name="TextBox 18"/>
          <p:cNvSpPr txBox="1"/>
          <p:nvPr/>
        </p:nvSpPr>
        <p:spPr>
          <a:xfrm>
            <a:off x="3505200" y="2487168"/>
            <a:ext cx="2307336" cy="228600"/>
          </a:xfrm>
          <a:prstGeom prst="rect">
            <a:avLst/>
          </a:prstGeom>
          <a:noFill/>
        </p:spPr>
        <p:txBody>
          <a:bodyPr wrap="square" lIns="27432" rIns="27432" tIns="18288" bIns="18288">
            <a:spAutoFit/>
          </a:bodyPr>
          <a:lstStyle/>
          <a:p>
            <a:r>
              <a:rPr sz="1000" b="1">
                <a:solidFill>
                  <a:srgbClr val="1B1B2C"/>
                </a:solidFill>
                <a:latin typeface="Segoe UI"/>
              </a:rPr>
              <a:t>Weekly external customer email review</a:t>
            </a:r>
          </a:p>
        </p:txBody>
      </p:sp>
      <p:sp>
        <p:nvSpPr>
          <p:cNvPr id="20" name="TextBox 19"/>
          <p:cNvSpPr txBox="1"/>
          <p:nvPr/>
        </p:nvSpPr>
        <p:spPr>
          <a:xfrm>
            <a:off x="3505200" y="2706624"/>
            <a:ext cx="2307336" cy="301752"/>
          </a:xfrm>
          <a:prstGeom prst="rect">
            <a:avLst/>
          </a:prstGeom>
          <a:noFill/>
        </p:spPr>
        <p:txBody>
          <a:bodyPr wrap="square" lIns="27432" rIns="27432" tIns="18288" bIns="18288">
            <a:spAutoFit/>
          </a:bodyPr>
          <a:lstStyle/>
          <a:p>
            <a:r>
              <a:rPr sz="900" b="0">
                <a:solidFill>
                  <a:srgbClr val="5A6078"/>
                </a:solidFill>
                <a:latin typeface="Segoe UI"/>
              </a:rPr>
              <a:t>Surface action items, draft replies, and send a Teams reminder.</a:t>
            </a:r>
          </a:p>
        </p:txBody>
      </p:sp>
      <p:sp>
        <p:nvSpPr>
          <p:cNvPr id="21" name="Rounded Rectangle 20"/>
          <p:cNvSpPr/>
          <p:nvPr/>
        </p:nvSpPr>
        <p:spPr>
          <a:xfrm>
            <a:off x="6132576" y="1261872"/>
            <a:ext cx="2636520" cy="3456432"/>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32576" y="1261872"/>
            <a:ext cx="263652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69736" y="1463040"/>
            <a:ext cx="2362200" cy="274320"/>
          </a:xfrm>
          <a:prstGeom prst="rect">
            <a:avLst/>
          </a:prstGeom>
          <a:noFill/>
        </p:spPr>
        <p:txBody>
          <a:bodyPr wrap="square" lIns="27432" rIns="27432" tIns="18288" bIns="18288">
            <a:spAutoFit/>
          </a:bodyPr>
          <a:lstStyle/>
          <a:p>
            <a:r>
              <a:rPr sz="1300" b="1">
                <a:solidFill>
                  <a:srgbClr val="3E8E22"/>
                </a:solidFill>
                <a:latin typeface="Segoe UI"/>
              </a:rPr>
              <a:t>Marketing</a:t>
            </a:r>
          </a:p>
        </p:txBody>
      </p:sp>
      <p:sp>
        <p:nvSpPr>
          <p:cNvPr id="24" name="TextBox 23"/>
          <p:cNvSpPr txBox="1"/>
          <p:nvPr/>
        </p:nvSpPr>
        <p:spPr>
          <a:xfrm>
            <a:off x="6297168" y="1828800"/>
            <a:ext cx="2307336" cy="228600"/>
          </a:xfrm>
          <a:prstGeom prst="rect">
            <a:avLst/>
          </a:prstGeom>
          <a:noFill/>
        </p:spPr>
        <p:txBody>
          <a:bodyPr wrap="square" lIns="27432" rIns="27432" tIns="18288" bIns="18288">
            <a:spAutoFit/>
          </a:bodyPr>
          <a:lstStyle/>
          <a:p>
            <a:r>
              <a:rPr sz="1000" b="1">
                <a:solidFill>
                  <a:srgbClr val="1B1B2C"/>
                </a:solidFill>
                <a:latin typeface="Segoe UI"/>
              </a:rPr>
              <a:t>Research and insights alignment recap</a:t>
            </a:r>
          </a:p>
        </p:txBody>
      </p:sp>
      <p:sp>
        <p:nvSpPr>
          <p:cNvPr id="25" name="TextBox 24"/>
          <p:cNvSpPr txBox="1"/>
          <p:nvPr/>
        </p:nvSpPr>
        <p:spPr>
          <a:xfrm>
            <a:off x="6297168" y="2048256"/>
            <a:ext cx="2307336" cy="301752"/>
          </a:xfrm>
          <a:prstGeom prst="rect">
            <a:avLst/>
          </a:prstGeom>
          <a:noFill/>
        </p:spPr>
        <p:txBody>
          <a:bodyPr wrap="square" lIns="27432" rIns="27432" tIns="18288" bIns="18288">
            <a:spAutoFit/>
          </a:bodyPr>
          <a:lstStyle/>
          <a:p>
            <a:r>
              <a:rPr sz="900" b="0">
                <a:solidFill>
                  <a:srgbClr val="5A6078"/>
                </a:solidFill>
                <a:latin typeface="Segoe UI"/>
              </a:rPr>
              <a:t>Post decisions, open issues, and named next steps to Teams.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1B1B2C"/>
                </a:solidFill>
                <a:latin typeface="Segoe UI"/>
              </a:rPr>
              <a:t>Cowork tasks: medium</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5A6078"/>
                </a:solidFill>
                <a:latin typeface="Segoe UI"/>
              </a:rPr>
              <a:t>GROUPED BY AUDIENCE</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261872"/>
            <a:ext cx="3977640" cy="3456432"/>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61872"/>
            <a:ext cx="397764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63040"/>
            <a:ext cx="3703320" cy="274320"/>
          </a:xfrm>
          <a:prstGeom prst="rect">
            <a:avLst/>
          </a:prstGeom>
          <a:noFill/>
        </p:spPr>
        <p:txBody>
          <a:bodyPr wrap="square" lIns="27432" rIns="27432" tIns="18288" bIns="18288">
            <a:spAutoFit/>
          </a:bodyPr>
          <a:lstStyle/>
          <a:p>
            <a:r>
              <a:rPr sz="1300" b="1">
                <a:solidFill>
                  <a:srgbClr val="0E8E92"/>
                </a:solidFill>
                <a:latin typeface="Segoe UI"/>
              </a:rPr>
              <a:t>All teams</a:t>
            </a:r>
          </a:p>
        </p:txBody>
      </p:sp>
      <p:sp>
        <p:nvSpPr>
          <p:cNvPr id="8" name="TextBox 7"/>
          <p:cNvSpPr txBox="1"/>
          <p:nvPr/>
        </p:nvSpPr>
        <p:spPr>
          <a:xfrm>
            <a:off x="713232" y="1828800"/>
            <a:ext cx="3648456" cy="228600"/>
          </a:xfrm>
          <a:prstGeom prst="rect">
            <a:avLst/>
          </a:prstGeom>
          <a:noFill/>
        </p:spPr>
        <p:txBody>
          <a:bodyPr wrap="square" lIns="27432" rIns="27432" tIns="18288" bIns="18288">
            <a:spAutoFit/>
          </a:bodyPr>
          <a:lstStyle/>
          <a:p>
            <a:r>
              <a:rPr sz="1000" b="1">
                <a:solidFill>
                  <a:srgbClr val="1B1B2C"/>
                </a:solidFill>
                <a:latin typeface="Segoe UI"/>
              </a:rPr>
              <a:t>Turn inbox noise into a curated intelligence brief</a:t>
            </a:r>
          </a:p>
        </p:txBody>
      </p:sp>
      <p:sp>
        <p:nvSpPr>
          <p:cNvPr id="9" name="TextBox 8"/>
          <p:cNvSpPr txBox="1"/>
          <p:nvPr/>
        </p:nvSpPr>
        <p:spPr>
          <a:xfrm>
            <a:off x="713232" y="2048256"/>
            <a:ext cx="3648456" cy="301752"/>
          </a:xfrm>
          <a:prstGeom prst="rect">
            <a:avLst/>
          </a:prstGeom>
          <a:noFill/>
        </p:spPr>
        <p:txBody>
          <a:bodyPr wrap="square" lIns="27432" rIns="27432" tIns="18288" bIns="18288">
            <a:spAutoFit/>
          </a:bodyPr>
          <a:lstStyle/>
          <a:p>
            <a:r>
              <a:rPr sz="900" b="0">
                <a:solidFill>
                  <a:srgbClr val="5A6078"/>
                </a:solidFill>
                <a:latin typeface="Segoe UI"/>
              </a:rPr>
              <a:t>Create a weekly trend brief from the publications you follow.</a:t>
            </a:r>
          </a:p>
        </p:txBody>
      </p:sp>
      <p:sp>
        <p:nvSpPr>
          <p:cNvPr id="10" name="Rounded Rectangle 9"/>
          <p:cNvSpPr/>
          <p:nvPr/>
        </p:nvSpPr>
        <p:spPr>
          <a:xfrm>
            <a:off x="4681728" y="1261872"/>
            <a:ext cx="3977640" cy="3456432"/>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81728" y="1261872"/>
            <a:ext cx="397764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18888" y="1463040"/>
            <a:ext cx="3703320" cy="274320"/>
          </a:xfrm>
          <a:prstGeom prst="rect">
            <a:avLst/>
          </a:prstGeom>
          <a:noFill/>
        </p:spPr>
        <p:txBody>
          <a:bodyPr wrap="square" lIns="27432" rIns="27432" tIns="18288" bIns="18288">
            <a:spAutoFit/>
          </a:bodyPr>
          <a:lstStyle/>
          <a:p>
            <a:r>
              <a:rPr sz="1300" b="1">
                <a:solidFill>
                  <a:srgbClr val="0E8E92"/>
                </a:solidFill>
                <a:latin typeface="Segoe UI"/>
              </a:rPr>
              <a:t>Marketing</a:t>
            </a:r>
          </a:p>
        </p:txBody>
      </p:sp>
      <p:sp>
        <p:nvSpPr>
          <p:cNvPr id="13" name="TextBox 12"/>
          <p:cNvSpPr txBox="1"/>
          <p:nvPr/>
        </p:nvSpPr>
        <p:spPr>
          <a:xfrm>
            <a:off x="4846320" y="1828800"/>
            <a:ext cx="3648456" cy="228600"/>
          </a:xfrm>
          <a:prstGeom prst="rect">
            <a:avLst/>
          </a:prstGeom>
          <a:noFill/>
        </p:spPr>
        <p:txBody>
          <a:bodyPr wrap="square" lIns="27432" rIns="27432" tIns="18288" bIns="18288">
            <a:spAutoFit/>
          </a:bodyPr>
          <a:lstStyle/>
          <a:p>
            <a:r>
              <a:rPr sz="1000" b="1">
                <a:solidFill>
                  <a:srgbClr val="1B1B2C"/>
                </a:solidFill>
                <a:latin typeface="Segoe UI"/>
              </a:rPr>
              <a:t>Partner and channel activation kit</a:t>
            </a:r>
          </a:p>
        </p:txBody>
      </p:sp>
      <p:sp>
        <p:nvSpPr>
          <p:cNvPr id="14" name="TextBox 13"/>
          <p:cNvSpPr txBox="1"/>
          <p:nvPr/>
        </p:nvSpPr>
        <p:spPr>
          <a:xfrm>
            <a:off x="4846320" y="2048256"/>
            <a:ext cx="3648456" cy="301752"/>
          </a:xfrm>
          <a:prstGeom prst="rect">
            <a:avLst/>
          </a:prstGeom>
          <a:noFill/>
        </p:spPr>
        <p:txBody>
          <a:bodyPr wrap="square" lIns="27432" rIns="27432" tIns="18288" bIns="18288">
            <a:spAutoFit/>
          </a:bodyPr>
          <a:lstStyle/>
          <a:p>
            <a:r>
              <a:rPr sz="900" b="0">
                <a:solidFill>
                  <a:srgbClr val="5A6078"/>
                </a:solidFill>
                <a:latin typeface="Segoe UI"/>
              </a:rPr>
              <a:t>Produce partner-ready and channel-ready kits with a routing plan.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1B1B2C"/>
                </a:solidFill>
                <a:latin typeface="Segoe UI"/>
              </a:rPr>
              <a:t>Cowork tasks: heavy</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5A6078"/>
                </a:solidFill>
                <a:latin typeface="Segoe UI"/>
              </a:rPr>
              <a:t>GROUPED BY AUDIENCE</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261872"/>
            <a:ext cx="2636520" cy="3456432"/>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61872"/>
            <a:ext cx="263652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63040"/>
            <a:ext cx="2362200" cy="274320"/>
          </a:xfrm>
          <a:prstGeom prst="rect">
            <a:avLst/>
          </a:prstGeom>
          <a:noFill/>
        </p:spPr>
        <p:txBody>
          <a:bodyPr wrap="square" lIns="27432" rIns="27432" tIns="18288" bIns="18288">
            <a:spAutoFit/>
          </a:bodyPr>
          <a:lstStyle/>
          <a:p>
            <a:r>
              <a:rPr sz="1300" b="1">
                <a:solidFill>
                  <a:srgbClr val="C73E78"/>
                </a:solidFill>
                <a:latin typeface="Segoe UI"/>
              </a:rPr>
              <a:t>All teams</a:t>
            </a:r>
          </a:p>
        </p:txBody>
      </p:sp>
      <p:sp>
        <p:nvSpPr>
          <p:cNvPr id="8" name="TextBox 7"/>
          <p:cNvSpPr txBox="1"/>
          <p:nvPr/>
        </p:nvSpPr>
        <p:spPr>
          <a:xfrm>
            <a:off x="713232" y="1828800"/>
            <a:ext cx="2307336" cy="384048"/>
          </a:xfrm>
          <a:prstGeom prst="rect">
            <a:avLst/>
          </a:prstGeom>
          <a:noFill/>
        </p:spPr>
        <p:txBody>
          <a:bodyPr wrap="square" lIns="27432" rIns="27432" tIns="18288" bIns="18288">
            <a:spAutoFit/>
          </a:bodyPr>
          <a:lstStyle/>
          <a:p>
            <a:r>
              <a:rPr sz="800" b="1">
                <a:solidFill>
                  <a:srgbClr val="1B1B2C"/>
                </a:solidFill>
                <a:latin typeface="Segoe UI"/>
              </a:rPr>
              <a:t>Prepare a complete out-of-office handoff</a:t>
            </a:r>
          </a:p>
        </p:txBody>
      </p:sp>
      <p:sp>
        <p:nvSpPr>
          <p:cNvPr id="9" name="TextBox 8"/>
          <p:cNvSpPr txBox="1"/>
          <p:nvPr/>
        </p:nvSpPr>
        <p:spPr>
          <a:xfrm>
            <a:off x="713232" y="2139696"/>
            <a:ext cx="2307336" cy="310896"/>
          </a:xfrm>
          <a:prstGeom prst="rect">
            <a:avLst/>
          </a:prstGeom>
          <a:noFill/>
        </p:spPr>
        <p:txBody>
          <a:bodyPr wrap="square" lIns="27432" rIns="27432" tIns="18288" bIns="18288">
            <a:spAutoFit/>
          </a:bodyPr>
          <a:lstStyle/>
          <a:p>
            <a:r>
              <a:rPr sz="700" b="0">
                <a:solidFill>
                  <a:srgbClr val="5A6078"/>
                </a:solidFill>
                <a:latin typeface="Segoe UI"/>
              </a:rPr>
              <a:t>Build a handoff from projects, owners, deadlines, and files.</a:t>
            </a:r>
          </a:p>
        </p:txBody>
      </p:sp>
      <p:sp>
        <p:nvSpPr>
          <p:cNvPr id="10" name="TextBox 9"/>
          <p:cNvSpPr txBox="1"/>
          <p:nvPr/>
        </p:nvSpPr>
        <p:spPr>
          <a:xfrm>
            <a:off x="713232" y="2523744"/>
            <a:ext cx="2307336" cy="384048"/>
          </a:xfrm>
          <a:prstGeom prst="rect">
            <a:avLst/>
          </a:prstGeom>
          <a:noFill/>
        </p:spPr>
        <p:txBody>
          <a:bodyPr wrap="square" lIns="27432" rIns="27432" tIns="18288" bIns="18288">
            <a:spAutoFit/>
          </a:bodyPr>
          <a:lstStyle/>
          <a:p>
            <a:r>
              <a:rPr sz="800" b="1">
                <a:solidFill>
                  <a:srgbClr val="1B1B2C"/>
                </a:solidFill>
                <a:latin typeface="Segoe UI"/>
              </a:rPr>
              <a:t>Analyze and optimize your OneDrive at scale</a:t>
            </a:r>
          </a:p>
        </p:txBody>
      </p:sp>
      <p:sp>
        <p:nvSpPr>
          <p:cNvPr id="11" name="TextBox 10"/>
          <p:cNvSpPr txBox="1"/>
          <p:nvPr/>
        </p:nvSpPr>
        <p:spPr>
          <a:xfrm>
            <a:off x="713232" y="2834639"/>
            <a:ext cx="2307336" cy="310896"/>
          </a:xfrm>
          <a:prstGeom prst="rect">
            <a:avLst/>
          </a:prstGeom>
          <a:noFill/>
        </p:spPr>
        <p:txBody>
          <a:bodyPr wrap="square" lIns="27432" rIns="27432" tIns="18288" bIns="18288">
            <a:spAutoFit/>
          </a:bodyPr>
          <a:lstStyle/>
          <a:p>
            <a:r>
              <a:rPr sz="700" b="0">
                <a:solidFill>
                  <a:srgbClr val="5A6078"/>
                </a:solidFill>
                <a:latin typeface="Segoe UI"/>
              </a:rPr>
              <a:t>Create a catalog with cleanup decisions queued for approval.</a:t>
            </a:r>
          </a:p>
        </p:txBody>
      </p:sp>
      <p:sp>
        <p:nvSpPr>
          <p:cNvPr id="12" name="TextBox 11"/>
          <p:cNvSpPr txBox="1"/>
          <p:nvPr/>
        </p:nvSpPr>
        <p:spPr>
          <a:xfrm>
            <a:off x="713232" y="3218687"/>
            <a:ext cx="2307336" cy="384048"/>
          </a:xfrm>
          <a:prstGeom prst="rect">
            <a:avLst/>
          </a:prstGeom>
          <a:noFill/>
        </p:spPr>
        <p:txBody>
          <a:bodyPr wrap="square" lIns="27432" rIns="27432" tIns="18288" bIns="18288">
            <a:spAutoFit/>
          </a:bodyPr>
          <a:lstStyle/>
          <a:p>
            <a:r>
              <a:rPr sz="800" b="1">
                <a:solidFill>
                  <a:srgbClr val="1B1B2C"/>
                </a:solidFill>
                <a:latin typeface="Segoe UI"/>
              </a:rPr>
              <a:t>Audit and surface against a standard</a:t>
            </a:r>
          </a:p>
        </p:txBody>
      </p:sp>
      <p:sp>
        <p:nvSpPr>
          <p:cNvPr id="13" name="TextBox 12"/>
          <p:cNvSpPr txBox="1"/>
          <p:nvPr/>
        </p:nvSpPr>
        <p:spPr>
          <a:xfrm>
            <a:off x="713232" y="3529583"/>
            <a:ext cx="2307336" cy="310896"/>
          </a:xfrm>
          <a:prstGeom prst="rect">
            <a:avLst/>
          </a:prstGeom>
          <a:noFill/>
        </p:spPr>
        <p:txBody>
          <a:bodyPr wrap="square" lIns="27432" rIns="27432" tIns="18288" bIns="18288">
            <a:spAutoFit/>
          </a:bodyPr>
          <a:lstStyle/>
          <a:p>
            <a:r>
              <a:rPr sz="700" b="0">
                <a:solidFill>
                  <a:srgbClr val="5A6078"/>
                </a:solidFill>
                <a:latin typeface="Segoe UI"/>
              </a:rPr>
              <a:t>Audit files against a policy and return a sortable fix list.</a:t>
            </a:r>
          </a:p>
        </p:txBody>
      </p:sp>
      <p:sp>
        <p:nvSpPr>
          <p:cNvPr id="14" name="TextBox 13"/>
          <p:cNvSpPr txBox="1"/>
          <p:nvPr/>
        </p:nvSpPr>
        <p:spPr>
          <a:xfrm>
            <a:off x="713232" y="3913631"/>
            <a:ext cx="2307336" cy="384048"/>
          </a:xfrm>
          <a:prstGeom prst="rect">
            <a:avLst/>
          </a:prstGeom>
          <a:noFill/>
        </p:spPr>
        <p:txBody>
          <a:bodyPr wrap="square" lIns="27432" rIns="27432" tIns="18288" bIns="18288">
            <a:spAutoFit/>
          </a:bodyPr>
          <a:lstStyle/>
          <a:p>
            <a:r>
              <a:rPr sz="800" b="1">
                <a:solidFill>
                  <a:srgbClr val="1B1B2C"/>
                </a:solidFill>
                <a:latin typeface="Segoe UI"/>
              </a:rPr>
              <a:t>Onboard a new hire with a complete 30-60-90 plan</a:t>
            </a:r>
          </a:p>
        </p:txBody>
      </p:sp>
      <p:sp>
        <p:nvSpPr>
          <p:cNvPr id="15" name="TextBox 14"/>
          <p:cNvSpPr txBox="1"/>
          <p:nvPr/>
        </p:nvSpPr>
        <p:spPr>
          <a:xfrm>
            <a:off x="713232" y="4224527"/>
            <a:ext cx="2307336" cy="310896"/>
          </a:xfrm>
          <a:prstGeom prst="rect">
            <a:avLst/>
          </a:prstGeom>
          <a:noFill/>
        </p:spPr>
        <p:txBody>
          <a:bodyPr wrap="square" lIns="27432" rIns="27432" tIns="18288" bIns="18288">
            <a:spAutoFit/>
          </a:bodyPr>
          <a:lstStyle/>
          <a:p>
            <a:r>
              <a:rPr sz="700" b="0">
                <a:solidFill>
                  <a:srgbClr val="5A6078"/>
                </a:solidFill>
                <a:latin typeface="Segoe UI"/>
              </a:rPr>
              <a:t>Create the plan, getting started dashboard, and check-ins.</a:t>
            </a:r>
          </a:p>
        </p:txBody>
      </p:sp>
      <p:sp>
        <p:nvSpPr>
          <p:cNvPr id="16" name="Rounded Rectangle 15"/>
          <p:cNvSpPr/>
          <p:nvPr/>
        </p:nvSpPr>
        <p:spPr>
          <a:xfrm>
            <a:off x="3340608" y="1261872"/>
            <a:ext cx="2636520" cy="3456432"/>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40608" y="1261872"/>
            <a:ext cx="263652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7768" y="1463040"/>
            <a:ext cx="2362200" cy="274320"/>
          </a:xfrm>
          <a:prstGeom prst="rect">
            <a:avLst/>
          </a:prstGeom>
          <a:noFill/>
        </p:spPr>
        <p:txBody>
          <a:bodyPr wrap="square" lIns="27432" rIns="27432" tIns="18288" bIns="18288">
            <a:spAutoFit/>
          </a:bodyPr>
          <a:lstStyle/>
          <a:p>
            <a:r>
              <a:rPr sz="1300" b="1">
                <a:solidFill>
                  <a:srgbClr val="C73E78"/>
                </a:solidFill>
                <a:latin typeface="Segoe UI"/>
              </a:rPr>
              <a:t>Sales</a:t>
            </a:r>
          </a:p>
        </p:txBody>
      </p:sp>
      <p:sp>
        <p:nvSpPr>
          <p:cNvPr id="19" name="TextBox 18"/>
          <p:cNvSpPr txBox="1"/>
          <p:nvPr/>
        </p:nvSpPr>
        <p:spPr>
          <a:xfrm>
            <a:off x="3505200" y="1828800"/>
            <a:ext cx="2307336" cy="384048"/>
          </a:xfrm>
          <a:prstGeom prst="rect">
            <a:avLst/>
          </a:prstGeom>
          <a:noFill/>
        </p:spPr>
        <p:txBody>
          <a:bodyPr wrap="square" lIns="27432" rIns="27432" tIns="18288" bIns="18288">
            <a:spAutoFit/>
          </a:bodyPr>
          <a:lstStyle/>
          <a:p>
            <a:r>
              <a:rPr sz="800" b="1">
                <a:solidFill>
                  <a:srgbClr val="1B1B2C"/>
                </a:solidFill>
                <a:latin typeface="Segoe UI"/>
              </a:rPr>
              <a:t>Product launch customer pitch</a:t>
            </a:r>
          </a:p>
        </p:txBody>
      </p:sp>
      <p:sp>
        <p:nvSpPr>
          <p:cNvPr id="20" name="TextBox 19"/>
          <p:cNvSpPr txBox="1"/>
          <p:nvPr/>
        </p:nvSpPr>
        <p:spPr>
          <a:xfrm>
            <a:off x="3505200" y="2139696"/>
            <a:ext cx="2307336" cy="310896"/>
          </a:xfrm>
          <a:prstGeom prst="rect">
            <a:avLst/>
          </a:prstGeom>
          <a:noFill/>
        </p:spPr>
        <p:txBody>
          <a:bodyPr wrap="square" lIns="27432" rIns="27432" tIns="18288" bIns="18288">
            <a:spAutoFit/>
          </a:bodyPr>
          <a:lstStyle/>
          <a:p>
            <a:r>
              <a:rPr sz="700" b="0">
                <a:solidFill>
                  <a:srgbClr val="5A6078"/>
                </a:solidFill>
                <a:latin typeface="Segoe UI"/>
              </a:rPr>
              <a:t>Create the comparison, value prop, and customer-ready pitch deck.</a:t>
            </a:r>
          </a:p>
        </p:txBody>
      </p:sp>
      <p:sp>
        <p:nvSpPr>
          <p:cNvPr id="21" name="TextBox 20"/>
          <p:cNvSpPr txBox="1"/>
          <p:nvPr/>
        </p:nvSpPr>
        <p:spPr>
          <a:xfrm>
            <a:off x="3505200" y="2523744"/>
            <a:ext cx="2307336" cy="384048"/>
          </a:xfrm>
          <a:prstGeom prst="rect">
            <a:avLst/>
          </a:prstGeom>
          <a:noFill/>
        </p:spPr>
        <p:txBody>
          <a:bodyPr wrap="square" lIns="27432" rIns="27432" tIns="18288" bIns="18288">
            <a:spAutoFit/>
          </a:bodyPr>
          <a:lstStyle/>
          <a:p>
            <a:r>
              <a:rPr sz="800" b="1">
                <a:solidFill>
                  <a:srgbClr val="1B1B2C"/>
                </a:solidFill>
                <a:latin typeface="Segoe UI"/>
              </a:rPr>
              <a:t>New customer onboarding automation</a:t>
            </a:r>
          </a:p>
        </p:txBody>
      </p:sp>
      <p:sp>
        <p:nvSpPr>
          <p:cNvPr id="22" name="TextBox 21"/>
          <p:cNvSpPr txBox="1"/>
          <p:nvPr/>
        </p:nvSpPr>
        <p:spPr>
          <a:xfrm>
            <a:off x="3505200" y="2834639"/>
            <a:ext cx="2307336" cy="310896"/>
          </a:xfrm>
          <a:prstGeom prst="rect">
            <a:avLst/>
          </a:prstGeom>
          <a:noFill/>
        </p:spPr>
        <p:txBody>
          <a:bodyPr wrap="square" lIns="27432" rIns="27432" tIns="18288" bIns="18288">
            <a:spAutoFit/>
          </a:bodyPr>
          <a:lstStyle/>
          <a:p>
            <a:r>
              <a:rPr sz="700" b="0">
                <a:solidFill>
                  <a:srgbClr val="5A6078"/>
                </a:solidFill>
                <a:latin typeface="Segoe UI"/>
              </a:rPr>
              <a:t>Set up onboarding artifacts, team message, and welcome email.</a:t>
            </a:r>
          </a:p>
        </p:txBody>
      </p:sp>
      <p:sp>
        <p:nvSpPr>
          <p:cNvPr id="23" name="TextBox 22"/>
          <p:cNvSpPr txBox="1"/>
          <p:nvPr/>
        </p:nvSpPr>
        <p:spPr>
          <a:xfrm>
            <a:off x="3505200" y="3218687"/>
            <a:ext cx="2307336" cy="384048"/>
          </a:xfrm>
          <a:prstGeom prst="rect">
            <a:avLst/>
          </a:prstGeom>
          <a:noFill/>
        </p:spPr>
        <p:txBody>
          <a:bodyPr wrap="square" lIns="27432" rIns="27432" tIns="18288" bIns="18288">
            <a:spAutoFit/>
          </a:bodyPr>
          <a:lstStyle/>
          <a:p>
            <a:r>
              <a:rPr sz="800" b="1">
                <a:solidFill>
                  <a:srgbClr val="1B1B2C"/>
                </a:solidFill>
                <a:latin typeface="Segoe UI"/>
              </a:rPr>
              <a:t>Customer adoption materials</a:t>
            </a:r>
          </a:p>
        </p:txBody>
      </p:sp>
      <p:sp>
        <p:nvSpPr>
          <p:cNvPr id="24" name="TextBox 23"/>
          <p:cNvSpPr txBox="1"/>
          <p:nvPr/>
        </p:nvSpPr>
        <p:spPr>
          <a:xfrm>
            <a:off x="3505200" y="3529583"/>
            <a:ext cx="2307336" cy="310896"/>
          </a:xfrm>
          <a:prstGeom prst="rect">
            <a:avLst/>
          </a:prstGeom>
          <a:noFill/>
        </p:spPr>
        <p:txBody>
          <a:bodyPr wrap="square" lIns="27432" rIns="27432" tIns="18288" bIns="18288">
            <a:spAutoFit/>
          </a:bodyPr>
          <a:lstStyle/>
          <a:p>
            <a:r>
              <a:rPr sz="700" b="0">
                <a:solidFill>
                  <a:srgbClr val="5A6078"/>
                </a:solidFill>
                <a:latin typeface="Segoe UI"/>
              </a:rPr>
              <a:t>Build persona-tailored learning paths and rollout order.</a:t>
            </a:r>
          </a:p>
        </p:txBody>
      </p:sp>
      <p:sp>
        <p:nvSpPr>
          <p:cNvPr id="25" name="TextBox 24"/>
          <p:cNvSpPr txBox="1"/>
          <p:nvPr/>
        </p:nvSpPr>
        <p:spPr>
          <a:xfrm>
            <a:off x="3505200" y="3913631"/>
            <a:ext cx="2307336" cy="384048"/>
          </a:xfrm>
          <a:prstGeom prst="rect">
            <a:avLst/>
          </a:prstGeom>
          <a:noFill/>
        </p:spPr>
        <p:txBody>
          <a:bodyPr wrap="square" lIns="27432" rIns="27432" tIns="18288" bIns="18288">
            <a:spAutoFit/>
          </a:bodyPr>
          <a:lstStyle/>
          <a:p>
            <a:r>
              <a:rPr sz="800" b="1">
                <a:solidFill>
                  <a:srgbClr val="1B1B2C"/>
                </a:solidFill>
                <a:latin typeface="Segoe UI"/>
              </a:rPr>
              <a:t>ROI and value selling artifact</a:t>
            </a:r>
          </a:p>
        </p:txBody>
      </p:sp>
      <p:sp>
        <p:nvSpPr>
          <p:cNvPr id="26" name="TextBox 25"/>
          <p:cNvSpPr txBox="1"/>
          <p:nvPr/>
        </p:nvSpPr>
        <p:spPr>
          <a:xfrm>
            <a:off x="3505200" y="4224527"/>
            <a:ext cx="2307336" cy="310896"/>
          </a:xfrm>
          <a:prstGeom prst="rect">
            <a:avLst/>
          </a:prstGeom>
          <a:noFill/>
        </p:spPr>
        <p:txBody>
          <a:bodyPr wrap="square" lIns="27432" rIns="27432" tIns="18288" bIns="18288">
            <a:spAutoFit/>
          </a:bodyPr>
          <a:lstStyle/>
          <a:p>
            <a:r>
              <a:rPr sz="700" b="0">
                <a:solidFill>
                  <a:srgbClr val="5A6078"/>
                </a:solidFill>
                <a:latin typeface="Segoe UI"/>
              </a:rPr>
              <a:t>Produce an executive deck and microsite with use cases and ROI model.</a:t>
            </a:r>
          </a:p>
        </p:txBody>
      </p:sp>
      <p:sp>
        <p:nvSpPr>
          <p:cNvPr id="27" name="Rounded Rectangle 26"/>
          <p:cNvSpPr/>
          <p:nvPr/>
        </p:nvSpPr>
        <p:spPr>
          <a:xfrm>
            <a:off x="6132576" y="1261872"/>
            <a:ext cx="2636520" cy="3456432"/>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32576" y="1261872"/>
            <a:ext cx="263652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9736" y="1463040"/>
            <a:ext cx="2362200" cy="274320"/>
          </a:xfrm>
          <a:prstGeom prst="rect">
            <a:avLst/>
          </a:prstGeom>
          <a:noFill/>
        </p:spPr>
        <p:txBody>
          <a:bodyPr wrap="square" lIns="27432" rIns="27432" tIns="18288" bIns="18288">
            <a:spAutoFit/>
          </a:bodyPr>
          <a:lstStyle/>
          <a:p>
            <a:r>
              <a:rPr sz="1300" b="1">
                <a:solidFill>
                  <a:srgbClr val="C73E78"/>
                </a:solidFill>
                <a:latin typeface="Segoe UI"/>
              </a:rPr>
              <a:t>Marketing</a:t>
            </a:r>
          </a:p>
        </p:txBody>
      </p:sp>
      <p:sp>
        <p:nvSpPr>
          <p:cNvPr id="30" name="TextBox 29"/>
          <p:cNvSpPr txBox="1"/>
          <p:nvPr/>
        </p:nvSpPr>
        <p:spPr>
          <a:xfrm>
            <a:off x="6297168" y="1828800"/>
            <a:ext cx="2307336" cy="384048"/>
          </a:xfrm>
          <a:prstGeom prst="rect">
            <a:avLst/>
          </a:prstGeom>
          <a:noFill/>
        </p:spPr>
        <p:txBody>
          <a:bodyPr wrap="square" lIns="27432" rIns="27432" tIns="18288" bIns="18288">
            <a:spAutoFit/>
          </a:bodyPr>
          <a:lstStyle/>
          <a:p>
            <a:r>
              <a:rPr sz="800" b="1">
                <a:solidFill>
                  <a:srgbClr val="1B1B2C"/>
                </a:solidFill>
                <a:latin typeface="Segoe UI"/>
              </a:rPr>
              <a:t>Analyst briefing prep and rehearsal routing</a:t>
            </a:r>
          </a:p>
        </p:txBody>
      </p:sp>
      <p:sp>
        <p:nvSpPr>
          <p:cNvPr id="31" name="TextBox 30"/>
          <p:cNvSpPr txBox="1"/>
          <p:nvPr/>
        </p:nvSpPr>
        <p:spPr>
          <a:xfrm>
            <a:off x="6297168" y="2139696"/>
            <a:ext cx="2307336" cy="310896"/>
          </a:xfrm>
          <a:prstGeom prst="rect">
            <a:avLst/>
          </a:prstGeom>
          <a:noFill/>
        </p:spPr>
        <p:txBody>
          <a:bodyPr wrap="square" lIns="27432" rIns="27432" tIns="18288" bIns="18288">
            <a:spAutoFit/>
          </a:bodyPr>
          <a:lstStyle/>
          <a:p>
            <a:r>
              <a:rPr sz="700" b="0">
                <a:solidFill>
                  <a:srgbClr val="5A6078"/>
                </a:solidFill>
                <a:latin typeface="Segoe UI"/>
              </a:rPr>
              <a:t>Build a briefing dashboard and lock rehearsal time.</a:t>
            </a:r>
          </a:p>
        </p:txBody>
      </p:sp>
      <p:sp>
        <p:nvSpPr>
          <p:cNvPr id="32" name="TextBox 31"/>
          <p:cNvSpPr txBox="1"/>
          <p:nvPr/>
        </p:nvSpPr>
        <p:spPr>
          <a:xfrm>
            <a:off x="6297168" y="2523744"/>
            <a:ext cx="2307336" cy="384048"/>
          </a:xfrm>
          <a:prstGeom prst="rect">
            <a:avLst/>
          </a:prstGeom>
          <a:noFill/>
        </p:spPr>
        <p:txBody>
          <a:bodyPr wrap="square" lIns="27432" rIns="27432" tIns="18288" bIns="18288">
            <a:spAutoFit/>
          </a:bodyPr>
          <a:lstStyle/>
          <a:p>
            <a:r>
              <a:rPr sz="800" b="1">
                <a:solidFill>
                  <a:srgbClr val="1B1B2C"/>
                </a:solidFill>
                <a:latin typeface="Segoe UI"/>
              </a:rPr>
              <a:t>Messaging drift audit and remediation routing</a:t>
            </a:r>
          </a:p>
        </p:txBody>
      </p:sp>
      <p:sp>
        <p:nvSpPr>
          <p:cNvPr id="33" name="TextBox 32"/>
          <p:cNvSpPr txBox="1"/>
          <p:nvPr/>
        </p:nvSpPr>
        <p:spPr>
          <a:xfrm>
            <a:off x="6297168" y="2834639"/>
            <a:ext cx="2307336" cy="310896"/>
          </a:xfrm>
          <a:prstGeom prst="rect">
            <a:avLst/>
          </a:prstGeom>
          <a:noFill/>
        </p:spPr>
        <p:txBody>
          <a:bodyPr wrap="square" lIns="27432" rIns="27432" tIns="18288" bIns="18288">
            <a:spAutoFit/>
          </a:bodyPr>
          <a:lstStyle/>
          <a:p>
            <a:r>
              <a:rPr sz="700" b="0">
                <a:solidFill>
                  <a:srgbClr val="5A6078"/>
                </a:solidFill>
                <a:latin typeface="Segoe UI"/>
              </a:rPr>
              <a:t>Flag inconsistencies with severity, fix, and owner.</a:t>
            </a:r>
          </a:p>
        </p:txBody>
      </p:sp>
      <p:sp>
        <p:nvSpPr>
          <p:cNvPr id="34" name="TextBox 33"/>
          <p:cNvSpPr txBox="1"/>
          <p:nvPr/>
        </p:nvSpPr>
        <p:spPr>
          <a:xfrm>
            <a:off x="6297168" y="3218687"/>
            <a:ext cx="2307336" cy="384048"/>
          </a:xfrm>
          <a:prstGeom prst="rect">
            <a:avLst/>
          </a:prstGeom>
          <a:noFill/>
        </p:spPr>
        <p:txBody>
          <a:bodyPr wrap="square" lIns="27432" rIns="27432" tIns="18288" bIns="18288">
            <a:spAutoFit/>
          </a:bodyPr>
          <a:lstStyle/>
          <a:p>
            <a:r>
              <a:rPr sz="800" b="1">
                <a:solidFill>
                  <a:srgbClr val="1B1B2C"/>
                </a:solidFill>
                <a:latin typeface="Segoe UI"/>
              </a:rPr>
              <a:t>Scheduled customer signal activation</a:t>
            </a:r>
          </a:p>
        </p:txBody>
      </p:sp>
      <p:sp>
        <p:nvSpPr>
          <p:cNvPr id="35" name="TextBox 34"/>
          <p:cNvSpPr txBox="1"/>
          <p:nvPr/>
        </p:nvSpPr>
        <p:spPr>
          <a:xfrm>
            <a:off x="6297168" y="3529583"/>
            <a:ext cx="2307336" cy="310896"/>
          </a:xfrm>
          <a:prstGeom prst="rect">
            <a:avLst/>
          </a:prstGeom>
          <a:noFill/>
        </p:spPr>
        <p:txBody>
          <a:bodyPr wrap="square" lIns="27432" rIns="27432" tIns="18288" bIns="18288">
            <a:spAutoFit/>
          </a:bodyPr>
          <a:lstStyle/>
          <a:p>
            <a:r>
              <a:rPr sz="700" b="0">
                <a:solidFill>
                  <a:srgbClr val="5A6078"/>
                </a:solidFill>
                <a:latin typeface="Segoe UI"/>
              </a:rPr>
              <a:t>Create a Friday brief with themes and campaign adjustments.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1B1B2C"/>
                </a:solidFill>
                <a:latin typeface="Segoe UI"/>
              </a:rPr>
              <a:t>Rebalance your week and protect focus time</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5A6078"/>
                </a:solidFill>
                <a:latin typeface="Segoe UI"/>
              </a:rPr>
              <a:t>COWORK LIGHT TASK</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7863840" cy="269748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86384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325880" cy="384048"/>
          </a:xfrm>
          <a:prstGeom prst="rect">
            <a:avLst/>
          </a:prstGeom>
          <a:noFill/>
        </p:spPr>
        <p:txBody>
          <a:bodyPr wrap="square" lIns="27432" rIns="27432" tIns="18288" bIns="18288">
            <a:spAutoFit/>
          </a:bodyPr>
          <a:lstStyle/>
          <a:p>
            <a:pPr algn="ctr"/>
            <a:r>
              <a:rPr sz="2000" b="1">
                <a:solidFill>
                  <a:srgbClr val="3E8E22"/>
                </a:solidFill>
                <a:latin typeface="Segoe UI"/>
              </a:rPr>
              <a:t>Light</a:t>
            </a:r>
          </a:p>
        </p:txBody>
      </p:sp>
      <p:sp>
        <p:nvSpPr>
          <p:cNvPr id="8" name="TextBox 7"/>
          <p:cNvSpPr txBox="1"/>
          <p:nvPr/>
        </p:nvSpPr>
        <p:spPr>
          <a:xfrm>
            <a:off x="2423160" y="1627632"/>
            <a:ext cx="5577840" cy="658368"/>
          </a:xfrm>
          <a:prstGeom prst="rect">
            <a:avLst/>
          </a:prstGeom>
          <a:noFill/>
        </p:spPr>
        <p:txBody>
          <a:bodyPr wrap="square" lIns="27432" rIns="27432" tIns="18288" bIns="18288">
            <a:spAutoFit/>
          </a:bodyPr>
          <a:lstStyle/>
          <a:p>
            <a:r>
              <a:rPr sz="1300" b="0">
                <a:solidFill>
                  <a:srgbClr val="5A6078"/>
                </a:solidFill>
                <a:latin typeface="Segoe UI"/>
              </a:rPr>
              <a:t>Quick, single-purpose handoff. Cowork pulls from one or two sources and returns a ready-to-use artifact in minutes.</a:t>
            </a:r>
          </a:p>
        </p:txBody>
      </p:sp>
      <p:sp>
        <p:nvSpPr>
          <p:cNvPr id="9" name="TextBox 8"/>
          <p:cNvSpPr txBox="1"/>
          <p:nvPr/>
        </p:nvSpPr>
        <p:spPr>
          <a:xfrm>
            <a:off x="914400" y="2560320"/>
            <a:ext cx="1005840" cy="237744"/>
          </a:xfrm>
          <a:prstGeom prst="rect">
            <a:avLst/>
          </a:prstGeom>
          <a:noFill/>
        </p:spPr>
        <p:txBody>
          <a:bodyPr wrap="square" lIns="27432" rIns="27432" tIns="18288" bIns="18288">
            <a:spAutoFit/>
          </a:bodyPr>
          <a:lstStyle/>
          <a:p>
            <a:r>
              <a:rPr sz="1300" b="1">
                <a:solidFill>
                  <a:srgbClr val="1B1B2C"/>
                </a:solidFill>
                <a:latin typeface="Segoe UI"/>
              </a:rPr>
              <a:t>Goal</a:t>
            </a:r>
          </a:p>
        </p:txBody>
      </p:sp>
      <p:sp>
        <p:nvSpPr>
          <p:cNvPr id="10" name="TextBox 9"/>
          <p:cNvSpPr txBox="1"/>
          <p:nvPr/>
        </p:nvSpPr>
        <p:spPr>
          <a:xfrm>
            <a:off x="1874519" y="2542032"/>
            <a:ext cx="6263640" cy="384048"/>
          </a:xfrm>
          <a:prstGeom prst="rect">
            <a:avLst/>
          </a:prstGeom>
          <a:noFill/>
        </p:spPr>
        <p:txBody>
          <a:bodyPr wrap="square" lIns="27432" rIns="27432" tIns="18288" bIns="18288">
            <a:spAutoFit/>
          </a:bodyPr>
          <a:lstStyle/>
          <a:p>
            <a:r>
              <a:rPr sz="1200" b="0">
                <a:solidFill>
                  <a:srgbClr val="1B1B2C"/>
                </a:solidFill>
                <a:latin typeface="Segoe UI"/>
              </a:rPr>
              <a:t>Take control of a fragmented calendar before it takes control of your week.</a:t>
            </a:r>
          </a:p>
        </p:txBody>
      </p:sp>
      <p:sp>
        <p:nvSpPr>
          <p:cNvPr id="11" name="TextBox 10"/>
          <p:cNvSpPr txBox="1"/>
          <p:nvPr/>
        </p:nvSpPr>
        <p:spPr>
          <a:xfrm>
            <a:off x="914400" y="3218688"/>
            <a:ext cx="1234440" cy="237744"/>
          </a:xfrm>
          <a:prstGeom prst="rect">
            <a:avLst/>
          </a:prstGeom>
          <a:noFill/>
        </p:spPr>
        <p:txBody>
          <a:bodyPr wrap="square" lIns="27432" rIns="27432" tIns="18288" bIns="18288">
            <a:spAutoFit/>
          </a:bodyPr>
          <a:lstStyle/>
          <a:p>
            <a:r>
              <a:rPr sz="1300" b="1">
                <a:solidFill>
                  <a:srgbClr val="1B1B2C"/>
                </a:solidFill>
                <a:latin typeface="Segoe UI"/>
              </a:rPr>
              <a:t>Outcome</a:t>
            </a:r>
          </a:p>
        </p:txBody>
      </p:sp>
      <p:sp>
        <p:nvSpPr>
          <p:cNvPr id="12" name="TextBox 11"/>
          <p:cNvSpPr txBox="1"/>
          <p:nvPr/>
        </p:nvSpPr>
        <p:spPr>
          <a:xfrm>
            <a:off x="1874519" y="3182112"/>
            <a:ext cx="6263640" cy="438912"/>
          </a:xfrm>
          <a:prstGeom prst="rect">
            <a:avLst/>
          </a:prstGeom>
          <a:noFill/>
        </p:spPr>
        <p:txBody>
          <a:bodyPr wrap="square" lIns="27432" rIns="27432" tIns="18288" bIns="18288">
            <a:spAutoFit/>
          </a:bodyPr>
          <a:lstStyle/>
          <a:p>
            <a:r>
              <a:rPr sz="1200" b="0">
                <a:solidFill>
                  <a:srgbClr val="1B1B2C"/>
                </a:solidFill>
                <a:latin typeface="Segoe UI"/>
              </a:rPr>
              <a:t>A rebalanced schedule that protects focus time, prioritizes high-impact meetings, and resolves conflicts, without manually negotiating your own availability.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1B1B2C"/>
                </a:solidFill>
                <a:latin typeface="Segoe UI"/>
              </a:rPr>
              <a:t>Goal, outcome, prompt, flow</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5A6078"/>
                </a:solidFill>
                <a:latin typeface="Segoe UI"/>
              </a:rPr>
              <a:t>REBALANCE YOUR WEEK AND PROTECT FOCUS TIME</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98448"/>
            <a:ext cx="3886200" cy="3273552"/>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88620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83280" cy="256032"/>
          </a:xfrm>
          <a:prstGeom prst="rect">
            <a:avLst/>
          </a:prstGeom>
          <a:noFill/>
        </p:spPr>
        <p:txBody>
          <a:bodyPr wrap="square" lIns="27432" rIns="27432" tIns="18288" bIns="18288">
            <a:spAutoFit/>
          </a:bodyPr>
          <a:lstStyle/>
          <a:p>
            <a:r>
              <a:rPr sz="1300" b="1">
                <a:solidFill>
                  <a:srgbClr val="1B1B2C"/>
                </a:solidFill>
                <a:latin typeface="Segoe UI"/>
              </a:rPr>
              <a:t>Prompt to give Cowork</a:t>
            </a:r>
          </a:p>
        </p:txBody>
      </p:sp>
      <p:sp>
        <p:nvSpPr>
          <p:cNvPr id="8" name="TextBox 7"/>
          <p:cNvSpPr txBox="1"/>
          <p:nvPr/>
        </p:nvSpPr>
        <p:spPr>
          <a:xfrm>
            <a:off x="749808" y="1883664"/>
            <a:ext cx="3383280" cy="2240280"/>
          </a:xfrm>
          <a:prstGeom prst="rect">
            <a:avLst/>
          </a:prstGeom>
          <a:noFill/>
        </p:spPr>
        <p:txBody>
          <a:bodyPr wrap="square" lIns="27432" rIns="27432" tIns="18288" bIns="18288">
            <a:spAutoFit/>
          </a:bodyPr>
          <a:lstStyle/>
          <a:p>
            <a:r>
              <a:rPr sz="900" b="0">
                <a:solidFill>
                  <a:srgbClr val="5A6078"/>
                </a:solidFill>
                <a:latin typeface="Segoe UI"/>
              </a:rPr>
              <a:t>Help me organize my week. Review my Outlook calendar. First, show me a summary: Total meetings and hours spent, where I have focus time (2+ hours), and days with the most meetings. Before taking changes, ask clarifying questions: my manager and management chain, note if they are on a meeting, how many attendees, what I'm trying to accomplish this week, how to prioritize conflicts, personal commitments, and which meetings to...</a:t>
            </a:r>
          </a:p>
        </p:txBody>
      </p:sp>
      <p:sp>
        <p:nvSpPr>
          <p:cNvPr id="9" name="Rounded Rectangle 8"/>
          <p:cNvSpPr/>
          <p:nvPr/>
        </p:nvSpPr>
        <p:spPr>
          <a:xfrm>
            <a:off x="4663440" y="1298448"/>
            <a:ext cx="3977639" cy="3273552"/>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298448"/>
            <a:ext cx="3977639"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554480"/>
            <a:ext cx="3383280" cy="256032"/>
          </a:xfrm>
          <a:prstGeom prst="rect">
            <a:avLst/>
          </a:prstGeom>
          <a:noFill/>
        </p:spPr>
        <p:txBody>
          <a:bodyPr wrap="square" lIns="27432" rIns="27432" tIns="18288" bIns="18288">
            <a:spAutoFit/>
          </a:bodyPr>
          <a:lstStyle/>
          <a:p>
            <a:r>
              <a:rPr sz="1300" b="1">
                <a:solidFill>
                  <a:srgbClr val="1B1B2C"/>
                </a:solidFill>
                <a:latin typeface="Segoe UI"/>
              </a:rPr>
              <a:t>Execution flow</a:t>
            </a:r>
          </a:p>
        </p:txBody>
      </p:sp>
      <p:sp>
        <p:nvSpPr>
          <p:cNvPr id="12" name="TextBox 11"/>
          <p:cNvSpPr txBox="1"/>
          <p:nvPr/>
        </p:nvSpPr>
        <p:spPr>
          <a:xfrm>
            <a:off x="4892040" y="1874519"/>
            <a:ext cx="3429000" cy="1783080"/>
          </a:xfrm>
          <a:prstGeom prst="rect">
            <a:avLst/>
          </a:prstGeom>
          <a:noFill/>
        </p:spPr>
        <p:txBody>
          <a:bodyPr wrap="none" lIns="73152" rIns="73152" tIns="36576">
            <a:spAutoFit/>
          </a:bodyPr>
          <a:lstStyle/>
          <a:p>
            <a:pPr>
              <a:spcAft>
                <a:spcPts val="500"/>
              </a:spcAft>
              <a:defRPr sz="1000">
                <a:solidFill>
                  <a:srgbClr val="1B1B2C"/>
                </a:solidFill>
                <a:latin typeface="Segoe UI"/>
              </a:defRPr>
            </a:pPr>
            <a:r>
              <a:t>• Calendar -&gt; Summarize meeting load + focus time</a:t>
            </a:r>
          </a:p>
          <a:p>
            <a:pPr>
              <a:spcAft>
                <a:spcPts val="500"/>
              </a:spcAft>
              <a:defRPr sz="1000">
                <a:solidFill>
                  <a:srgbClr val="1B1B2C"/>
                </a:solidFill>
                <a:latin typeface="Segoe UI"/>
              </a:defRPr>
            </a:pPr>
            <a:r>
              <a:t>• Clarify -&gt; Weekly goals + constraints</a:t>
            </a:r>
          </a:p>
          <a:p>
            <a:pPr>
              <a:spcAft>
                <a:spcPts val="500"/>
              </a:spcAft>
              <a:defRPr sz="1000">
                <a:solidFill>
                  <a:srgbClr val="1B1B2C"/>
                </a:solidFill>
                <a:latin typeface="Segoe UI"/>
              </a:defRPr>
            </a:pPr>
            <a:r>
              <a:t>• Evaluate -&gt; Meeting impact + conflicts</a:t>
            </a:r>
          </a:p>
          <a:p>
            <a:pPr>
              <a:spcAft>
                <a:spcPts val="500"/>
              </a:spcAft>
              <a:defRPr sz="1000">
                <a:solidFill>
                  <a:srgbClr val="1B1B2C"/>
                </a:solidFill>
                <a:latin typeface="Segoe UI"/>
              </a:defRPr>
            </a:pPr>
            <a:r>
              <a:t>• Propose -&gt; Accept / decline / reschedule</a:t>
            </a:r>
          </a:p>
          <a:p>
            <a:pPr>
              <a:spcAft>
                <a:spcPts val="500"/>
              </a:spcAft>
              <a:defRPr sz="1000">
                <a:solidFill>
                  <a:srgbClr val="1B1B2C"/>
                </a:solidFill>
                <a:latin typeface="Segoe UI"/>
              </a:defRPr>
            </a:pPr>
            <a:r>
              <a:t>• Recommend -&gt; Add focus blocks</a:t>
            </a:r>
          </a:p>
        </p:txBody>
      </p:sp>
      <p:sp>
        <p:nvSpPr>
          <p:cNvPr id="13" name="TextBox 12"/>
          <p:cNvSpPr txBox="1"/>
          <p:nvPr/>
        </p:nvSpPr>
        <p:spPr>
          <a:xfrm>
            <a:off x="4910328" y="3968496"/>
            <a:ext cx="530352" cy="182880"/>
          </a:xfrm>
          <a:prstGeom prst="rect">
            <a:avLst/>
          </a:prstGeom>
          <a:noFill/>
        </p:spPr>
        <p:txBody>
          <a:bodyPr wrap="square" lIns="27432" rIns="27432" tIns="18288" bIns="18288">
            <a:spAutoFit/>
          </a:bodyPr>
          <a:lstStyle/>
          <a:p>
            <a:r>
              <a:rPr sz="900" b="1">
                <a:solidFill>
                  <a:srgbClr val="1B1B2C"/>
                </a:solidFill>
                <a:latin typeface="Segoe UI"/>
              </a:rPr>
              <a:t>Note:</a:t>
            </a:r>
          </a:p>
        </p:txBody>
      </p:sp>
      <p:sp>
        <p:nvSpPr>
          <p:cNvPr id="14" name="TextBox 13"/>
          <p:cNvSpPr txBox="1"/>
          <p:nvPr/>
        </p:nvSpPr>
        <p:spPr>
          <a:xfrm>
            <a:off x="5440680" y="3950208"/>
            <a:ext cx="2926080" cy="411480"/>
          </a:xfrm>
          <a:prstGeom prst="rect">
            <a:avLst/>
          </a:prstGeom>
          <a:noFill/>
        </p:spPr>
        <p:txBody>
          <a:bodyPr wrap="square" lIns="27432" rIns="27432" tIns="18288" bIns="18288">
            <a:spAutoFit/>
          </a:bodyPr>
          <a:lstStyle/>
          <a:p>
            <a:r>
              <a:rPr sz="800" b="0">
                <a:solidFill>
                  <a:srgbClr val="5A6078"/>
                </a:solidFill>
                <a:latin typeface="Segoe UI"/>
              </a:rPr>
              <a:t>You can schedule this to run automatically by starting your prompt with "Create a skill where this occurs every Monday morning."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1B1B2C"/>
                </a:solidFill>
                <a:latin typeface="Segoe UI"/>
              </a:rPr>
              <a:t>Wrap up projects and organize all related work</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5A6078"/>
                </a:solidFill>
                <a:latin typeface="Segoe UI"/>
              </a:rPr>
              <a:t>COWORK LIGHT TASK</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7863840" cy="269748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86384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325880" cy="384048"/>
          </a:xfrm>
          <a:prstGeom prst="rect">
            <a:avLst/>
          </a:prstGeom>
          <a:noFill/>
        </p:spPr>
        <p:txBody>
          <a:bodyPr wrap="square" lIns="27432" rIns="27432" tIns="18288" bIns="18288">
            <a:spAutoFit/>
          </a:bodyPr>
          <a:lstStyle/>
          <a:p>
            <a:pPr algn="ctr"/>
            <a:r>
              <a:rPr sz="2000" b="1">
                <a:solidFill>
                  <a:srgbClr val="3E8E22"/>
                </a:solidFill>
                <a:latin typeface="Segoe UI"/>
              </a:rPr>
              <a:t>Light</a:t>
            </a:r>
          </a:p>
        </p:txBody>
      </p:sp>
      <p:sp>
        <p:nvSpPr>
          <p:cNvPr id="8" name="TextBox 7"/>
          <p:cNvSpPr txBox="1"/>
          <p:nvPr/>
        </p:nvSpPr>
        <p:spPr>
          <a:xfrm>
            <a:off x="2423160" y="1627632"/>
            <a:ext cx="5577840" cy="658368"/>
          </a:xfrm>
          <a:prstGeom prst="rect">
            <a:avLst/>
          </a:prstGeom>
          <a:noFill/>
        </p:spPr>
        <p:txBody>
          <a:bodyPr wrap="square" lIns="27432" rIns="27432" tIns="18288" bIns="18288">
            <a:spAutoFit/>
          </a:bodyPr>
          <a:lstStyle/>
          <a:p>
            <a:r>
              <a:rPr sz="1300" b="0">
                <a:solidFill>
                  <a:srgbClr val="5A6078"/>
                </a:solidFill>
                <a:latin typeface="Segoe UI"/>
              </a:rPr>
              <a:t>Quick, single-purpose handoff. Cowork pulls from one or two sources and returns a ready-to-use artifact in minutes.</a:t>
            </a:r>
          </a:p>
        </p:txBody>
      </p:sp>
      <p:sp>
        <p:nvSpPr>
          <p:cNvPr id="9" name="TextBox 8"/>
          <p:cNvSpPr txBox="1"/>
          <p:nvPr/>
        </p:nvSpPr>
        <p:spPr>
          <a:xfrm>
            <a:off x="914400" y="2560320"/>
            <a:ext cx="1005840" cy="237744"/>
          </a:xfrm>
          <a:prstGeom prst="rect">
            <a:avLst/>
          </a:prstGeom>
          <a:noFill/>
        </p:spPr>
        <p:txBody>
          <a:bodyPr wrap="square" lIns="27432" rIns="27432" tIns="18288" bIns="18288">
            <a:spAutoFit/>
          </a:bodyPr>
          <a:lstStyle/>
          <a:p>
            <a:r>
              <a:rPr sz="1300" b="1">
                <a:solidFill>
                  <a:srgbClr val="1B1B2C"/>
                </a:solidFill>
                <a:latin typeface="Segoe UI"/>
              </a:rPr>
              <a:t>Goal</a:t>
            </a:r>
          </a:p>
        </p:txBody>
      </p:sp>
      <p:sp>
        <p:nvSpPr>
          <p:cNvPr id="10" name="TextBox 9"/>
          <p:cNvSpPr txBox="1"/>
          <p:nvPr/>
        </p:nvSpPr>
        <p:spPr>
          <a:xfrm>
            <a:off x="1874519" y="2542032"/>
            <a:ext cx="6263640" cy="384048"/>
          </a:xfrm>
          <a:prstGeom prst="rect">
            <a:avLst/>
          </a:prstGeom>
          <a:noFill/>
        </p:spPr>
        <p:txBody>
          <a:bodyPr wrap="square" lIns="27432" rIns="27432" tIns="18288" bIns="18288">
            <a:spAutoFit/>
          </a:bodyPr>
          <a:lstStyle/>
          <a:p>
            <a:r>
              <a:rPr sz="1200" b="0">
                <a:solidFill>
                  <a:srgbClr val="1B1B2C"/>
                </a:solidFill>
                <a:latin typeface="Segoe UI"/>
              </a:rPr>
              <a:t>Close out a project with a clean, shareable archive, not a scattered trail of files.</a:t>
            </a:r>
          </a:p>
        </p:txBody>
      </p:sp>
      <p:sp>
        <p:nvSpPr>
          <p:cNvPr id="11" name="TextBox 10"/>
          <p:cNvSpPr txBox="1"/>
          <p:nvPr/>
        </p:nvSpPr>
        <p:spPr>
          <a:xfrm>
            <a:off x="914400" y="3218688"/>
            <a:ext cx="1234440" cy="237744"/>
          </a:xfrm>
          <a:prstGeom prst="rect">
            <a:avLst/>
          </a:prstGeom>
          <a:noFill/>
        </p:spPr>
        <p:txBody>
          <a:bodyPr wrap="square" lIns="27432" rIns="27432" tIns="18288" bIns="18288">
            <a:spAutoFit/>
          </a:bodyPr>
          <a:lstStyle/>
          <a:p>
            <a:r>
              <a:rPr sz="1300" b="1">
                <a:solidFill>
                  <a:srgbClr val="1B1B2C"/>
                </a:solidFill>
                <a:latin typeface="Segoe UI"/>
              </a:rPr>
              <a:t>Outcome</a:t>
            </a:r>
          </a:p>
        </p:txBody>
      </p:sp>
      <p:sp>
        <p:nvSpPr>
          <p:cNvPr id="12" name="TextBox 11"/>
          <p:cNvSpPr txBox="1"/>
          <p:nvPr/>
        </p:nvSpPr>
        <p:spPr>
          <a:xfrm>
            <a:off x="1874519" y="3182112"/>
            <a:ext cx="6263640" cy="438912"/>
          </a:xfrm>
          <a:prstGeom prst="rect">
            <a:avLst/>
          </a:prstGeom>
          <a:noFill/>
        </p:spPr>
        <p:txBody>
          <a:bodyPr wrap="square" lIns="27432" rIns="27432" tIns="18288" bIns="18288">
            <a:spAutoFit/>
          </a:bodyPr>
          <a:lstStyle/>
          <a:p>
            <a:r>
              <a:rPr sz="1200" b="0">
                <a:solidFill>
                  <a:srgbClr val="1B1B2C"/>
                </a:solidFill>
                <a:latin typeface="Segoe UI"/>
              </a:rPr>
              <a:t>A single OneDrive folder with the project's deliverables and references, shared with the team so the work stays findable and easy to reference.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1B1B2C"/>
                </a:solidFill>
                <a:latin typeface="Segoe UI"/>
              </a:rPr>
              <a:t>Goal, outcome, prompt, flow</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5A6078"/>
                </a:solidFill>
                <a:latin typeface="Segoe UI"/>
              </a:rPr>
              <a:t>WRAP UP PROJECTS AND ORGANIZE ALL RELATED WORK</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98448"/>
            <a:ext cx="3886200" cy="3273552"/>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88620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83280" cy="256032"/>
          </a:xfrm>
          <a:prstGeom prst="rect">
            <a:avLst/>
          </a:prstGeom>
          <a:noFill/>
        </p:spPr>
        <p:txBody>
          <a:bodyPr wrap="square" lIns="27432" rIns="27432" tIns="18288" bIns="18288">
            <a:spAutoFit/>
          </a:bodyPr>
          <a:lstStyle/>
          <a:p>
            <a:r>
              <a:rPr sz="1300" b="1">
                <a:solidFill>
                  <a:srgbClr val="1B1B2C"/>
                </a:solidFill>
                <a:latin typeface="Segoe UI"/>
              </a:rPr>
              <a:t>Prompt to give Cowork</a:t>
            </a:r>
          </a:p>
        </p:txBody>
      </p:sp>
      <p:sp>
        <p:nvSpPr>
          <p:cNvPr id="8" name="TextBox 7"/>
          <p:cNvSpPr txBox="1"/>
          <p:nvPr/>
        </p:nvSpPr>
        <p:spPr>
          <a:xfrm>
            <a:off x="749808" y="1883664"/>
            <a:ext cx="3383280" cy="2240280"/>
          </a:xfrm>
          <a:prstGeom prst="rect">
            <a:avLst/>
          </a:prstGeom>
          <a:noFill/>
        </p:spPr>
        <p:txBody>
          <a:bodyPr wrap="square" lIns="27432" rIns="27432" tIns="18288" bIns="18288">
            <a:spAutoFit/>
          </a:bodyPr>
          <a:lstStyle/>
          <a:p>
            <a:r>
              <a:rPr sz="900" b="0">
                <a:solidFill>
                  <a:srgbClr val="5A6078"/>
                </a:solidFill>
                <a:latin typeface="Segoe UI"/>
              </a:rPr>
              <a:t>I just wrapped up the [Project Name] project. Find all files in my OneDrive related to this project, docs, decks, spreadsheets. Create a new folder called "[Project Name], Archive" and move everything into it. Share the archive folder with the [Project Name] team so they have a clean reference. Then build a lightweight HTML recap page for the archive, project outcomes, key contributors, links to the headline deliverables,...</a:t>
            </a:r>
          </a:p>
        </p:txBody>
      </p:sp>
      <p:sp>
        <p:nvSpPr>
          <p:cNvPr id="9" name="Rounded Rectangle 8"/>
          <p:cNvSpPr/>
          <p:nvPr/>
        </p:nvSpPr>
        <p:spPr>
          <a:xfrm>
            <a:off x="4663440" y="1298448"/>
            <a:ext cx="3977639" cy="3273552"/>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298448"/>
            <a:ext cx="3977639"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554480"/>
            <a:ext cx="3383280" cy="256032"/>
          </a:xfrm>
          <a:prstGeom prst="rect">
            <a:avLst/>
          </a:prstGeom>
          <a:noFill/>
        </p:spPr>
        <p:txBody>
          <a:bodyPr wrap="square" lIns="27432" rIns="27432" tIns="18288" bIns="18288">
            <a:spAutoFit/>
          </a:bodyPr>
          <a:lstStyle/>
          <a:p>
            <a:r>
              <a:rPr sz="1300" b="1">
                <a:solidFill>
                  <a:srgbClr val="1B1B2C"/>
                </a:solidFill>
                <a:latin typeface="Segoe UI"/>
              </a:rPr>
              <a:t>Execution flow</a:t>
            </a:r>
          </a:p>
        </p:txBody>
      </p:sp>
      <p:sp>
        <p:nvSpPr>
          <p:cNvPr id="12" name="TextBox 11"/>
          <p:cNvSpPr txBox="1"/>
          <p:nvPr/>
        </p:nvSpPr>
        <p:spPr>
          <a:xfrm>
            <a:off x="4892040" y="1874519"/>
            <a:ext cx="3429000" cy="2148840"/>
          </a:xfrm>
          <a:prstGeom prst="rect">
            <a:avLst/>
          </a:prstGeom>
          <a:noFill/>
        </p:spPr>
        <p:txBody>
          <a:bodyPr wrap="none" lIns="73152" rIns="73152" tIns="36576">
            <a:spAutoFit/>
          </a:bodyPr>
          <a:lstStyle/>
          <a:p>
            <a:pPr>
              <a:spcAft>
                <a:spcPts val="500"/>
              </a:spcAft>
              <a:defRPr sz="1000">
                <a:solidFill>
                  <a:srgbClr val="1B1B2C"/>
                </a:solidFill>
                <a:latin typeface="Segoe UI"/>
              </a:defRPr>
            </a:pPr>
            <a:r>
              <a:t>• OneDrive -&gt; Locate project files</a:t>
            </a:r>
          </a:p>
          <a:p>
            <a:pPr>
              <a:spcAft>
                <a:spcPts val="500"/>
              </a:spcAft>
              <a:defRPr sz="1000">
                <a:solidFill>
                  <a:srgbClr val="1B1B2C"/>
                </a:solidFill>
                <a:latin typeface="Segoe UI"/>
              </a:defRPr>
            </a:pPr>
            <a:r>
              <a:t>• Classify -&gt; Docs / decks / spreadsheets</a:t>
            </a:r>
          </a:p>
          <a:p>
            <a:pPr>
              <a:spcAft>
                <a:spcPts val="500"/>
              </a:spcAft>
              <a:defRPr sz="1000">
                <a:solidFill>
                  <a:srgbClr val="1B1B2C"/>
                </a:solidFill>
                <a:latin typeface="Segoe UI"/>
              </a:defRPr>
            </a:pPr>
            <a:r>
              <a:t>• Create -&gt; Archive folder</a:t>
            </a:r>
          </a:p>
          <a:p>
            <a:pPr>
              <a:spcAft>
                <a:spcPts val="500"/>
              </a:spcAft>
              <a:defRPr sz="1000">
                <a:solidFill>
                  <a:srgbClr val="1B1B2C"/>
                </a:solidFill>
                <a:latin typeface="Segoe UI"/>
              </a:defRPr>
            </a:pPr>
            <a:r>
              <a:t>• Move -&gt; Related artifacts</a:t>
            </a:r>
          </a:p>
          <a:p>
            <a:pPr>
              <a:spcAft>
                <a:spcPts val="500"/>
              </a:spcAft>
              <a:defRPr sz="1000">
                <a:solidFill>
                  <a:srgbClr val="1B1B2C"/>
                </a:solidFill>
                <a:latin typeface="Segoe UI"/>
              </a:defRPr>
            </a:pPr>
            <a:r>
              <a:t>• Share -&gt; Archive folder</a:t>
            </a:r>
          </a:p>
        </p:txBody>
      </p:sp>
      <p:sp>
        <p:nvSpPr>
          <p:cNvPr id="13" name="TextBox 12"/>
          <p:cNvSpPr txBox="1"/>
          <p:nvPr/>
        </p:nvSpPr>
        <p:spPr>
          <a:xfrm>
            <a:off x="4910328" y="4133087"/>
            <a:ext cx="3337560" cy="310896"/>
          </a:xfrm>
          <a:prstGeom prst="rect">
            <a:avLst/>
          </a:prstGeom>
          <a:noFill/>
        </p:spPr>
        <p:txBody>
          <a:bodyPr wrap="square" lIns="27432" rIns="27432" tIns="18288" bIns="18288">
            <a:spAutoFit/>
          </a:bodyPr>
          <a:lstStyle/>
          <a:p>
            <a:r>
              <a:rPr sz="1000" b="0">
                <a:solidFill>
                  <a:srgbClr val="5A6078"/>
                </a:solidFill>
                <a:latin typeface="Segoe UI"/>
              </a:rPr>
              <a:t>A single OneDrive folder with the project's deliverables and references, shared with the team so the work stays findable and easy to...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1B1B2C"/>
                </a:solidFill>
                <a:latin typeface="Segoe UI"/>
              </a:rPr>
              <a:t>Turn inbox noise into a curated intelligence brief</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5A6078"/>
                </a:solidFill>
                <a:latin typeface="Segoe UI"/>
              </a:rPr>
              <a:t>COWORK MEDIUM TASK</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7863840" cy="269748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86384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325880" cy="384048"/>
          </a:xfrm>
          <a:prstGeom prst="rect">
            <a:avLst/>
          </a:prstGeom>
          <a:noFill/>
        </p:spPr>
        <p:txBody>
          <a:bodyPr wrap="square" lIns="27432" rIns="27432" tIns="18288" bIns="18288">
            <a:spAutoFit/>
          </a:bodyPr>
          <a:lstStyle/>
          <a:p>
            <a:pPr algn="ctr"/>
            <a:r>
              <a:rPr sz="2000" b="1">
                <a:solidFill>
                  <a:srgbClr val="0E8E92"/>
                </a:solidFill>
                <a:latin typeface="Segoe UI"/>
              </a:rPr>
              <a:t>Medium</a:t>
            </a:r>
          </a:p>
        </p:txBody>
      </p:sp>
      <p:sp>
        <p:nvSpPr>
          <p:cNvPr id="8" name="TextBox 7"/>
          <p:cNvSpPr txBox="1"/>
          <p:nvPr/>
        </p:nvSpPr>
        <p:spPr>
          <a:xfrm>
            <a:off x="2423160" y="1627632"/>
            <a:ext cx="5577840" cy="658368"/>
          </a:xfrm>
          <a:prstGeom prst="rect">
            <a:avLst/>
          </a:prstGeom>
          <a:noFill/>
        </p:spPr>
        <p:txBody>
          <a:bodyPr wrap="square" lIns="27432" rIns="27432" tIns="18288" bIns="18288">
            <a:spAutoFit/>
          </a:bodyPr>
          <a:lstStyle/>
          <a:p>
            <a:r>
              <a:rPr sz="1300" b="0">
                <a:solidFill>
                  <a:srgbClr val="5A6078"/>
                </a:solidFill>
                <a:latin typeface="Segoe UI"/>
              </a:rPr>
              <a:t>Recurring multi-step work. Cowork reasons across several sources and produces one or more finished deliverables you would normally build by hand.</a:t>
            </a:r>
          </a:p>
        </p:txBody>
      </p:sp>
      <p:sp>
        <p:nvSpPr>
          <p:cNvPr id="9" name="TextBox 8"/>
          <p:cNvSpPr txBox="1"/>
          <p:nvPr/>
        </p:nvSpPr>
        <p:spPr>
          <a:xfrm>
            <a:off x="914400" y="2560320"/>
            <a:ext cx="1005840" cy="237744"/>
          </a:xfrm>
          <a:prstGeom prst="rect">
            <a:avLst/>
          </a:prstGeom>
          <a:noFill/>
        </p:spPr>
        <p:txBody>
          <a:bodyPr wrap="square" lIns="27432" rIns="27432" tIns="18288" bIns="18288">
            <a:spAutoFit/>
          </a:bodyPr>
          <a:lstStyle/>
          <a:p>
            <a:r>
              <a:rPr sz="1300" b="1">
                <a:solidFill>
                  <a:srgbClr val="1B1B2C"/>
                </a:solidFill>
                <a:latin typeface="Segoe UI"/>
              </a:rPr>
              <a:t>Goal</a:t>
            </a:r>
          </a:p>
        </p:txBody>
      </p:sp>
      <p:sp>
        <p:nvSpPr>
          <p:cNvPr id="10" name="TextBox 9"/>
          <p:cNvSpPr txBox="1"/>
          <p:nvPr/>
        </p:nvSpPr>
        <p:spPr>
          <a:xfrm>
            <a:off x="1874519" y="2542032"/>
            <a:ext cx="6263640" cy="384048"/>
          </a:xfrm>
          <a:prstGeom prst="rect">
            <a:avLst/>
          </a:prstGeom>
          <a:noFill/>
        </p:spPr>
        <p:txBody>
          <a:bodyPr wrap="square" lIns="27432" rIns="27432" tIns="18288" bIns="18288">
            <a:spAutoFit/>
          </a:bodyPr>
          <a:lstStyle/>
          <a:p>
            <a:r>
              <a:rPr sz="1200" b="0">
                <a:solidFill>
                  <a:srgbClr val="1B1B2C"/>
                </a:solidFill>
                <a:latin typeface="Segoe UI"/>
              </a:rPr>
              <a:t>Cut through a week of newsletters to the stories that actually matter to your work.</a:t>
            </a:r>
          </a:p>
        </p:txBody>
      </p:sp>
      <p:sp>
        <p:nvSpPr>
          <p:cNvPr id="11" name="TextBox 10"/>
          <p:cNvSpPr txBox="1"/>
          <p:nvPr/>
        </p:nvSpPr>
        <p:spPr>
          <a:xfrm>
            <a:off x="914400" y="3218688"/>
            <a:ext cx="1234440" cy="237744"/>
          </a:xfrm>
          <a:prstGeom prst="rect">
            <a:avLst/>
          </a:prstGeom>
          <a:noFill/>
        </p:spPr>
        <p:txBody>
          <a:bodyPr wrap="square" lIns="27432" rIns="27432" tIns="18288" bIns="18288">
            <a:spAutoFit/>
          </a:bodyPr>
          <a:lstStyle/>
          <a:p>
            <a:r>
              <a:rPr sz="1300" b="1">
                <a:solidFill>
                  <a:srgbClr val="1B1B2C"/>
                </a:solidFill>
                <a:latin typeface="Segoe UI"/>
              </a:rPr>
              <a:t>Outcome</a:t>
            </a:r>
          </a:p>
        </p:txBody>
      </p:sp>
      <p:sp>
        <p:nvSpPr>
          <p:cNvPr id="12" name="TextBox 11"/>
          <p:cNvSpPr txBox="1"/>
          <p:nvPr/>
        </p:nvSpPr>
        <p:spPr>
          <a:xfrm>
            <a:off x="1874519" y="3182112"/>
            <a:ext cx="6263640" cy="438912"/>
          </a:xfrm>
          <a:prstGeom prst="rect">
            <a:avLst/>
          </a:prstGeom>
          <a:noFill/>
        </p:spPr>
        <p:txBody>
          <a:bodyPr wrap="square" lIns="27432" rIns="27432" tIns="18288" bIns="18288">
            <a:spAutoFit/>
          </a:bodyPr>
          <a:lstStyle/>
          <a:p>
            <a:r>
              <a:rPr sz="1200" b="0">
                <a:solidFill>
                  <a:srgbClr val="1B1B2C"/>
                </a:solidFill>
                <a:latin typeface="Segoe UI"/>
              </a:rPr>
              <a:t>A curated weekly brief that surfaces meaningful trends across the publications you follow, without the time spent reading them.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1B1B2C"/>
                </a:solidFill>
                <a:latin typeface="Segoe UI"/>
              </a:rPr>
              <a:t>Goal, outcome, prompt, flow</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5A6078"/>
                </a:solidFill>
                <a:latin typeface="Segoe UI"/>
              </a:rPr>
              <a:t>TURN INBOX NOISE INTO A CURATED INTELLIGENCE BRIEF</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98448"/>
            <a:ext cx="3886200" cy="3273552"/>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88620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83280" cy="256032"/>
          </a:xfrm>
          <a:prstGeom prst="rect">
            <a:avLst/>
          </a:prstGeom>
          <a:noFill/>
        </p:spPr>
        <p:txBody>
          <a:bodyPr wrap="square" lIns="27432" rIns="27432" tIns="18288" bIns="18288">
            <a:spAutoFit/>
          </a:bodyPr>
          <a:lstStyle/>
          <a:p>
            <a:r>
              <a:rPr sz="1300" b="1">
                <a:solidFill>
                  <a:srgbClr val="1B1B2C"/>
                </a:solidFill>
                <a:latin typeface="Segoe UI"/>
              </a:rPr>
              <a:t>Prompt to give Cowork</a:t>
            </a:r>
          </a:p>
        </p:txBody>
      </p:sp>
      <p:sp>
        <p:nvSpPr>
          <p:cNvPr id="8" name="TextBox 7"/>
          <p:cNvSpPr txBox="1"/>
          <p:nvPr/>
        </p:nvSpPr>
        <p:spPr>
          <a:xfrm>
            <a:off x="749808" y="1883664"/>
            <a:ext cx="3383280" cy="2240280"/>
          </a:xfrm>
          <a:prstGeom prst="rect">
            <a:avLst/>
          </a:prstGeom>
          <a:noFill/>
        </p:spPr>
        <p:txBody>
          <a:bodyPr wrap="square" lIns="27432" rIns="27432" tIns="18288" bIns="18288">
            <a:spAutoFit/>
          </a:bodyPr>
          <a:lstStyle/>
          <a:p>
            <a:r>
              <a:rPr sz="900" b="0">
                <a:solidFill>
                  <a:srgbClr val="5A6078"/>
                </a:solidFill>
                <a:latin typeface="Segoe UI"/>
              </a:rPr>
              <a:t>Search my inbox for all newsletters, digests, and industry publications received in the past 7 days. Then write a polished, article-style weekly brief covering four sections: (1) [Company] internal newsletters, (2) AI &amp; tech news, (3) World affairs/news publications, and (4) [Your industry], weaving the key stories and themes from each into flowing narrative paragraphs, not bullet lists. Exclude personal or consumer...</a:t>
            </a:r>
          </a:p>
        </p:txBody>
      </p:sp>
      <p:sp>
        <p:nvSpPr>
          <p:cNvPr id="9" name="Rounded Rectangle 8"/>
          <p:cNvSpPr/>
          <p:nvPr/>
        </p:nvSpPr>
        <p:spPr>
          <a:xfrm>
            <a:off x="4663440" y="1298448"/>
            <a:ext cx="3977639" cy="3273552"/>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298448"/>
            <a:ext cx="3977639"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554480"/>
            <a:ext cx="3383280" cy="256032"/>
          </a:xfrm>
          <a:prstGeom prst="rect">
            <a:avLst/>
          </a:prstGeom>
          <a:noFill/>
        </p:spPr>
        <p:txBody>
          <a:bodyPr wrap="square" lIns="27432" rIns="27432" tIns="18288" bIns="18288">
            <a:spAutoFit/>
          </a:bodyPr>
          <a:lstStyle/>
          <a:p>
            <a:r>
              <a:rPr sz="1300" b="1">
                <a:solidFill>
                  <a:srgbClr val="1B1B2C"/>
                </a:solidFill>
                <a:latin typeface="Segoe UI"/>
              </a:rPr>
              <a:t>Execution flow</a:t>
            </a:r>
          </a:p>
        </p:txBody>
      </p:sp>
      <p:sp>
        <p:nvSpPr>
          <p:cNvPr id="12" name="TextBox 11"/>
          <p:cNvSpPr txBox="1"/>
          <p:nvPr/>
        </p:nvSpPr>
        <p:spPr>
          <a:xfrm>
            <a:off x="4892040" y="1874519"/>
            <a:ext cx="3429000" cy="1783080"/>
          </a:xfrm>
          <a:prstGeom prst="rect">
            <a:avLst/>
          </a:prstGeom>
          <a:noFill/>
        </p:spPr>
        <p:txBody>
          <a:bodyPr wrap="none" lIns="73152" rIns="73152" tIns="36576">
            <a:spAutoFit/>
          </a:bodyPr>
          <a:lstStyle/>
          <a:p>
            <a:pPr>
              <a:spcAft>
                <a:spcPts val="500"/>
              </a:spcAft>
              <a:defRPr sz="1000">
                <a:solidFill>
                  <a:srgbClr val="1B1B2C"/>
                </a:solidFill>
                <a:latin typeface="Segoe UI"/>
              </a:defRPr>
            </a:pPr>
            <a:r>
              <a:t>• Inbox -&gt; Identify newsletters + digests</a:t>
            </a:r>
          </a:p>
          <a:p>
            <a:pPr>
              <a:spcAft>
                <a:spcPts val="500"/>
              </a:spcAft>
              <a:defRPr sz="1000">
                <a:solidFill>
                  <a:srgbClr val="1B1B2C"/>
                </a:solidFill>
                <a:latin typeface="Segoe UI"/>
              </a:defRPr>
            </a:pPr>
            <a:r>
              <a:t>• Categorize -&gt; Internal / AI / news / industry</a:t>
            </a:r>
          </a:p>
          <a:p>
            <a:pPr>
              <a:spcAft>
                <a:spcPts val="500"/>
              </a:spcAft>
              <a:defRPr sz="1000">
                <a:solidFill>
                  <a:srgbClr val="1B1B2C"/>
                </a:solidFill>
                <a:latin typeface="Segoe UI"/>
              </a:defRPr>
            </a:pPr>
            <a:r>
              <a:t>• Filter -&gt; Exclude consumer content</a:t>
            </a:r>
          </a:p>
          <a:p>
            <a:pPr>
              <a:spcAft>
                <a:spcPts val="500"/>
              </a:spcAft>
              <a:defRPr sz="1000">
                <a:solidFill>
                  <a:srgbClr val="1B1B2C"/>
                </a:solidFill>
                <a:latin typeface="Segoe UI"/>
              </a:defRPr>
            </a:pPr>
            <a:r>
              <a:t>• Synthesize -&gt; Narrative brief</a:t>
            </a:r>
          </a:p>
          <a:p>
            <a:pPr>
              <a:spcAft>
                <a:spcPts val="500"/>
              </a:spcAft>
              <a:defRPr sz="1000">
                <a:solidFill>
                  <a:srgbClr val="1B1B2C"/>
                </a:solidFill>
                <a:latin typeface="Segoe UI"/>
              </a:defRPr>
            </a:pPr>
            <a:r>
              <a:t>• Compile -&gt; Inline article</a:t>
            </a:r>
          </a:p>
        </p:txBody>
      </p:sp>
      <p:sp>
        <p:nvSpPr>
          <p:cNvPr id="13" name="TextBox 12"/>
          <p:cNvSpPr txBox="1"/>
          <p:nvPr/>
        </p:nvSpPr>
        <p:spPr>
          <a:xfrm>
            <a:off x="4910328" y="3968496"/>
            <a:ext cx="530352" cy="182880"/>
          </a:xfrm>
          <a:prstGeom prst="rect">
            <a:avLst/>
          </a:prstGeom>
          <a:noFill/>
        </p:spPr>
        <p:txBody>
          <a:bodyPr wrap="square" lIns="27432" rIns="27432" tIns="18288" bIns="18288">
            <a:spAutoFit/>
          </a:bodyPr>
          <a:lstStyle/>
          <a:p>
            <a:r>
              <a:rPr sz="900" b="1">
                <a:solidFill>
                  <a:srgbClr val="1B1B2C"/>
                </a:solidFill>
                <a:latin typeface="Segoe UI"/>
              </a:rPr>
              <a:t>Note:</a:t>
            </a:r>
          </a:p>
        </p:txBody>
      </p:sp>
      <p:sp>
        <p:nvSpPr>
          <p:cNvPr id="14" name="TextBox 13"/>
          <p:cNvSpPr txBox="1"/>
          <p:nvPr/>
        </p:nvSpPr>
        <p:spPr>
          <a:xfrm>
            <a:off x="5440680" y="3950208"/>
            <a:ext cx="2926080" cy="411480"/>
          </a:xfrm>
          <a:prstGeom prst="rect">
            <a:avLst/>
          </a:prstGeom>
          <a:noFill/>
        </p:spPr>
        <p:txBody>
          <a:bodyPr wrap="square" lIns="27432" rIns="27432" tIns="18288" bIns="18288">
            <a:spAutoFit/>
          </a:bodyPr>
          <a:lstStyle/>
          <a:p>
            <a:r>
              <a:rPr sz="800" b="0">
                <a:solidFill>
                  <a:srgbClr val="5A6078"/>
                </a:solidFill>
                <a:latin typeface="Segoe UI"/>
              </a:rPr>
              <a:t>This task features a scheduled prompt, which tells Cowork you want it to run automatically on a recurring basis. To create a scheduled prompt, simply describe what...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1B1B2C"/>
                </a:solidFill>
                <a:latin typeface="Segoe UI"/>
              </a:rPr>
              <a:t>Partner and channel activation kit</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5A6078"/>
                </a:solidFill>
                <a:latin typeface="Segoe UI"/>
              </a:rPr>
              <a:t>COWORK MEDIUM TASK</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7863840" cy="269748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86384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325880" cy="384048"/>
          </a:xfrm>
          <a:prstGeom prst="rect">
            <a:avLst/>
          </a:prstGeom>
          <a:noFill/>
        </p:spPr>
        <p:txBody>
          <a:bodyPr wrap="square" lIns="27432" rIns="27432" tIns="18288" bIns="18288">
            <a:spAutoFit/>
          </a:bodyPr>
          <a:lstStyle/>
          <a:p>
            <a:pPr algn="ctr"/>
            <a:r>
              <a:rPr sz="2000" b="1">
                <a:solidFill>
                  <a:srgbClr val="0E8E92"/>
                </a:solidFill>
                <a:latin typeface="Segoe UI"/>
              </a:rPr>
              <a:t>Medium</a:t>
            </a:r>
          </a:p>
        </p:txBody>
      </p:sp>
      <p:sp>
        <p:nvSpPr>
          <p:cNvPr id="8" name="TextBox 7"/>
          <p:cNvSpPr txBox="1"/>
          <p:nvPr/>
        </p:nvSpPr>
        <p:spPr>
          <a:xfrm>
            <a:off x="2423160" y="1627632"/>
            <a:ext cx="5577840" cy="658368"/>
          </a:xfrm>
          <a:prstGeom prst="rect">
            <a:avLst/>
          </a:prstGeom>
          <a:noFill/>
        </p:spPr>
        <p:txBody>
          <a:bodyPr wrap="square" lIns="27432" rIns="27432" tIns="18288" bIns="18288">
            <a:spAutoFit/>
          </a:bodyPr>
          <a:lstStyle/>
          <a:p>
            <a:r>
              <a:rPr sz="1300" b="0">
                <a:solidFill>
                  <a:srgbClr val="5A6078"/>
                </a:solidFill>
                <a:latin typeface="Segoe UI"/>
              </a:rPr>
              <a:t>Recurring multi-step work. Cowork reasons across several sources and produces one or more finished deliverables you would normally build by hand.</a:t>
            </a:r>
          </a:p>
        </p:txBody>
      </p:sp>
      <p:sp>
        <p:nvSpPr>
          <p:cNvPr id="9" name="TextBox 8"/>
          <p:cNvSpPr txBox="1"/>
          <p:nvPr/>
        </p:nvSpPr>
        <p:spPr>
          <a:xfrm>
            <a:off x="914400" y="2560320"/>
            <a:ext cx="1005840" cy="237744"/>
          </a:xfrm>
          <a:prstGeom prst="rect">
            <a:avLst/>
          </a:prstGeom>
          <a:noFill/>
        </p:spPr>
        <p:txBody>
          <a:bodyPr wrap="square" lIns="27432" rIns="27432" tIns="18288" bIns="18288">
            <a:spAutoFit/>
          </a:bodyPr>
          <a:lstStyle/>
          <a:p>
            <a:r>
              <a:rPr sz="1300" b="1">
                <a:solidFill>
                  <a:srgbClr val="1B1B2C"/>
                </a:solidFill>
                <a:latin typeface="Segoe UI"/>
              </a:rPr>
              <a:t>Goal</a:t>
            </a:r>
          </a:p>
        </p:txBody>
      </p:sp>
      <p:sp>
        <p:nvSpPr>
          <p:cNvPr id="10" name="TextBox 9"/>
          <p:cNvSpPr txBox="1"/>
          <p:nvPr/>
        </p:nvSpPr>
        <p:spPr>
          <a:xfrm>
            <a:off x="1874519" y="2542032"/>
            <a:ext cx="6263640" cy="384048"/>
          </a:xfrm>
          <a:prstGeom prst="rect">
            <a:avLst/>
          </a:prstGeom>
          <a:noFill/>
        </p:spPr>
        <p:txBody>
          <a:bodyPr wrap="square" lIns="27432" rIns="27432" tIns="18288" bIns="18288">
            <a:spAutoFit/>
          </a:bodyPr>
          <a:lstStyle/>
          <a:p>
            <a:r>
              <a:rPr sz="1200" b="0">
                <a:solidFill>
                  <a:srgbClr val="1B1B2C"/>
                </a:solidFill>
                <a:latin typeface="Segoe UI"/>
              </a:rPr>
              <a:t>Adapt the [Product/Campaign Name] launch materials for partners and channel teams and route them for review.</a:t>
            </a:r>
          </a:p>
        </p:txBody>
      </p:sp>
      <p:sp>
        <p:nvSpPr>
          <p:cNvPr id="11" name="TextBox 10"/>
          <p:cNvSpPr txBox="1"/>
          <p:nvPr/>
        </p:nvSpPr>
        <p:spPr>
          <a:xfrm>
            <a:off x="914400" y="3218688"/>
            <a:ext cx="1234440" cy="237744"/>
          </a:xfrm>
          <a:prstGeom prst="rect">
            <a:avLst/>
          </a:prstGeom>
          <a:noFill/>
        </p:spPr>
        <p:txBody>
          <a:bodyPr wrap="square" lIns="27432" rIns="27432" tIns="18288" bIns="18288">
            <a:spAutoFit/>
          </a:bodyPr>
          <a:lstStyle/>
          <a:p>
            <a:r>
              <a:rPr sz="1300" b="1">
                <a:solidFill>
                  <a:srgbClr val="1B1B2C"/>
                </a:solidFill>
                <a:latin typeface="Segoe UI"/>
              </a:rPr>
              <a:t>Outcome</a:t>
            </a:r>
          </a:p>
        </p:txBody>
      </p:sp>
      <p:sp>
        <p:nvSpPr>
          <p:cNvPr id="12" name="TextBox 11"/>
          <p:cNvSpPr txBox="1"/>
          <p:nvPr/>
        </p:nvSpPr>
        <p:spPr>
          <a:xfrm>
            <a:off x="1874519" y="3182112"/>
            <a:ext cx="6263640" cy="438912"/>
          </a:xfrm>
          <a:prstGeom prst="rect">
            <a:avLst/>
          </a:prstGeom>
          <a:noFill/>
        </p:spPr>
        <p:txBody>
          <a:bodyPr wrap="square" lIns="27432" rIns="27432" tIns="18288" bIns="18288">
            <a:spAutoFit/>
          </a:bodyPr>
          <a:lstStyle/>
          <a:p>
            <a:r>
              <a:rPr sz="1200" b="0">
                <a:solidFill>
                  <a:srgbClr val="1B1B2C"/>
                </a:solidFill>
                <a:latin typeface="Segoe UI"/>
              </a:rPr>
              <a:t>A partner-ready and channel-ready activation kit across Word and Excel, plus a routing plan so partner, field, and channel marketing can move fast.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1B1B2C"/>
                </a:solidFill>
                <a:latin typeface="Segoe UI"/>
              </a:rPr>
              <a:t>Goal, outcome, prompt, flow</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5A6078"/>
                </a:solidFill>
                <a:latin typeface="Segoe UI"/>
              </a:rPr>
              <a:t>PARTNER AND CHANNEL ACTIVATION KIT</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98448"/>
            <a:ext cx="3886200" cy="3273552"/>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88620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83280" cy="256032"/>
          </a:xfrm>
          <a:prstGeom prst="rect">
            <a:avLst/>
          </a:prstGeom>
          <a:noFill/>
        </p:spPr>
        <p:txBody>
          <a:bodyPr wrap="square" lIns="27432" rIns="27432" tIns="18288" bIns="18288">
            <a:spAutoFit/>
          </a:bodyPr>
          <a:lstStyle/>
          <a:p>
            <a:r>
              <a:rPr sz="1300" b="1">
                <a:solidFill>
                  <a:srgbClr val="1B1B2C"/>
                </a:solidFill>
                <a:latin typeface="Segoe UI"/>
              </a:rPr>
              <a:t>Prompt to give Cowork</a:t>
            </a:r>
          </a:p>
        </p:txBody>
      </p:sp>
      <p:sp>
        <p:nvSpPr>
          <p:cNvPr id="8" name="TextBox 7"/>
          <p:cNvSpPr txBox="1"/>
          <p:nvPr/>
        </p:nvSpPr>
        <p:spPr>
          <a:xfrm>
            <a:off x="749808" y="1883664"/>
            <a:ext cx="3383280" cy="2240280"/>
          </a:xfrm>
          <a:prstGeom prst="rect">
            <a:avLst/>
          </a:prstGeom>
          <a:noFill/>
        </p:spPr>
        <p:txBody>
          <a:bodyPr wrap="square" lIns="27432" rIns="27432" tIns="18288" bIns="18288">
            <a:spAutoFit/>
          </a:bodyPr>
          <a:lstStyle/>
          <a:p>
            <a:r>
              <a:rPr sz="900" b="0">
                <a:solidFill>
                  <a:srgbClr val="5A6078"/>
                </a:solidFill>
                <a:latin typeface="Segoe UI"/>
              </a:rPr>
              <a:t>[Product/Campaign Name] is moving into partner and channel activation. I need the launch materials adapted so partner marketing and the channel teams can execute without translation. Source: Latest launch materials in [OneDrive Folder] Approved messaging in [Messaging Doc] Prior partner-facing communications for tone reference Create the following: Partner one-pager (Word) Co-marketing talking points (Word) Partner FAQ...</a:t>
            </a:r>
          </a:p>
        </p:txBody>
      </p:sp>
      <p:sp>
        <p:nvSpPr>
          <p:cNvPr id="9" name="Rounded Rectangle 8"/>
          <p:cNvSpPr/>
          <p:nvPr/>
        </p:nvSpPr>
        <p:spPr>
          <a:xfrm>
            <a:off x="4663440" y="1298448"/>
            <a:ext cx="3977639" cy="3273552"/>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298448"/>
            <a:ext cx="3977639"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554480"/>
            <a:ext cx="3383280" cy="256032"/>
          </a:xfrm>
          <a:prstGeom prst="rect">
            <a:avLst/>
          </a:prstGeom>
          <a:noFill/>
        </p:spPr>
        <p:txBody>
          <a:bodyPr wrap="square" lIns="27432" rIns="27432" tIns="18288" bIns="18288">
            <a:spAutoFit/>
          </a:bodyPr>
          <a:lstStyle/>
          <a:p>
            <a:r>
              <a:rPr sz="1300" b="1">
                <a:solidFill>
                  <a:srgbClr val="1B1B2C"/>
                </a:solidFill>
                <a:latin typeface="Segoe UI"/>
              </a:rPr>
              <a:t>Execution flow</a:t>
            </a:r>
          </a:p>
        </p:txBody>
      </p:sp>
      <p:sp>
        <p:nvSpPr>
          <p:cNvPr id="12" name="TextBox 11"/>
          <p:cNvSpPr txBox="1"/>
          <p:nvPr/>
        </p:nvSpPr>
        <p:spPr>
          <a:xfrm>
            <a:off x="4892040" y="1874519"/>
            <a:ext cx="3429000" cy="2148840"/>
          </a:xfrm>
          <a:prstGeom prst="rect">
            <a:avLst/>
          </a:prstGeom>
          <a:noFill/>
        </p:spPr>
        <p:txBody>
          <a:bodyPr wrap="none" lIns="73152" rIns="73152" tIns="36576">
            <a:spAutoFit/>
          </a:bodyPr>
          <a:lstStyle/>
          <a:p>
            <a:pPr>
              <a:spcAft>
                <a:spcPts val="500"/>
              </a:spcAft>
              <a:defRPr sz="1000">
                <a:solidFill>
                  <a:srgbClr val="1B1B2C"/>
                </a:solidFill>
                <a:latin typeface="Segoe UI"/>
              </a:defRPr>
            </a:pPr>
            <a:r>
              <a:t>• OneDrive [Folder] -&gt; Read the launch materials</a:t>
            </a:r>
          </a:p>
          <a:p>
            <a:pPr>
              <a:spcAft>
                <a:spcPts val="500"/>
              </a:spcAft>
              <a:defRPr sz="1000">
                <a:solidFill>
                  <a:srgbClr val="1B1B2C"/>
                </a:solidFill>
                <a:latin typeface="Segoe UI"/>
              </a:defRPr>
            </a:pPr>
            <a:r>
              <a:t>• Messaging Doc -&gt; Ground every adaptation in approved positioning</a:t>
            </a:r>
          </a:p>
          <a:p>
            <a:pPr>
              <a:spcAft>
                <a:spcPts val="500"/>
              </a:spcAft>
              <a:defRPr sz="1000">
                <a:solidFill>
                  <a:srgbClr val="1B1B2C"/>
                </a:solidFill>
                <a:latin typeface="Segoe UI"/>
              </a:defRPr>
            </a:pPr>
            <a:r>
              <a:t>• Adapt -&gt; One-pager · talking points · FAQ</a:t>
            </a:r>
          </a:p>
          <a:p>
            <a:pPr>
              <a:spcAft>
                <a:spcPts val="500"/>
              </a:spcAft>
              <a:defRPr sz="1000">
                <a:solidFill>
                  <a:srgbClr val="1B1B2C"/>
                </a:solidFill>
                <a:latin typeface="Segoe UI"/>
              </a:defRPr>
            </a:pPr>
            <a:r>
              <a:t>• Adapt -&gt; Email template · social pack</a:t>
            </a:r>
          </a:p>
          <a:p>
            <a:pPr>
              <a:spcAft>
                <a:spcPts val="500"/>
              </a:spcAft>
              <a:defRPr sz="1000">
                <a:solidFill>
                  <a:srgbClr val="1B1B2C"/>
                </a:solidFill>
                <a:latin typeface="Segoe UI"/>
              </a:defRPr>
            </a:pPr>
            <a:r>
              <a:t>• Org directory -&gt; Identify partner and channel owners</a:t>
            </a:r>
          </a:p>
        </p:txBody>
      </p:sp>
      <p:sp>
        <p:nvSpPr>
          <p:cNvPr id="13" name="TextBox 12"/>
          <p:cNvSpPr txBox="1"/>
          <p:nvPr/>
        </p:nvSpPr>
        <p:spPr>
          <a:xfrm>
            <a:off x="4910328" y="4133087"/>
            <a:ext cx="3337560" cy="310896"/>
          </a:xfrm>
          <a:prstGeom prst="rect">
            <a:avLst/>
          </a:prstGeom>
          <a:noFill/>
        </p:spPr>
        <p:txBody>
          <a:bodyPr wrap="square" lIns="27432" rIns="27432" tIns="18288" bIns="18288">
            <a:spAutoFit/>
          </a:bodyPr>
          <a:lstStyle/>
          <a:p>
            <a:r>
              <a:rPr sz="1000" b="0">
                <a:solidFill>
                  <a:srgbClr val="5A6078"/>
                </a:solidFill>
                <a:latin typeface="Segoe UI"/>
              </a:rPr>
              <a:t>A partner-ready and channel-ready activation kit across Word and Excel, plus a routing plan so partner, field, and channel marketing can...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1B1B2C"/>
                </a:solidFill>
                <a:latin typeface="Segoe UI"/>
              </a:rPr>
              <a:t>Prepare a complete out-of-office handoff</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5A6078"/>
                </a:solidFill>
                <a:latin typeface="Segoe UI"/>
              </a:rPr>
              <a:t>COWORK HEAVY TASK</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7863840" cy="269748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86384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325880" cy="384048"/>
          </a:xfrm>
          <a:prstGeom prst="rect">
            <a:avLst/>
          </a:prstGeom>
          <a:noFill/>
        </p:spPr>
        <p:txBody>
          <a:bodyPr wrap="square" lIns="27432" rIns="27432" tIns="18288" bIns="18288">
            <a:spAutoFit/>
          </a:bodyPr>
          <a:lstStyle/>
          <a:p>
            <a:pPr algn="ctr"/>
            <a:r>
              <a:rPr sz="2000" b="1">
                <a:solidFill>
                  <a:srgbClr val="C73E78"/>
                </a:solidFill>
                <a:latin typeface="Segoe UI"/>
              </a:rPr>
              <a:t>Heavy</a:t>
            </a:r>
          </a:p>
        </p:txBody>
      </p:sp>
      <p:sp>
        <p:nvSpPr>
          <p:cNvPr id="8" name="TextBox 7"/>
          <p:cNvSpPr txBox="1"/>
          <p:nvPr/>
        </p:nvSpPr>
        <p:spPr>
          <a:xfrm>
            <a:off x="2423160" y="1627632"/>
            <a:ext cx="5577840" cy="658368"/>
          </a:xfrm>
          <a:prstGeom prst="rect">
            <a:avLst/>
          </a:prstGeom>
          <a:noFill/>
        </p:spPr>
        <p:txBody>
          <a:bodyPr wrap="square" lIns="27432" rIns="27432" tIns="18288" bIns="18288">
            <a:spAutoFit/>
          </a:bodyPr>
          <a:lstStyle/>
          <a:p>
            <a:r>
              <a:rPr sz="1300" b="0">
                <a:solidFill>
                  <a:srgbClr val="5A6078"/>
                </a:solidFill>
                <a:latin typeface="Segoe UI"/>
              </a:rPr>
              <a:t>Multi-part work you would block out serious time for. Cowork pulls from across your tools, does the deep thinking, and delivers a full set of artifacts.</a:t>
            </a:r>
          </a:p>
        </p:txBody>
      </p:sp>
      <p:sp>
        <p:nvSpPr>
          <p:cNvPr id="9" name="TextBox 8"/>
          <p:cNvSpPr txBox="1"/>
          <p:nvPr/>
        </p:nvSpPr>
        <p:spPr>
          <a:xfrm>
            <a:off x="914400" y="2560320"/>
            <a:ext cx="1005840" cy="237744"/>
          </a:xfrm>
          <a:prstGeom prst="rect">
            <a:avLst/>
          </a:prstGeom>
          <a:noFill/>
        </p:spPr>
        <p:txBody>
          <a:bodyPr wrap="square" lIns="27432" rIns="27432" tIns="18288" bIns="18288">
            <a:spAutoFit/>
          </a:bodyPr>
          <a:lstStyle/>
          <a:p>
            <a:r>
              <a:rPr sz="1300" b="1">
                <a:solidFill>
                  <a:srgbClr val="1B1B2C"/>
                </a:solidFill>
                <a:latin typeface="Segoe UI"/>
              </a:rPr>
              <a:t>Goal</a:t>
            </a:r>
          </a:p>
        </p:txBody>
      </p:sp>
      <p:sp>
        <p:nvSpPr>
          <p:cNvPr id="10" name="TextBox 9"/>
          <p:cNvSpPr txBox="1"/>
          <p:nvPr/>
        </p:nvSpPr>
        <p:spPr>
          <a:xfrm>
            <a:off x="1874519" y="2542032"/>
            <a:ext cx="6263640" cy="384048"/>
          </a:xfrm>
          <a:prstGeom prst="rect">
            <a:avLst/>
          </a:prstGeom>
          <a:noFill/>
        </p:spPr>
        <p:txBody>
          <a:bodyPr wrap="square" lIns="27432" rIns="27432" tIns="18288" bIns="18288">
            <a:spAutoFit/>
          </a:bodyPr>
          <a:lstStyle/>
          <a:p>
            <a:r>
              <a:rPr sz="1200" b="0">
                <a:solidFill>
                  <a:srgbClr val="1B1B2C"/>
                </a:solidFill>
                <a:latin typeface="Segoe UI"/>
              </a:rPr>
              <a:t>Step away from your laptop knowing nothing in flight will stall while you are out.</a:t>
            </a:r>
          </a:p>
        </p:txBody>
      </p:sp>
      <p:sp>
        <p:nvSpPr>
          <p:cNvPr id="11" name="TextBox 10"/>
          <p:cNvSpPr txBox="1"/>
          <p:nvPr/>
        </p:nvSpPr>
        <p:spPr>
          <a:xfrm>
            <a:off x="914400" y="3218688"/>
            <a:ext cx="1234440" cy="237744"/>
          </a:xfrm>
          <a:prstGeom prst="rect">
            <a:avLst/>
          </a:prstGeom>
          <a:noFill/>
        </p:spPr>
        <p:txBody>
          <a:bodyPr wrap="square" lIns="27432" rIns="27432" tIns="18288" bIns="18288">
            <a:spAutoFit/>
          </a:bodyPr>
          <a:lstStyle/>
          <a:p>
            <a:r>
              <a:rPr sz="1300" b="1">
                <a:solidFill>
                  <a:srgbClr val="1B1B2C"/>
                </a:solidFill>
                <a:latin typeface="Segoe UI"/>
              </a:rPr>
              <a:t>Outcome</a:t>
            </a:r>
          </a:p>
        </p:txBody>
      </p:sp>
      <p:sp>
        <p:nvSpPr>
          <p:cNvPr id="12" name="TextBox 11"/>
          <p:cNvSpPr txBox="1"/>
          <p:nvPr/>
        </p:nvSpPr>
        <p:spPr>
          <a:xfrm>
            <a:off x="1874519" y="3182112"/>
            <a:ext cx="6263640" cy="438912"/>
          </a:xfrm>
          <a:prstGeom prst="rect">
            <a:avLst/>
          </a:prstGeom>
          <a:noFill/>
        </p:spPr>
        <p:txBody>
          <a:bodyPr wrap="square" lIns="27432" rIns="27432" tIns="18288" bIns="18288">
            <a:spAutoFit/>
          </a:bodyPr>
          <a:lstStyle/>
          <a:p>
            <a:r>
              <a:rPr sz="1200" b="0">
                <a:solidFill>
                  <a:srgbClr val="1B1B2C"/>
                </a:solidFill>
                <a:latin typeface="Segoe UI"/>
              </a:rPr>
              <a:t>A handover document built from your real work, projects, owners, deadlines, and supporting files, so coverage stays clear and execution keeps moving.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1B1B2C"/>
                </a:solidFill>
                <a:latin typeface="Segoe UI"/>
              </a:rPr>
              <a:t>Goal, outcome, prompt, flow</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5A6078"/>
                </a:solidFill>
                <a:latin typeface="Segoe UI"/>
              </a:rPr>
              <a:t>PREPARE A COMPLETE OUT-OF-OFFICE HANDOFF</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98448"/>
            <a:ext cx="3886200" cy="3273552"/>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88620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83280" cy="256032"/>
          </a:xfrm>
          <a:prstGeom prst="rect">
            <a:avLst/>
          </a:prstGeom>
          <a:noFill/>
        </p:spPr>
        <p:txBody>
          <a:bodyPr wrap="square" lIns="27432" rIns="27432" tIns="18288" bIns="18288">
            <a:spAutoFit/>
          </a:bodyPr>
          <a:lstStyle/>
          <a:p>
            <a:r>
              <a:rPr sz="1300" b="1">
                <a:solidFill>
                  <a:srgbClr val="1B1B2C"/>
                </a:solidFill>
                <a:latin typeface="Segoe UI"/>
              </a:rPr>
              <a:t>Prompt to give Cowork</a:t>
            </a:r>
          </a:p>
        </p:txBody>
      </p:sp>
      <p:sp>
        <p:nvSpPr>
          <p:cNvPr id="8" name="TextBox 7"/>
          <p:cNvSpPr txBox="1"/>
          <p:nvPr/>
        </p:nvSpPr>
        <p:spPr>
          <a:xfrm>
            <a:off x="749808" y="1883664"/>
            <a:ext cx="3383280" cy="2240280"/>
          </a:xfrm>
          <a:prstGeom prst="rect">
            <a:avLst/>
          </a:prstGeom>
          <a:noFill/>
        </p:spPr>
        <p:txBody>
          <a:bodyPr wrap="square" lIns="27432" rIns="27432" tIns="18288" bIns="18288">
            <a:spAutoFit/>
          </a:bodyPr>
          <a:lstStyle/>
          <a:p>
            <a:r>
              <a:rPr sz="900" b="0">
                <a:solidFill>
                  <a:srgbClr val="5A6078"/>
                </a:solidFill>
                <a:latin typeface="Segoe UI"/>
              </a:rPr>
              <a:t>I am about to go out of office for x week(s) beginning this coming [date]. Build an out-of-office tracker to cover off on all ongoing projects and tasks that will require things to move forward while I am gone. This should cover all team meetings from this week, all emails, and all Teams messages (both in meeting chats, individual chats, and group chats). Please also analyze my calendar for next week, and any projects that...</a:t>
            </a:r>
          </a:p>
        </p:txBody>
      </p:sp>
      <p:sp>
        <p:nvSpPr>
          <p:cNvPr id="9" name="Rounded Rectangle 8"/>
          <p:cNvSpPr/>
          <p:nvPr/>
        </p:nvSpPr>
        <p:spPr>
          <a:xfrm>
            <a:off x="4663440" y="1298448"/>
            <a:ext cx="3977639" cy="3273552"/>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298448"/>
            <a:ext cx="3977639"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554480"/>
            <a:ext cx="3383280" cy="256032"/>
          </a:xfrm>
          <a:prstGeom prst="rect">
            <a:avLst/>
          </a:prstGeom>
          <a:noFill/>
        </p:spPr>
        <p:txBody>
          <a:bodyPr wrap="square" lIns="27432" rIns="27432" tIns="18288" bIns="18288">
            <a:spAutoFit/>
          </a:bodyPr>
          <a:lstStyle/>
          <a:p>
            <a:r>
              <a:rPr sz="1300" b="1">
                <a:solidFill>
                  <a:srgbClr val="1B1B2C"/>
                </a:solidFill>
                <a:latin typeface="Segoe UI"/>
              </a:rPr>
              <a:t>Execution flow</a:t>
            </a:r>
          </a:p>
        </p:txBody>
      </p:sp>
      <p:sp>
        <p:nvSpPr>
          <p:cNvPr id="12" name="TextBox 11"/>
          <p:cNvSpPr txBox="1"/>
          <p:nvPr/>
        </p:nvSpPr>
        <p:spPr>
          <a:xfrm>
            <a:off x="4892040" y="1874519"/>
            <a:ext cx="3429000" cy="2148840"/>
          </a:xfrm>
          <a:prstGeom prst="rect">
            <a:avLst/>
          </a:prstGeom>
          <a:noFill/>
        </p:spPr>
        <p:txBody>
          <a:bodyPr wrap="none" lIns="73152" rIns="73152" tIns="36576">
            <a:spAutoFit/>
          </a:bodyPr>
          <a:lstStyle/>
          <a:p>
            <a:pPr>
              <a:spcAft>
                <a:spcPts val="500"/>
              </a:spcAft>
              <a:defRPr sz="1000">
                <a:solidFill>
                  <a:srgbClr val="1B1B2C"/>
                </a:solidFill>
                <a:latin typeface="Segoe UI"/>
              </a:defRPr>
            </a:pPr>
            <a:r>
              <a:t>• Meetings (this week) -&gt; Identify active projects + stakeholders</a:t>
            </a:r>
          </a:p>
          <a:p>
            <a:pPr>
              <a:spcAft>
                <a:spcPts val="500"/>
              </a:spcAft>
              <a:defRPr sz="1000">
                <a:solidFill>
                  <a:srgbClr val="1B1B2C"/>
                </a:solidFill>
                <a:latin typeface="Segoe UI"/>
              </a:defRPr>
            </a:pPr>
            <a:r>
              <a:t>• Email threads -&gt; Extract open requests + dependencies</a:t>
            </a:r>
          </a:p>
          <a:p>
            <a:pPr>
              <a:spcAft>
                <a:spcPts val="500"/>
              </a:spcAft>
              <a:defRPr sz="1000">
                <a:solidFill>
                  <a:srgbClr val="1B1B2C"/>
                </a:solidFill>
                <a:latin typeface="Segoe UI"/>
              </a:defRPr>
            </a:pPr>
            <a:r>
              <a:t>• Teams chats -&gt; Capture in-flight tasks</a:t>
            </a:r>
          </a:p>
          <a:p>
            <a:pPr>
              <a:spcAft>
                <a:spcPts val="500"/>
              </a:spcAft>
              <a:defRPr sz="1000">
                <a:solidFill>
                  <a:srgbClr val="1B1B2C"/>
                </a:solidFill>
                <a:latin typeface="Segoe UI"/>
              </a:defRPr>
            </a:pPr>
            <a:r>
              <a:t>• Calendar (next week) -&gt; Detect upcoming deadlines</a:t>
            </a:r>
          </a:p>
          <a:p>
            <a:pPr>
              <a:spcAft>
                <a:spcPts val="500"/>
              </a:spcAft>
              <a:defRPr sz="1000">
                <a:solidFill>
                  <a:srgbClr val="1B1B2C"/>
                </a:solidFill>
                <a:latin typeface="Segoe UI"/>
              </a:defRPr>
            </a:pPr>
            <a:r>
              <a:t>• Org directory -&gt; Match internal team coverage</a:t>
            </a:r>
          </a:p>
        </p:txBody>
      </p:sp>
      <p:sp>
        <p:nvSpPr>
          <p:cNvPr id="13" name="TextBox 12"/>
          <p:cNvSpPr txBox="1"/>
          <p:nvPr/>
        </p:nvSpPr>
        <p:spPr>
          <a:xfrm>
            <a:off x="4910328" y="4133087"/>
            <a:ext cx="3337560" cy="310896"/>
          </a:xfrm>
          <a:prstGeom prst="rect">
            <a:avLst/>
          </a:prstGeom>
          <a:noFill/>
        </p:spPr>
        <p:txBody>
          <a:bodyPr wrap="square" lIns="27432" rIns="27432" tIns="18288" bIns="18288">
            <a:spAutoFit/>
          </a:bodyPr>
          <a:lstStyle/>
          <a:p>
            <a:r>
              <a:rPr sz="1000" b="0">
                <a:solidFill>
                  <a:srgbClr val="5A6078"/>
                </a:solidFill>
                <a:latin typeface="Segoe UI"/>
              </a:rPr>
              <a:t>A handover document built from your real work, projects, owners, deadlines, and supporting files, so coverage stays clear and execution...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1B1B2C"/>
                </a:solidFill>
                <a:latin typeface="Segoe UI"/>
              </a:rPr>
              <a:t>Analyze and optimize your OneDrive at scale</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5A6078"/>
                </a:solidFill>
                <a:latin typeface="Segoe UI"/>
              </a:rPr>
              <a:t>COWORK HEAVY TASK</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7863840" cy="269748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86384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325880" cy="384048"/>
          </a:xfrm>
          <a:prstGeom prst="rect">
            <a:avLst/>
          </a:prstGeom>
          <a:noFill/>
        </p:spPr>
        <p:txBody>
          <a:bodyPr wrap="square" lIns="27432" rIns="27432" tIns="18288" bIns="18288">
            <a:spAutoFit/>
          </a:bodyPr>
          <a:lstStyle/>
          <a:p>
            <a:pPr algn="ctr"/>
            <a:r>
              <a:rPr sz="2000" b="1">
                <a:solidFill>
                  <a:srgbClr val="C73E78"/>
                </a:solidFill>
                <a:latin typeface="Segoe UI"/>
              </a:rPr>
              <a:t>Heavy</a:t>
            </a:r>
          </a:p>
        </p:txBody>
      </p:sp>
      <p:sp>
        <p:nvSpPr>
          <p:cNvPr id="8" name="TextBox 7"/>
          <p:cNvSpPr txBox="1"/>
          <p:nvPr/>
        </p:nvSpPr>
        <p:spPr>
          <a:xfrm>
            <a:off x="2423160" y="1627632"/>
            <a:ext cx="5577840" cy="658368"/>
          </a:xfrm>
          <a:prstGeom prst="rect">
            <a:avLst/>
          </a:prstGeom>
          <a:noFill/>
        </p:spPr>
        <p:txBody>
          <a:bodyPr wrap="square" lIns="27432" rIns="27432" tIns="18288" bIns="18288">
            <a:spAutoFit/>
          </a:bodyPr>
          <a:lstStyle/>
          <a:p>
            <a:r>
              <a:rPr sz="1300" b="0">
                <a:solidFill>
                  <a:srgbClr val="5A6078"/>
                </a:solidFill>
                <a:latin typeface="Segoe UI"/>
              </a:rPr>
              <a:t>Multi-part work you would block out serious time for. Cowork pulls from across your tools, does the deep thinking, and delivers a full set of artifacts.</a:t>
            </a:r>
          </a:p>
        </p:txBody>
      </p:sp>
      <p:sp>
        <p:nvSpPr>
          <p:cNvPr id="9" name="TextBox 8"/>
          <p:cNvSpPr txBox="1"/>
          <p:nvPr/>
        </p:nvSpPr>
        <p:spPr>
          <a:xfrm>
            <a:off x="914400" y="2560320"/>
            <a:ext cx="1005840" cy="237744"/>
          </a:xfrm>
          <a:prstGeom prst="rect">
            <a:avLst/>
          </a:prstGeom>
          <a:noFill/>
        </p:spPr>
        <p:txBody>
          <a:bodyPr wrap="square" lIns="27432" rIns="27432" tIns="18288" bIns="18288">
            <a:spAutoFit/>
          </a:bodyPr>
          <a:lstStyle/>
          <a:p>
            <a:r>
              <a:rPr sz="1300" b="1">
                <a:solidFill>
                  <a:srgbClr val="1B1B2C"/>
                </a:solidFill>
                <a:latin typeface="Segoe UI"/>
              </a:rPr>
              <a:t>Goal</a:t>
            </a:r>
          </a:p>
        </p:txBody>
      </p:sp>
      <p:sp>
        <p:nvSpPr>
          <p:cNvPr id="10" name="TextBox 9"/>
          <p:cNvSpPr txBox="1"/>
          <p:nvPr/>
        </p:nvSpPr>
        <p:spPr>
          <a:xfrm>
            <a:off x="1874519" y="2542032"/>
            <a:ext cx="6263640" cy="384048"/>
          </a:xfrm>
          <a:prstGeom prst="rect">
            <a:avLst/>
          </a:prstGeom>
          <a:noFill/>
        </p:spPr>
        <p:txBody>
          <a:bodyPr wrap="square" lIns="27432" rIns="27432" tIns="18288" bIns="18288">
            <a:spAutoFit/>
          </a:bodyPr>
          <a:lstStyle/>
          <a:p>
            <a:r>
              <a:rPr sz="1200" b="0">
                <a:solidFill>
                  <a:srgbClr val="1B1B2C"/>
                </a:solidFill>
                <a:latin typeface="Segoe UI"/>
              </a:rPr>
              <a:t>Turn a sprawling OneDrive into a structured catalog you can actually act on.</a:t>
            </a:r>
          </a:p>
        </p:txBody>
      </p:sp>
      <p:sp>
        <p:nvSpPr>
          <p:cNvPr id="11" name="TextBox 10"/>
          <p:cNvSpPr txBox="1"/>
          <p:nvPr/>
        </p:nvSpPr>
        <p:spPr>
          <a:xfrm>
            <a:off x="914400" y="3218688"/>
            <a:ext cx="1234440" cy="237744"/>
          </a:xfrm>
          <a:prstGeom prst="rect">
            <a:avLst/>
          </a:prstGeom>
          <a:noFill/>
        </p:spPr>
        <p:txBody>
          <a:bodyPr wrap="square" lIns="27432" rIns="27432" tIns="18288" bIns="18288">
            <a:spAutoFit/>
          </a:bodyPr>
          <a:lstStyle/>
          <a:p>
            <a:r>
              <a:rPr sz="1300" b="1">
                <a:solidFill>
                  <a:srgbClr val="1B1B2C"/>
                </a:solidFill>
                <a:latin typeface="Segoe UI"/>
              </a:rPr>
              <a:t>Outcome</a:t>
            </a:r>
          </a:p>
        </p:txBody>
      </p:sp>
      <p:sp>
        <p:nvSpPr>
          <p:cNvPr id="12" name="TextBox 11"/>
          <p:cNvSpPr txBox="1"/>
          <p:nvPr/>
        </p:nvSpPr>
        <p:spPr>
          <a:xfrm>
            <a:off x="1874519" y="3182112"/>
            <a:ext cx="6263640" cy="438912"/>
          </a:xfrm>
          <a:prstGeom prst="rect">
            <a:avLst/>
          </a:prstGeom>
          <a:noFill/>
        </p:spPr>
        <p:txBody>
          <a:bodyPr wrap="square" lIns="27432" rIns="27432" tIns="18288" bIns="18288">
            <a:spAutoFit/>
          </a:bodyPr>
          <a:lstStyle/>
          <a:p>
            <a:r>
              <a:rPr sz="1200" b="0">
                <a:solidFill>
                  <a:srgbClr val="1B1B2C"/>
                </a:solidFill>
                <a:latin typeface="Segoe UI"/>
              </a:rPr>
              <a:t>An organization plan and visual overview of your files, with cleanup decisions queued up for your approval.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1B1B2C"/>
                </a:solidFill>
                <a:latin typeface="Segoe UI"/>
              </a:rPr>
              <a:t>Goal, outcome, prompt, flow</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5A6078"/>
                </a:solidFill>
                <a:latin typeface="Segoe UI"/>
              </a:rPr>
              <a:t>ANALYZE AND OPTIMIZE YOUR ONEDRIVE AT SCALE</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98448"/>
            <a:ext cx="3886200" cy="3273552"/>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88620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83280" cy="256032"/>
          </a:xfrm>
          <a:prstGeom prst="rect">
            <a:avLst/>
          </a:prstGeom>
          <a:noFill/>
        </p:spPr>
        <p:txBody>
          <a:bodyPr wrap="square" lIns="27432" rIns="27432" tIns="18288" bIns="18288">
            <a:spAutoFit/>
          </a:bodyPr>
          <a:lstStyle/>
          <a:p>
            <a:r>
              <a:rPr sz="1300" b="1">
                <a:solidFill>
                  <a:srgbClr val="1B1B2C"/>
                </a:solidFill>
                <a:latin typeface="Segoe UI"/>
              </a:rPr>
              <a:t>Prompt to give Cowork</a:t>
            </a:r>
          </a:p>
        </p:txBody>
      </p:sp>
      <p:sp>
        <p:nvSpPr>
          <p:cNvPr id="8" name="TextBox 7"/>
          <p:cNvSpPr txBox="1"/>
          <p:nvPr/>
        </p:nvSpPr>
        <p:spPr>
          <a:xfrm>
            <a:off x="749808" y="1883664"/>
            <a:ext cx="3383280" cy="2240280"/>
          </a:xfrm>
          <a:prstGeom prst="rect">
            <a:avLst/>
          </a:prstGeom>
          <a:noFill/>
        </p:spPr>
        <p:txBody>
          <a:bodyPr wrap="square" lIns="27432" rIns="27432" tIns="18288" bIns="18288">
            <a:spAutoFit/>
          </a:bodyPr>
          <a:lstStyle/>
          <a:p>
            <a:r>
              <a:rPr sz="900" b="0">
                <a:solidFill>
                  <a:srgbClr val="5A6078"/>
                </a:solidFill>
                <a:latin typeface="Segoe UI"/>
              </a:rPr>
              <a:t>Analyze my OneDrive. Catalog and categorize all of the files. Create a dynamic HTML presentation showing the disposition of the files, age, relevancy, customer, product etc. The presentation should be no more than five scrolling screens with an executive overview with animated interactivity. The sixth screen should be recommendations. Create a plan to optimize my files and reorganize them. The plan should include folders and...</a:t>
            </a:r>
          </a:p>
        </p:txBody>
      </p:sp>
      <p:sp>
        <p:nvSpPr>
          <p:cNvPr id="9" name="Rounded Rectangle 8"/>
          <p:cNvSpPr/>
          <p:nvPr/>
        </p:nvSpPr>
        <p:spPr>
          <a:xfrm>
            <a:off x="4663440" y="1298448"/>
            <a:ext cx="3977639" cy="3273552"/>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298448"/>
            <a:ext cx="3977639"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554480"/>
            <a:ext cx="3383280" cy="256032"/>
          </a:xfrm>
          <a:prstGeom prst="rect">
            <a:avLst/>
          </a:prstGeom>
          <a:noFill/>
        </p:spPr>
        <p:txBody>
          <a:bodyPr wrap="square" lIns="27432" rIns="27432" tIns="18288" bIns="18288">
            <a:spAutoFit/>
          </a:bodyPr>
          <a:lstStyle/>
          <a:p>
            <a:r>
              <a:rPr sz="1300" b="1">
                <a:solidFill>
                  <a:srgbClr val="1B1B2C"/>
                </a:solidFill>
                <a:latin typeface="Segoe UI"/>
              </a:rPr>
              <a:t>Execution flow</a:t>
            </a:r>
          </a:p>
        </p:txBody>
      </p:sp>
      <p:sp>
        <p:nvSpPr>
          <p:cNvPr id="12" name="TextBox 11"/>
          <p:cNvSpPr txBox="1"/>
          <p:nvPr/>
        </p:nvSpPr>
        <p:spPr>
          <a:xfrm>
            <a:off x="4892040" y="1874519"/>
            <a:ext cx="3429000" cy="2148840"/>
          </a:xfrm>
          <a:prstGeom prst="rect">
            <a:avLst/>
          </a:prstGeom>
          <a:noFill/>
        </p:spPr>
        <p:txBody>
          <a:bodyPr wrap="none" lIns="73152" rIns="73152" tIns="36576">
            <a:spAutoFit/>
          </a:bodyPr>
          <a:lstStyle/>
          <a:p>
            <a:pPr>
              <a:spcAft>
                <a:spcPts val="500"/>
              </a:spcAft>
              <a:defRPr sz="1000">
                <a:solidFill>
                  <a:srgbClr val="1B1B2C"/>
                </a:solidFill>
                <a:latin typeface="Segoe UI"/>
              </a:defRPr>
            </a:pPr>
            <a:r>
              <a:t>• OneDrive -&gt; Scan file inventory</a:t>
            </a:r>
          </a:p>
          <a:p>
            <a:pPr>
              <a:spcAft>
                <a:spcPts val="500"/>
              </a:spcAft>
              <a:defRPr sz="1000">
                <a:solidFill>
                  <a:srgbClr val="1B1B2C"/>
                </a:solidFill>
                <a:latin typeface="Segoe UI"/>
              </a:defRPr>
            </a:pPr>
            <a:r>
              <a:t>• Catalog -&gt; Age + relevance</a:t>
            </a:r>
          </a:p>
          <a:p>
            <a:pPr>
              <a:spcAft>
                <a:spcPts val="500"/>
              </a:spcAft>
              <a:defRPr sz="1000">
                <a:solidFill>
                  <a:srgbClr val="1B1B2C"/>
                </a:solidFill>
                <a:latin typeface="Segoe UI"/>
              </a:defRPr>
            </a:pPr>
            <a:r>
              <a:t>• Categorize -&gt; Customer / product</a:t>
            </a:r>
          </a:p>
          <a:p>
            <a:pPr>
              <a:spcAft>
                <a:spcPts val="500"/>
              </a:spcAft>
              <a:defRPr sz="1000">
                <a:solidFill>
                  <a:srgbClr val="1B1B2C"/>
                </a:solidFill>
                <a:latin typeface="Segoe UI"/>
              </a:defRPr>
            </a:pPr>
            <a:r>
              <a:t>• Visualize -&gt; HTML dashboard</a:t>
            </a:r>
          </a:p>
          <a:p>
            <a:pPr>
              <a:spcAft>
                <a:spcPts val="500"/>
              </a:spcAft>
              <a:defRPr sz="1000">
                <a:solidFill>
                  <a:srgbClr val="1B1B2C"/>
                </a:solidFill>
                <a:latin typeface="Segoe UI"/>
              </a:defRPr>
            </a:pPr>
            <a:r>
              <a:t>• Recommend -&gt; Optimization plan</a:t>
            </a:r>
          </a:p>
        </p:txBody>
      </p:sp>
      <p:sp>
        <p:nvSpPr>
          <p:cNvPr id="13" name="TextBox 12"/>
          <p:cNvSpPr txBox="1"/>
          <p:nvPr/>
        </p:nvSpPr>
        <p:spPr>
          <a:xfrm>
            <a:off x="4910328" y="4133087"/>
            <a:ext cx="3337560" cy="310896"/>
          </a:xfrm>
          <a:prstGeom prst="rect">
            <a:avLst/>
          </a:prstGeom>
          <a:noFill/>
        </p:spPr>
        <p:txBody>
          <a:bodyPr wrap="square" lIns="27432" rIns="27432" tIns="18288" bIns="18288">
            <a:spAutoFit/>
          </a:bodyPr>
          <a:lstStyle/>
          <a:p>
            <a:r>
              <a:rPr sz="1000" b="0">
                <a:solidFill>
                  <a:srgbClr val="5A6078"/>
                </a:solidFill>
                <a:latin typeface="Segoe UI"/>
              </a:rPr>
              <a:t>An organization plan and visual overview of your files, with cleanup decisions queued up for your approval.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1B1B2C"/>
                </a:solidFill>
                <a:latin typeface="Segoe UI"/>
              </a:rPr>
              <a:t>Add-on tip: schedule Cowork prompts</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5A6078"/>
                </a:solidFill>
                <a:latin typeface="Segoe UI"/>
              </a:rPr>
              <a:t>COPILOT COWORK</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1600200"/>
            <a:ext cx="7315200" cy="224028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1600200"/>
            <a:ext cx="731520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1901952"/>
            <a:ext cx="1097280" cy="411480"/>
          </a:xfrm>
          <a:prstGeom prst="rect">
            <a:avLst/>
          </a:prstGeom>
          <a:noFill/>
        </p:spPr>
        <p:txBody>
          <a:bodyPr wrap="square" lIns="27432" rIns="27432" tIns="18288" bIns="18288">
            <a:spAutoFit/>
          </a:bodyPr>
          <a:lstStyle/>
          <a:p>
            <a:r>
              <a:rPr sz="2200" b="1">
                <a:solidFill>
                  <a:srgbClr val="3E8E22"/>
                </a:solidFill>
                <a:latin typeface="Segoe UI"/>
              </a:rPr>
              <a:t>Tip</a:t>
            </a:r>
          </a:p>
        </p:txBody>
      </p:sp>
      <p:sp>
        <p:nvSpPr>
          <p:cNvPr id="8" name="TextBox 7"/>
          <p:cNvSpPr txBox="1"/>
          <p:nvPr/>
        </p:nvSpPr>
        <p:spPr>
          <a:xfrm>
            <a:off x="1234440" y="2514600"/>
            <a:ext cx="6583680" cy="868680"/>
          </a:xfrm>
          <a:prstGeom prst="rect">
            <a:avLst/>
          </a:prstGeom>
          <a:noFill/>
        </p:spPr>
        <p:txBody>
          <a:bodyPr wrap="square" lIns="27432" rIns="27432" tIns="18288" bIns="18288">
            <a:spAutoFit/>
          </a:bodyPr>
          <a:lstStyle/>
          <a:p>
            <a:r>
              <a:rPr sz="1700" b="0">
                <a:solidFill>
                  <a:srgbClr val="1B1B2C"/>
                </a:solidFill>
                <a:latin typeface="Segoe UI"/>
              </a:rPr>
              <a:t>Any of these Cowork tasks can be scheduled to run automatically. In Microsoft 365 Copilot, hover a saved prompt and pick "Schedule this prompt", then choose a daily or weekly cadence (requires a Microsoft 365 Copilot licence).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1B1B2C"/>
                </a:solidFill>
                <a:latin typeface="Segoe UI"/>
              </a:rPr>
              <a:t>References</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5A6078"/>
                </a:solidFill>
                <a:latin typeface="Segoe UI"/>
              </a:rPr>
              <a:t>MICROSOFT SOURCES</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25880"/>
            <a:ext cx="7680960" cy="3108960"/>
          </a:xfrm>
          <a:prstGeom prst="rect">
            <a:avLst/>
          </a:prstGeom>
          <a:noFill/>
        </p:spPr>
        <p:txBody>
          <a:bodyPr wrap="square" lIns="73152" rIns="73152" tIns="36576">
            <a:spAutoFit/>
          </a:bodyPr>
          <a:lstStyle/>
          <a:p>
            <a:pPr>
              <a:spcAft>
                <a:spcPts val="500"/>
              </a:spcAft>
            </a:pPr>
            <a:r>
              <a:rPr sz="1200">
                <a:solidFill>
                  <a:srgbClr val="1B1B2C"/>
                </a:solidFill>
                <a:latin typeface="Segoe UI"/>
              </a:rPr>
              <a:t>• </a:t>
            </a:r>
            <a:r>
              <a:rPr sz="1200" u="sng">
                <a:solidFill>
                  <a:srgbClr val="1A6FD6"/>
                </a:solidFill>
                <a:latin typeface="Segoe UI"/>
                <a:hlinkClick r:id="rId2"/>
              </a:rPr>
              <a:t>LEARN Decide which Copilot is right for you</a:t>
            </a:r>
          </a:p>
          <a:p>
            <a:pPr>
              <a:spcAft>
                <a:spcPts val="500"/>
              </a:spcAft>
            </a:pPr>
            <a:r>
              <a:rPr sz="1200">
                <a:solidFill>
                  <a:srgbClr val="1B1B2C"/>
                </a:solidFill>
                <a:latin typeface="Segoe UI"/>
              </a:rPr>
              <a:t>• </a:t>
            </a:r>
            <a:r>
              <a:rPr sz="1200" u="sng">
                <a:solidFill>
                  <a:srgbClr val="1A6FD6"/>
                </a:solidFill>
                <a:latin typeface="Segoe UI"/>
                <a:hlinkClick r:id="rId3"/>
              </a:rPr>
              <a:t>LEARN Copilot Cowork overview</a:t>
            </a:r>
          </a:p>
          <a:p>
            <a:pPr>
              <a:spcAft>
                <a:spcPts val="500"/>
              </a:spcAft>
            </a:pPr>
            <a:r>
              <a:rPr sz="1200">
                <a:solidFill>
                  <a:srgbClr val="1B1B2C"/>
                </a:solidFill>
                <a:latin typeface="Segoe UI"/>
              </a:rPr>
              <a:t>• </a:t>
            </a:r>
            <a:r>
              <a:rPr sz="1200" u="sng">
                <a:solidFill>
                  <a:srgbClr val="1A6FD6"/>
                </a:solidFill>
                <a:latin typeface="Segoe UI"/>
                <a:hlinkClick r:id="rId4"/>
              </a:rPr>
              <a:t>LEARN Copilot Cowork common questions</a:t>
            </a:r>
          </a:p>
          <a:p>
            <a:pPr>
              <a:spcAft>
                <a:spcPts val="500"/>
              </a:spcAft>
            </a:pPr>
            <a:r>
              <a:rPr sz="1200">
                <a:solidFill>
                  <a:srgbClr val="1B1B2C"/>
                </a:solidFill>
                <a:latin typeface="Segoe UI"/>
              </a:rPr>
              <a:t>• </a:t>
            </a:r>
            <a:r>
              <a:rPr sz="1200" u="sng">
                <a:solidFill>
                  <a:srgbClr val="1A6FD6"/>
                </a:solidFill>
                <a:latin typeface="Segoe UI"/>
                <a:hlinkClick r:id="rId5"/>
              </a:rPr>
              <a:t>LEARN Microsoft Copilot Studio overview</a:t>
            </a:r>
          </a:p>
          <a:p>
            <a:pPr>
              <a:spcAft>
                <a:spcPts val="500"/>
              </a:spcAft>
            </a:pPr>
            <a:r>
              <a:rPr sz="1200">
                <a:solidFill>
                  <a:srgbClr val="1B1B2C"/>
                </a:solidFill>
                <a:latin typeface="Segoe UI"/>
              </a:rPr>
              <a:t>• </a:t>
            </a:r>
            <a:r>
              <a:rPr sz="1200" u="sng">
                <a:solidFill>
                  <a:srgbClr val="1A6FD6"/>
                </a:solidFill>
                <a:latin typeface="Segoe UI"/>
                <a:hlinkClick r:id="rId6"/>
              </a:rPr>
              <a:t>LEARN Agent Builder vs Copilot Studio</a:t>
            </a:r>
          </a:p>
          <a:p>
            <a:pPr>
              <a:spcAft>
                <a:spcPts val="500"/>
              </a:spcAft>
            </a:pPr>
            <a:r>
              <a:rPr sz="1200">
                <a:solidFill>
                  <a:srgbClr val="1B1B2C"/>
                </a:solidFill>
                <a:latin typeface="Segoe UI"/>
              </a:rPr>
              <a:t>• </a:t>
            </a:r>
            <a:r>
              <a:rPr sz="1200" u="sng">
                <a:solidFill>
                  <a:srgbClr val="1A6FD6"/>
                </a:solidFill>
                <a:latin typeface="Segoe UI"/>
                <a:hlinkClick r:id="rId7"/>
              </a:rPr>
              <a:t>LEARN Researcher agent in Microsoft 365 Copilot</a:t>
            </a:r>
          </a:p>
          <a:p>
            <a:pPr>
              <a:spcAft>
                <a:spcPts val="500"/>
              </a:spcAft>
            </a:pPr>
            <a:r>
              <a:rPr sz="1200">
                <a:solidFill>
                  <a:srgbClr val="1B1B2C"/>
                </a:solidFill>
                <a:latin typeface="Segoe UI"/>
              </a:rPr>
              <a:t>• </a:t>
            </a:r>
            <a:r>
              <a:rPr sz="1200" u="sng">
                <a:solidFill>
                  <a:srgbClr val="1A6FD6"/>
                </a:solidFill>
                <a:latin typeface="Segoe UI"/>
                <a:hlinkClick r:id="rId8"/>
              </a:rPr>
              <a:t>LEARN Agents for Microsoft 365 Copilot Chat</a:t>
            </a:r>
          </a:p>
          <a:p>
            <a:pPr>
              <a:spcAft>
                <a:spcPts val="500"/>
              </a:spcAft>
            </a:pPr>
            <a:r>
              <a:rPr sz="1200">
                <a:solidFill>
                  <a:srgbClr val="1B1B2C"/>
                </a:solidFill>
                <a:latin typeface="Segoe UI"/>
              </a:rPr>
              <a:t>• </a:t>
            </a:r>
            <a:r>
              <a:rPr sz="1200" u="sng">
                <a:solidFill>
                  <a:srgbClr val="1A6FD6"/>
                </a:solidFill>
                <a:latin typeface="Segoe UI"/>
                <a:hlinkClick r:id="rId9"/>
              </a:rPr>
              <a:t>LEARN Microsoft Scout setup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