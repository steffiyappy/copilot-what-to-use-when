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8872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0B7C3"/>
                </a:solidFill>
                <a:latin typeface="Segoe UI"/>
              </a:rPr>
              <a:t>Technical lite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7772400" cy="10058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3600" b="1">
                <a:solidFill>
                  <a:srgbClr val="F2F5FF"/>
                </a:solidFill>
                <a:latin typeface="Segoe UI"/>
              </a:rPr>
              <a:t>Microsoft 365 Copilot and 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148840"/>
            <a:ext cx="731520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0">
                <a:solidFill>
                  <a:srgbClr val="AEB8E0"/>
                </a:solidFill>
                <a:latin typeface="Segoe UI"/>
              </a:rPr>
              <a:t>A compact technical matrix for comparing Copilot and Cowork.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46120"/>
            <a:ext cx="2240280" cy="100584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246120"/>
            <a:ext cx="64008" cy="100584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335584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Choose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685031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AEB8E0"/>
                </a:solidFill>
                <a:latin typeface="Segoe UI"/>
              </a:rPr>
              <a:t>Pick by audience and depth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3246120"/>
            <a:ext cx="2240280" cy="100584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3246120"/>
            <a:ext cx="64008" cy="1005840"/>
          </a:xfrm>
          <a:prstGeom prst="rect">
            <a:avLst/>
          </a:prstGeom>
          <a:solidFill>
            <a:srgbClr val="8B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335584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3685031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AEB8E0"/>
                </a:solidFill>
                <a:latin typeface="Segoe UI"/>
              </a:rPr>
              <a:t>Use the smallest sufficient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3246120"/>
            <a:ext cx="2240280" cy="100584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3246120"/>
            <a:ext cx="64008" cy="1005840"/>
          </a:xfrm>
          <a:prstGeom prst="rect">
            <a:avLst/>
          </a:prstGeom>
          <a:solidFill>
            <a:srgbClr val="73B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6752" y="3355848"/>
            <a:ext cx="196596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685031"/>
            <a:ext cx="19659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0">
                <a:solidFill>
                  <a:srgbClr val="AEB8E0"/>
                </a:solidFill>
                <a:latin typeface="Segoe UI"/>
              </a:rPr>
              <a:t>Move from answer to outcome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0B7C3"/>
                </a:solidFill>
                <a:latin typeface="Segoe UI"/>
              </a:rPr>
              <a:t>Section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500" b="1">
                <a:solidFill>
                  <a:srgbClr val="F2F5FF"/>
                </a:solidFill>
                <a:latin typeface="Segoe UI"/>
              </a:rPr>
              <a:t>1. Tool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M365 Copilot: chat, in-app Copilot, ready agents, and search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Cowork: action-taking AI coworker with approvals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Copilot handles quick asks and open-file work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Cowork handles full processes that span apps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463040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57276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21408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2121408"/>
            <a:ext cx="64008" cy="502920"/>
          </a:xfrm>
          <a:prstGeom prst="rect">
            <a:avLst/>
          </a:prstGeom>
          <a:solidFill>
            <a:srgbClr val="8B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2231136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779776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779776"/>
            <a:ext cx="64008" cy="502920"/>
          </a:xfrm>
          <a:prstGeom prst="rect">
            <a:avLst/>
          </a:prstGeom>
          <a:solidFill>
            <a:srgbClr val="73B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889504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Ready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38144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438144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5478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Cowork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0B7C3"/>
                </a:solidFill>
                <a:latin typeface="Segoe UI"/>
              </a:rPr>
              <a:t>Section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500" b="1">
                <a:solidFill>
                  <a:srgbClr val="F2F5FF"/>
                </a:solidFill>
                <a:latin typeface="Segoe UI"/>
              </a:rPr>
              <a:t>2. Task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Fastest path: Copilot Chat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Best for open file work: in-app Copilot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Best for deep analysis: ready agents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Best for process execution across Microsoft 365: Cowork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463040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57276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21408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2121408"/>
            <a:ext cx="64008" cy="502920"/>
          </a:xfrm>
          <a:prstGeom prst="rect">
            <a:avLst/>
          </a:prstGeom>
          <a:solidFill>
            <a:srgbClr val="8B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2231136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779776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779776"/>
            <a:ext cx="64008" cy="502920"/>
          </a:xfrm>
          <a:prstGeom prst="rect">
            <a:avLst/>
          </a:prstGeom>
          <a:solidFill>
            <a:srgbClr val="73B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889504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Ready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38144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438144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5478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Cowork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0B7C3"/>
                </a:solidFill>
                <a:latin typeface="Segoe UI"/>
              </a:rPr>
              <a:t>Section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500" b="1">
                <a:solidFill>
                  <a:srgbClr val="F2F5FF"/>
                </a:solidFill>
                <a:latin typeface="Segoe UI"/>
              </a:rPr>
              <a:t>3. App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Excel: in-app edits, Analyst, or Cowork generated workbook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Word: open document work, Researcher report, or Cowork brief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Outlook: draft and triage in-app, send and schedule with Cowork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Teams: meeting help in-app, turn talk into action with Cowork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463040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57276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21408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2121408"/>
            <a:ext cx="64008" cy="502920"/>
          </a:xfrm>
          <a:prstGeom prst="rect">
            <a:avLst/>
          </a:prstGeom>
          <a:solidFill>
            <a:srgbClr val="8B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2231136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779776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779776"/>
            <a:ext cx="64008" cy="502920"/>
          </a:xfrm>
          <a:prstGeom prst="rect">
            <a:avLst/>
          </a:prstGeom>
          <a:solidFill>
            <a:srgbClr val="73B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889504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Ready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38144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438144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5478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Cowork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0B7C3"/>
                </a:solidFill>
                <a:latin typeface="Segoe UI"/>
              </a:rPr>
              <a:t>Section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500" b="1">
                <a:solidFill>
                  <a:srgbClr val="F2F5FF"/>
                </a:solidFill>
                <a:latin typeface="Segoe UI"/>
              </a:rPr>
              <a:t>4. Prompt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Outcome, inputs, definition of done, constraints, approval scope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Useful for Cowork because action scope matters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Specific prompts reduce ambiguity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Approval points should be explicit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463040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57276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21408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2121408"/>
            <a:ext cx="64008" cy="502920"/>
          </a:xfrm>
          <a:prstGeom prst="rect">
            <a:avLst/>
          </a:prstGeom>
          <a:solidFill>
            <a:srgbClr val="8B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2231136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779776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779776"/>
            <a:ext cx="64008" cy="502920"/>
          </a:xfrm>
          <a:prstGeom prst="rect">
            <a:avLst/>
          </a:prstGeom>
          <a:solidFill>
            <a:srgbClr val="73B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889504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Ready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38144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438144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5478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Cowork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0B7C3"/>
                </a:solidFill>
                <a:latin typeface="Segoe UI"/>
              </a:rPr>
              <a:t>Section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500" b="1">
                <a:solidFill>
                  <a:srgbClr val="F2F5FF"/>
                </a:solidFill>
                <a:latin typeface="Segoe UI"/>
              </a:rPr>
              <a:t>5. Functional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Sales starts with Outlook and Excel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Marketing can ask Cowork to build a launch pack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Finance uses Analyst, then Cowork to compile outputs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Legal and procurement use in-app Copilot plus Researcher when traceability matters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463040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57276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21408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2121408"/>
            <a:ext cx="64008" cy="502920"/>
          </a:xfrm>
          <a:prstGeom prst="rect">
            <a:avLst/>
          </a:prstGeom>
          <a:solidFill>
            <a:srgbClr val="8B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2231136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779776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779776"/>
            <a:ext cx="64008" cy="502920"/>
          </a:xfrm>
          <a:prstGeom prst="rect">
            <a:avLst/>
          </a:prstGeom>
          <a:solidFill>
            <a:srgbClr val="73B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889504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Ready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38144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438144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5478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Cowork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00B7C3"/>
                </a:solidFill>
                <a:latin typeface="Segoe UI"/>
              </a:rPr>
              <a:t>Section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786384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500" b="1">
                <a:solidFill>
                  <a:srgbClr val="F2F5FF"/>
                </a:solidFill>
                <a:latin typeface="Segoe UI"/>
              </a:rPr>
              <a:t>6. Check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17320"/>
            <a:ext cx="475488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Saved or scheduled prompt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Ready Microsoft agent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Copilot Cowork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2F5FF"/>
                </a:solidFill>
                <a:latin typeface="Segoe UI"/>
              </a:rPr>
              <a:t>• Use Cowork when the job needs a full process and approved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463040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463040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33872" y="1572768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Chat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121408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0" y="2121408"/>
            <a:ext cx="64008" cy="502920"/>
          </a:xfrm>
          <a:prstGeom prst="rect">
            <a:avLst/>
          </a:prstGeom>
          <a:solidFill>
            <a:srgbClr val="8B6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33872" y="2231136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0" y="2779776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0" y="2779776"/>
            <a:ext cx="64008" cy="502920"/>
          </a:xfrm>
          <a:prstGeom prst="rect">
            <a:avLst/>
          </a:prstGeom>
          <a:solidFill>
            <a:srgbClr val="73B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3872" y="2889504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Ready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3438144"/>
            <a:ext cx="2651760" cy="502920"/>
          </a:xfrm>
          <a:prstGeom prst="roundRect">
            <a:avLst/>
          </a:prstGeom>
          <a:solidFill>
            <a:srgbClr val="172046"/>
          </a:solidFill>
          <a:ln>
            <a:solidFill>
              <a:srgbClr val="2C3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0" y="3438144"/>
            <a:ext cx="64008" cy="502920"/>
          </a:xfrm>
          <a:prstGeom prst="rect">
            <a:avLst/>
          </a:prstGeom>
          <a:solidFill>
            <a:srgbClr val="00B7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3547872"/>
            <a:ext cx="237744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1">
                <a:solidFill>
                  <a:srgbClr val="F2F5FF"/>
                </a:solidFill>
                <a:latin typeface="Segoe UI"/>
              </a:rPr>
              <a:t>Cowork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