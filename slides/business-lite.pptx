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Oval 1"/>
          <p:cNvSpPr/>
          <p:nvPr/>
        </p:nvSpPr>
        <p:spPr>
          <a:xfrm>
            <a:off x="7680960" y="-365760"/>
            <a:ext cx="2011680" cy="2011680"/>
          </a:xfrm>
          <a:prstGeom prst="ellipse">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68680"/>
            <a:ext cx="6995160" cy="1234440"/>
          </a:xfrm>
          <a:prstGeom prst="rect">
            <a:avLst/>
          </a:prstGeom>
          <a:noFill/>
        </p:spPr>
        <p:txBody>
          <a:bodyPr wrap="square" lIns="27432" rIns="27432" tIns="18288" bIns="18288">
            <a:spAutoFit/>
          </a:bodyPr>
          <a:lstStyle/>
          <a:p>
            <a:r>
              <a:rPr sz="2600" b="1">
                <a:solidFill>
                  <a:srgbClr val="1B1B2C"/>
                </a:solidFill>
                <a:latin typeface="Segoe UI"/>
              </a:rPr>
              <a:t>Microsoft 365 Copilot &amp; Cowork: what to use when</a:t>
            </a:r>
          </a:p>
        </p:txBody>
      </p:sp>
      <p:sp>
        <p:nvSpPr>
          <p:cNvPr id="4" name="TextBox 3"/>
          <p:cNvSpPr txBox="1"/>
          <p:nvPr/>
        </p:nvSpPr>
        <p:spPr>
          <a:xfrm>
            <a:off x="658368" y="2212848"/>
            <a:ext cx="7726679" cy="1005840"/>
          </a:xfrm>
          <a:prstGeom prst="rect">
            <a:avLst/>
          </a:prstGeom>
          <a:noFill/>
        </p:spPr>
        <p:txBody>
          <a:bodyPr wrap="square" lIns="27432" rIns="27432" tIns="18288" bIns="18288">
            <a:spAutoFit/>
          </a:bodyPr>
          <a:lstStyle/>
          <a:p>
            <a:r>
              <a:rPr sz="1400" b="0">
                <a:solidFill>
                  <a:srgbClr val="5A6078"/>
                </a:solidFill>
                <a:latin typeface="Segoe UI"/>
              </a:rPr>
              <a:t>Microsoft 365 Copilot is your everyday AI assistant. Copilot Cowork is the AI coworker that does the work for you. This guide helps you pick the right one for each task. Every claim is grounded in Microsoft Learn or microsoft.com, with links at the bottom.</a:t>
            </a:r>
          </a:p>
        </p:txBody>
      </p:sp>
      <p:sp>
        <p:nvSpPr>
          <p:cNvPr id="5" name="TextBox 4"/>
          <p:cNvSpPr txBox="1"/>
          <p:nvPr/>
        </p:nvSpPr>
        <p:spPr>
          <a:xfrm>
            <a:off x="658368" y="4389120"/>
            <a:ext cx="4114800" cy="274320"/>
          </a:xfrm>
          <a:prstGeom prst="rect">
            <a:avLst/>
          </a:prstGeom>
          <a:noFill/>
        </p:spPr>
        <p:txBody>
          <a:bodyPr wrap="square" lIns="27432" rIns="27432" tIns="18288" bIns="18288">
            <a:spAutoFit/>
          </a:bodyPr>
          <a:lstStyle/>
          <a:p>
            <a:r>
              <a:rPr sz="1200" b="1">
                <a:solidFill>
                  <a:srgbClr val="1A6FD6"/>
                </a:solidFill>
                <a:latin typeface="Segoe UI"/>
              </a:rPr>
              <a:t>Warm customer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SECTION 01</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At a glance</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Pick by how the work shows up: a question to answer, or a job to get done end-to-end.</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Microsoft 365 Copilot</a:t>
            </a:r>
          </a:p>
          <a:p>
            <a:pPr>
              <a:spcAft>
                <a:spcPts val="500"/>
              </a:spcAft>
              <a:defRPr sz="1300">
                <a:solidFill>
                  <a:srgbClr val="1B1B2C"/>
                </a:solidFill>
                <a:latin typeface="Segoe UI"/>
              </a:defRPr>
            </a:pPr>
            <a:r>
              <a:t>• Copilot Cowork</a:t>
            </a:r>
          </a:p>
          <a:p>
            <a:pPr>
              <a:spcAft>
                <a:spcPts val="500"/>
              </a:spcAft>
              <a:defRPr sz="1300">
                <a:solidFill>
                  <a:srgbClr val="1B1B2C"/>
                </a:solidFill>
                <a:latin typeface="Segoe UI"/>
              </a:defRPr>
            </a:pPr>
            <a:r>
              <a:t>• Pick by how the work shows up: a question to answer, or a job to get done end-to-end.</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1B1B2C"/>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5A6078"/>
                </a:solidFill>
                <a:latin typeface="Segoe UI"/>
              </a:rPr>
              <a:t>Pick the simplest Copilot surface that can finish the job with the right level of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SECTION 02</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Pick by the job to be done</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One recommendation per task, with a note when something else also works.</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Quick question, brainstorm, or short reply</a:t>
            </a:r>
          </a:p>
          <a:p>
            <a:pPr>
              <a:spcAft>
                <a:spcPts val="500"/>
              </a:spcAft>
              <a:defRPr sz="1300">
                <a:solidFill>
                  <a:srgbClr val="1B1B2C"/>
                </a:solidFill>
                <a:latin typeface="Segoe UI"/>
              </a:defRPr>
            </a:pPr>
            <a:r>
              <a:t>• Draft or reply in Outlook, summarise a Teams meeting, edit a document</a:t>
            </a:r>
          </a:p>
          <a:p>
            <a:pPr>
              <a:spcAft>
                <a:spcPts val="500"/>
              </a:spcAft>
              <a:defRPr sz="1300">
                <a:solidFill>
                  <a:srgbClr val="1B1B2C"/>
                </a:solidFill>
                <a:latin typeface="Segoe UI"/>
              </a:defRPr>
            </a:pPr>
            <a:r>
              <a:t>• Deep, multi-source research with citations</a:t>
            </a:r>
          </a:p>
          <a:p>
            <a:pPr>
              <a:spcAft>
                <a:spcPts val="500"/>
              </a:spcAft>
              <a:defRPr sz="1300">
                <a:solidFill>
                  <a:srgbClr val="1B1B2C"/>
                </a:solidFill>
                <a:latin typeface="Segoe UI"/>
              </a:defRPr>
            </a:pPr>
            <a:r>
              <a:t>• Take real action across M365 (send, schedule, create, post)</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One prompt, multiple deliverables (brief, model, deck)</a:t>
            </a:r>
          </a:p>
          <a:p>
            <a:pPr>
              <a:spcAft>
                <a:spcPts val="500"/>
              </a:spcAft>
              <a:defRPr sz="1300">
                <a:solidFill>
                  <a:srgbClr val="1B1B2C"/>
                </a:solidFill>
                <a:latin typeface="Segoe UI"/>
              </a:defRPr>
            </a:pPr>
            <a:r>
              <a:t>• A small Q&amp;A bot for yourself or a small team</a:t>
            </a:r>
          </a:p>
          <a:p>
            <a:pPr>
              <a:spcAft>
                <a:spcPts val="500"/>
              </a:spcAft>
              <a:defRPr sz="1300">
                <a:solidFill>
                  <a:srgbClr val="1B1B2C"/>
                </a:solidFill>
                <a:latin typeface="Segoe UI"/>
              </a:defRPr>
            </a:pPr>
            <a:r>
              <a:t>• Run a prompt on a recurring schedule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SECTION 03</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Same app, different power</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When the work involves an M365 app, you have more than one Copilot option. Some live inside the app, others act on its files and signals from their own surface. Pick by how much heavy lifting you need.</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Use this page section as the decision checkpoint for the workflow.</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1B1B2C"/>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5A6078"/>
                </a:solidFill>
                <a:latin typeface="Segoe UI"/>
              </a:rPr>
              <a:t>Pick the simplest Copilot surface that can finish the job with the right level of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SECTION 04</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How to ask Cowork well</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A vague prompt forces Cowork to guess. Five small parts make the difference.</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A vague prompt forces Cowork to guess. Five small parts make the difference.</a:t>
            </a:r>
          </a:p>
          <a:p>
            <a:pPr>
              <a:spcAft>
                <a:spcPts val="500"/>
              </a:spcAft>
              <a:defRPr sz="1300">
                <a:solidFill>
                  <a:srgbClr val="1B1B2C"/>
                </a:solidFill>
                <a:latin typeface="Segoe UI"/>
              </a:defRPr>
            </a:pPr>
            <a:r>
              <a:t>• "Help me prep for my offsite next week."</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1B1B2C"/>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5A6078"/>
                </a:solidFill>
                <a:latin typeface="Segoe UI"/>
              </a:rPr>
              <a:t>Pick the simplest Copilot surface that can finish the job with the right level of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SECTION 05</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How these tools play together in real work</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A picture of the right tool for typical jobs in each function.</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Monday pipeline review</a:t>
            </a:r>
          </a:p>
          <a:p>
            <a:pPr>
              <a:spcAft>
                <a:spcPts val="500"/>
              </a:spcAft>
              <a:defRPr sz="1300">
                <a:solidFill>
                  <a:srgbClr val="1B1B2C"/>
                </a:solidFill>
                <a:latin typeface="Segoe UI"/>
              </a:defRPr>
            </a:pPr>
            <a:r>
              <a:t>• Campaign launch pack</a:t>
            </a:r>
          </a:p>
          <a:p>
            <a:pPr>
              <a:spcAft>
                <a:spcPts val="500"/>
              </a:spcAft>
              <a:defRPr sz="1300">
                <a:solidFill>
                  <a:srgbClr val="1B1B2C"/>
                </a:solidFill>
                <a:latin typeface="Segoe UI"/>
              </a:defRPr>
            </a:pPr>
            <a:r>
              <a:t>• Month-end variance pack</a:t>
            </a:r>
          </a:p>
          <a:p>
            <a:pPr>
              <a:spcAft>
                <a:spcPts val="500"/>
              </a:spcAft>
              <a:defRPr sz="1300">
                <a:solidFill>
                  <a:srgbClr val="1B1B2C"/>
                </a:solidFill>
                <a:latin typeface="Segoe UI"/>
              </a:defRPr>
            </a:pPr>
            <a:r>
              <a:t>• Contract redline against your playbook</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RFP shortlist and evaluation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SECTION 06</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Check this order first</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5A6078"/>
                </a:solidFill>
                <a:latin typeface="Segoe UI"/>
              </a:rPr>
              <a:t>Lean on what is already there before you reach for a bigger tool.</a:t>
            </a:r>
          </a:p>
        </p:txBody>
      </p:sp>
      <p:sp>
        <p:nvSpPr>
          <p:cNvPr id="6" name="Rounded Rectangle 5"/>
          <p:cNvSpPr/>
          <p:nvPr/>
        </p:nvSpPr>
        <p:spPr>
          <a:xfrm>
            <a:off x="54864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Can a saved prompt do it?</a:t>
            </a:r>
          </a:p>
          <a:p>
            <a:pPr>
              <a:spcAft>
                <a:spcPts val="500"/>
              </a:spcAft>
              <a:defRPr sz="1300">
                <a:solidFill>
                  <a:srgbClr val="1B1B2C"/>
                </a:solidFill>
                <a:latin typeface="Segoe UI"/>
              </a:defRPr>
            </a:pPr>
            <a:r>
              <a:t>• Is there a ready Microsoft agent?</a:t>
            </a:r>
          </a:p>
          <a:p>
            <a:pPr>
              <a:spcAft>
                <a:spcPts val="500"/>
              </a:spcAft>
              <a:defRPr sz="1300">
                <a:solidFill>
                  <a:srgbClr val="1B1B2C"/>
                </a:solidFill>
                <a:latin typeface="Segoe UI"/>
              </a:defRPr>
            </a:pPr>
            <a:r>
              <a:t>• Does Cowork cover the full job?</a:t>
            </a:r>
          </a:p>
          <a:p>
            <a:pPr>
              <a:spcAft>
                <a:spcPts val="500"/>
              </a:spcAft>
              <a:defRPr sz="1300">
                <a:solidFill>
                  <a:srgbClr val="1B1B2C"/>
                </a:solidFill>
                <a:latin typeface="Segoe UI"/>
              </a:defRPr>
            </a:pPr>
            <a:r>
              <a:t>• Simplest: Can a saved prompt do it?</a:t>
            </a:r>
          </a:p>
        </p:txBody>
      </p:sp>
      <p:sp>
        <p:nvSpPr>
          <p:cNvPr id="9" name="Rounded Rectangle 8"/>
          <p:cNvSpPr/>
          <p:nvPr/>
        </p:nvSpPr>
        <p:spPr>
          <a:xfrm>
            <a:off x="4709160" y="1783080"/>
            <a:ext cx="3886200" cy="260604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1B1B2C"/>
                </a:solidFill>
                <a:latin typeface="Segoe UI"/>
              </a:defRPr>
            </a:pPr>
            <a:r>
              <a:t>• Reuse: Is there a ready Microsoft agent?</a:t>
            </a:r>
          </a:p>
          <a:p>
            <a:pPr>
              <a:spcAft>
                <a:spcPts val="500"/>
              </a:spcAft>
              <a:defRPr sz="1300">
                <a:solidFill>
                  <a:srgbClr val="1B1B2C"/>
                </a:solidFill>
                <a:latin typeface="Segoe UI"/>
              </a:defRPr>
            </a:pPr>
            <a:r>
              <a:t>• Scale on demand: Does Cowork cover the full job?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COPILOT COWORK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Cowork tasks: light, medium, heavy</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508760"/>
            <a:ext cx="2514600" cy="233172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508760"/>
            <a:ext cx="25146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2011680" cy="347472"/>
          </a:xfrm>
          <a:prstGeom prst="rect">
            <a:avLst/>
          </a:prstGeom>
          <a:noFill/>
        </p:spPr>
        <p:txBody>
          <a:bodyPr wrap="square" lIns="27432" rIns="27432" tIns="18288" bIns="18288">
            <a:spAutoFit/>
          </a:bodyPr>
          <a:lstStyle/>
          <a:p>
            <a:pPr algn="ctr"/>
            <a:r>
              <a:rPr sz="2200" b="1">
                <a:solidFill>
                  <a:srgbClr val="3E8E22"/>
                </a:solidFill>
                <a:latin typeface="Segoe UI"/>
              </a:rPr>
              <a:t>Light</a:t>
            </a:r>
          </a:p>
        </p:txBody>
      </p:sp>
      <p:sp>
        <p:nvSpPr>
          <p:cNvPr id="8" name="TextBox 7"/>
          <p:cNvSpPr txBox="1"/>
          <p:nvPr/>
        </p:nvSpPr>
        <p:spPr>
          <a:xfrm>
            <a:off x="868680" y="2331720"/>
            <a:ext cx="1965960" cy="822960"/>
          </a:xfrm>
          <a:prstGeom prst="rect">
            <a:avLst/>
          </a:prstGeom>
          <a:noFill/>
        </p:spPr>
        <p:txBody>
          <a:bodyPr wrap="square" lIns="27432" rIns="27432" tIns="18288" bIns="18288">
            <a:spAutoFit/>
          </a:bodyPr>
          <a:lstStyle/>
          <a:p>
            <a:pPr algn="ctr"/>
            <a:r>
              <a:rPr sz="1400" b="0">
                <a:solidFill>
                  <a:srgbClr val="5A6078"/>
                </a:solidFill>
                <a:latin typeface="Segoe UI"/>
              </a:rPr>
              <a:t>Quick everyday handoffs, minutes to finish, a source or two.</a:t>
            </a:r>
          </a:p>
        </p:txBody>
      </p:sp>
      <p:sp>
        <p:nvSpPr>
          <p:cNvPr id="9" name="Rounded Rectangle 8"/>
          <p:cNvSpPr/>
          <p:nvPr/>
        </p:nvSpPr>
        <p:spPr>
          <a:xfrm>
            <a:off x="3429000" y="1508760"/>
            <a:ext cx="2514600" cy="233172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508760"/>
            <a:ext cx="25146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783080"/>
            <a:ext cx="2011680" cy="347472"/>
          </a:xfrm>
          <a:prstGeom prst="rect">
            <a:avLst/>
          </a:prstGeom>
          <a:noFill/>
        </p:spPr>
        <p:txBody>
          <a:bodyPr wrap="square" lIns="27432" rIns="27432" tIns="18288" bIns="18288">
            <a:spAutoFit/>
          </a:bodyPr>
          <a:lstStyle/>
          <a:p>
            <a:pPr algn="ctr"/>
            <a:r>
              <a:rPr sz="2200" b="1">
                <a:solidFill>
                  <a:srgbClr val="0E8E92"/>
                </a:solidFill>
                <a:latin typeface="Segoe UI"/>
              </a:rPr>
              <a:t>Medium</a:t>
            </a:r>
          </a:p>
        </p:txBody>
      </p:sp>
      <p:sp>
        <p:nvSpPr>
          <p:cNvPr id="12" name="TextBox 11"/>
          <p:cNvSpPr txBox="1"/>
          <p:nvPr/>
        </p:nvSpPr>
        <p:spPr>
          <a:xfrm>
            <a:off x="3703320" y="2331720"/>
            <a:ext cx="1965960" cy="822960"/>
          </a:xfrm>
          <a:prstGeom prst="rect">
            <a:avLst/>
          </a:prstGeom>
          <a:noFill/>
        </p:spPr>
        <p:txBody>
          <a:bodyPr wrap="square" lIns="27432" rIns="27432" tIns="18288" bIns="18288">
            <a:spAutoFit/>
          </a:bodyPr>
          <a:lstStyle/>
          <a:p>
            <a:pPr algn="ctr"/>
            <a:r>
              <a:rPr sz="1400" b="0">
                <a:solidFill>
                  <a:srgbClr val="5A6078"/>
                </a:solidFill>
                <a:latin typeface="Segoe UI"/>
              </a:rPr>
              <a:t>Recurring multi-step work that reasons across several sources.</a:t>
            </a:r>
          </a:p>
        </p:txBody>
      </p:sp>
      <p:sp>
        <p:nvSpPr>
          <p:cNvPr id="13" name="Rounded Rectangle 12"/>
          <p:cNvSpPr/>
          <p:nvPr/>
        </p:nvSpPr>
        <p:spPr>
          <a:xfrm>
            <a:off x="6263640" y="1508760"/>
            <a:ext cx="2514600" cy="233172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508760"/>
            <a:ext cx="25146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2011680" cy="347472"/>
          </a:xfrm>
          <a:prstGeom prst="rect">
            <a:avLst/>
          </a:prstGeom>
          <a:noFill/>
        </p:spPr>
        <p:txBody>
          <a:bodyPr wrap="square" lIns="27432" rIns="27432" tIns="18288" bIns="18288">
            <a:spAutoFit/>
          </a:bodyPr>
          <a:lstStyle/>
          <a:p>
            <a:pPr algn="ctr"/>
            <a:r>
              <a:rPr sz="2200" b="1">
                <a:solidFill>
                  <a:srgbClr val="C73E78"/>
                </a:solidFill>
                <a:latin typeface="Segoe UI"/>
              </a:rPr>
              <a:t>Heavy</a:t>
            </a:r>
          </a:p>
        </p:txBody>
      </p:sp>
      <p:sp>
        <p:nvSpPr>
          <p:cNvPr id="16" name="TextBox 15"/>
          <p:cNvSpPr txBox="1"/>
          <p:nvPr/>
        </p:nvSpPr>
        <p:spPr>
          <a:xfrm>
            <a:off x="6537960" y="2331720"/>
            <a:ext cx="1965960" cy="822960"/>
          </a:xfrm>
          <a:prstGeom prst="rect">
            <a:avLst/>
          </a:prstGeom>
          <a:noFill/>
        </p:spPr>
        <p:txBody>
          <a:bodyPr wrap="square" lIns="27432" rIns="27432" tIns="18288" bIns="18288">
            <a:spAutoFit/>
          </a:bodyPr>
          <a:lstStyle/>
          <a:p>
            <a:pPr algn="ctr"/>
            <a:r>
              <a:rPr sz="1400" b="0">
                <a:solidFill>
                  <a:srgbClr val="5A6078"/>
                </a:solidFill>
                <a:latin typeface="Segoe UI"/>
              </a:rPr>
              <a:t>Large multi-part jobs that produce a full set of artifacts.</a:t>
            </a:r>
          </a:p>
        </p:txBody>
      </p:sp>
      <p:sp>
        <p:nvSpPr>
          <p:cNvPr id="17" name="TextBox 16"/>
          <p:cNvSpPr txBox="1"/>
          <p:nvPr/>
        </p:nvSpPr>
        <p:spPr>
          <a:xfrm>
            <a:off x="731520" y="4251960"/>
            <a:ext cx="7680960" cy="320040"/>
          </a:xfrm>
          <a:prstGeom prst="rect">
            <a:avLst/>
          </a:prstGeom>
          <a:noFill/>
        </p:spPr>
        <p:txBody>
          <a:bodyPr wrap="square" lIns="27432" rIns="27432" tIns="18288" bIns="18288">
            <a:spAutoFit/>
          </a:bodyPr>
          <a:lstStyle/>
          <a:p>
            <a:pPr algn="ctr"/>
            <a:r>
              <a:rPr sz="1200" b="0">
                <a:solidFill>
                  <a:srgbClr val="5A6078"/>
                </a:solidFill>
                <a:latin typeface="Segoe UI"/>
              </a:rPr>
              <a:t>Classification follows the source task packs: Lightweight, Everyday workflows, and Hard Problems.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GROUPED BY AUDIENCE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Cowork tasks: light</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3E8E22"/>
                </a:solidFill>
                <a:latin typeface="Segoe UI"/>
              </a:rPr>
              <a:t>All teams</a:t>
            </a:r>
          </a:p>
        </p:txBody>
      </p:sp>
      <p:sp>
        <p:nvSpPr>
          <p:cNvPr id="8" name="TextBox 7"/>
          <p:cNvSpPr txBox="1"/>
          <p:nvPr/>
        </p:nvSpPr>
        <p:spPr>
          <a:xfrm>
            <a:off x="713232" y="1828800"/>
            <a:ext cx="2307336" cy="228600"/>
          </a:xfrm>
          <a:prstGeom prst="rect">
            <a:avLst/>
          </a:prstGeom>
          <a:noFill/>
        </p:spPr>
        <p:txBody>
          <a:bodyPr wrap="square" lIns="27432" rIns="27432" tIns="18288" bIns="18288">
            <a:spAutoFit/>
          </a:bodyPr>
          <a:lstStyle/>
          <a:p>
            <a:r>
              <a:rPr sz="1000" b="1">
                <a:solidFill>
                  <a:srgbClr val="1B1B2C"/>
                </a:solidFill>
                <a:latin typeface="Segoe UI"/>
              </a:rPr>
              <a:t>Rebalance your week and protect focus time</a:t>
            </a:r>
          </a:p>
        </p:txBody>
      </p:sp>
      <p:sp>
        <p:nvSpPr>
          <p:cNvPr id="9" name="TextBox 8"/>
          <p:cNvSpPr txBox="1"/>
          <p:nvPr/>
        </p:nvSpPr>
        <p:spPr>
          <a:xfrm>
            <a:off x="713232" y="2048256"/>
            <a:ext cx="2307336" cy="301752"/>
          </a:xfrm>
          <a:prstGeom prst="rect">
            <a:avLst/>
          </a:prstGeom>
          <a:noFill/>
        </p:spPr>
        <p:txBody>
          <a:bodyPr wrap="square" lIns="27432" rIns="27432" tIns="18288" bIns="18288">
            <a:spAutoFit/>
          </a:bodyPr>
          <a:lstStyle/>
          <a:p>
            <a:r>
              <a:rPr sz="900" b="0">
                <a:solidFill>
                  <a:srgbClr val="5A6078"/>
                </a:solidFill>
                <a:latin typeface="Segoe UI"/>
              </a:rPr>
              <a:t>Rebalance the week, resolve conflicts, and protect focus blocks.</a:t>
            </a:r>
          </a:p>
        </p:txBody>
      </p:sp>
      <p:sp>
        <p:nvSpPr>
          <p:cNvPr id="10" name="TextBox 9"/>
          <p:cNvSpPr txBox="1"/>
          <p:nvPr/>
        </p:nvSpPr>
        <p:spPr>
          <a:xfrm>
            <a:off x="713232" y="2487168"/>
            <a:ext cx="2307336" cy="228600"/>
          </a:xfrm>
          <a:prstGeom prst="rect">
            <a:avLst/>
          </a:prstGeom>
          <a:noFill/>
        </p:spPr>
        <p:txBody>
          <a:bodyPr wrap="square" lIns="27432" rIns="27432" tIns="18288" bIns="18288">
            <a:spAutoFit/>
          </a:bodyPr>
          <a:lstStyle/>
          <a:p>
            <a:r>
              <a:rPr sz="1000" b="1">
                <a:solidFill>
                  <a:srgbClr val="1B1B2C"/>
                </a:solidFill>
                <a:latin typeface="Segoe UI"/>
              </a:rPr>
              <a:t>Wrap up projects and organize all related work</a:t>
            </a:r>
          </a:p>
        </p:txBody>
      </p:sp>
      <p:sp>
        <p:nvSpPr>
          <p:cNvPr id="11" name="TextBox 10"/>
          <p:cNvSpPr txBox="1"/>
          <p:nvPr/>
        </p:nvSpPr>
        <p:spPr>
          <a:xfrm>
            <a:off x="713232" y="2706624"/>
            <a:ext cx="2307336" cy="301752"/>
          </a:xfrm>
          <a:prstGeom prst="rect">
            <a:avLst/>
          </a:prstGeom>
          <a:noFill/>
        </p:spPr>
        <p:txBody>
          <a:bodyPr wrap="square" lIns="27432" rIns="27432" tIns="18288" bIns="18288">
            <a:spAutoFit/>
          </a:bodyPr>
          <a:lstStyle/>
          <a:p>
            <a:r>
              <a:rPr sz="900" b="0">
                <a:solidFill>
                  <a:srgbClr val="5A6078"/>
                </a:solidFill>
                <a:latin typeface="Segoe UI"/>
              </a:rPr>
              <a:t>Close the project with a clean, shareable OneDrive archive.</a:t>
            </a:r>
          </a:p>
        </p:txBody>
      </p:sp>
      <p:sp>
        <p:nvSpPr>
          <p:cNvPr id="12" name="TextBox 11"/>
          <p:cNvSpPr txBox="1"/>
          <p:nvPr/>
        </p:nvSpPr>
        <p:spPr>
          <a:xfrm>
            <a:off x="713232" y="3145535"/>
            <a:ext cx="2307336" cy="228600"/>
          </a:xfrm>
          <a:prstGeom prst="rect">
            <a:avLst/>
          </a:prstGeom>
          <a:noFill/>
        </p:spPr>
        <p:txBody>
          <a:bodyPr wrap="square" lIns="27432" rIns="27432" tIns="18288" bIns="18288">
            <a:spAutoFit/>
          </a:bodyPr>
          <a:lstStyle/>
          <a:p>
            <a:r>
              <a:rPr sz="1000" b="1">
                <a:solidFill>
                  <a:srgbClr val="1B1B2C"/>
                </a:solidFill>
                <a:latin typeface="Segoe UI"/>
              </a:rPr>
              <a:t>Catch up on messages and send replies automatically</a:t>
            </a:r>
          </a:p>
        </p:txBody>
      </p:sp>
      <p:sp>
        <p:nvSpPr>
          <p:cNvPr id="13" name="TextBox 12"/>
          <p:cNvSpPr txBox="1"/>
          <p:nvPr/>
        </p:nvSpPr>
        <p:spPr>
          <a:xfrm>
            <a:off x="713232" y="3364991"/>
            <a:ext cx="2307336" cy="301752"/>
          </a:xfrm>
          <a:prstGeom prst="rect">
            <a:avLst/>
          </a:prstGeom>
          <a:noFill/>
        </p:spPr>
        <p:txBody>
          <a:bodyPr wrap="square" lIns="27432" rIns="27432" tIns="18288" bIns="18288">
            <a:spAutoFit/>
          </a:bodyPr>
          <a:lstStyle/>
          <a:p>
            <a:r>
              <a:rPr sz="900" b="0">
                <a:solidFill>
                  <a:srgbClr val="5A6078"/>
                </a:solidFill>
                <a:latin typeface="Segoe UI"/>
              </a:rPr>
              <a:t>Handle routine replies and draft higher-stakes responses for review.</a:t>
            </a:r>
          </a:p>
        </p:txBody>
      </p:sp>
      <p:sp>
        <p:nvSpPr>
          <p:cNvPr id="14" name="Rounded Rectangle 13"/>
          <p:cNvSpPr/>
          <p:nvPr/>
        </p:nvSpPr>
        <p:spPr>
          <a:xfrm>
            <a:off x="3340608"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40608"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3E8E22"/>
                </a:solidFill>
                <a:latin typeface="Segoe UI"/>
              </a:rPr>
              <a:t>Sales</a:t>
            </a:r>
          </a:p>
        </p:txBody>
      </p:sp>
      <p:sp>
        <p:nvSpPr>
          <p:cNvPr id="17" name="TextBox 16"/>
          <p:cNvSpPr txBox="1"/>
          <p:nvPr/>
        </p:nvSpPr>
        <p:spPr>
          <a:xfrm>
            <a:off x="3505200" y="1828800"/>
            <a:ext cx="2307336" cy="228600"/>
          </a:xfrm>
          <a:prstGeom prst="rect">
            <a:avLst/>
          </a:prstGeom>
          <a:noFill/>
        </p:spPr>
        <p:txBody>
          <a:bodyPr wrap="square" lIns="27432" rIns="27432" tIns="18288" bIns="18288">
            <a:spAutoFit/>
          </a:bodyPr>
          <a:lstStyle/>
          <a:p>
            <a:r>
              <a:rPr sz="1000" b="1">
                <a:solidFill>
                  <a:srgbClr val="1B1B2C"/>
                </a:solidFill>
                <a:latin typeface="Segoe UI"/>
              </a:rPr>
              <a:t>Pricing screenshot to customer presentation</a:t>
            </a:r>
          </a:p>
        </p:txBody>
      </p:sp>
      <p:sp>
        <p:nvSpPr>
          <p:cNvPr id="18" name="TextBox 17"/>
          <p:cNvSpPr txBox="1"/>
          <p:nvPr/>
        </p:nvSpPr>
        <p:spPr>
          <a:xfrm>
            <a:off x="3505200" y="2048256"/>
            <a:ext cx="2307336" cy="301752"/>
          </a:xfrm>
          <a:prstGeom prst="rect">
            <a:avLst/>
          </a:prstGeom>
          <a:noFill/>
        </p:spPr>
        <p:txBody>
          <a:bodyPr wrap="square" lIns="27432" rIns="27432" tIns="18288" bIns="18288">
            <a:spAutoFit/>
          </a:bodyPr>
          <a:lstStyle/>
          <a:p>
            <a:r>
              <a:rPr sz="900" b="0">
                <a:solidFill>
                  <a:srgbClr val="5A6078"/>
                </a:solidFill>
                <a:latin typeface="Segoe UI"/>
              </a:rPr>
              <a:t>Turn approved pricing into a customer-ready deck and draft email.</a:t>
            </a:r>
          </a:p>
        </p:txBody>
      </p:sp>
      <p:sp>
        <p:nvSpPr>
          <p:cNvPr id="19" name="TextBox 18"/>
          <p:cNvSpPr txBox="1"/>
          <p:nvPr/>
        </p:nvSpPr>
        <p:spPr>
          <a:xfrm>
            <a:off x="3505200" y="2487168"/>
            <a:ext cx="2307336" cy="228600"/>
          </a:xfrm>
          <a:prstGeom prst="rect">
            <a:avLst/>
          </a:prstGeom>
          <a:noFill/>
        </p:spPr>
        <p:txBody>
          <a:bodyPr wrap="square" lIns="27432" rIns="27432" tIns="18288" bIns="18288">
            <a:spAutoFit/>
          </a:bodyPr>
          <a:lstStyle/>
          <a:p>
            <a:r>
              <a:rPr sz="1000" b="1">
                <a:solidFill>
                  <a:srgbClr val="1B1B2C"/>
                </a:solidFill>
                <a:latin typeface="Segoe UI"/>
              </a:rPr>
              <a:t>Weekly external customer email review</a:t>
            </a:r>
          </a:p>
        </p:txBody>
      </p:sp>
      <p:sp>
        <p:nvSpPr>
          <p:cNvPr id="20" name="TextBox 19"/>
          <p:cNvSpPr txBox="1"/>
          <p:nvPr/>
        </p:nvSpPr>
        <p:spPr>
          <a:xfrm>
            <a:off x="3505200" y="2706624"/>
            <a:ext cx="2307336" cy="301752"/>
          </a:xfrm>
          <a:prstGeom prst="rect">
            <a:avLst/>
          </a:prstGeom>
          <a:noFill/>
        </p:spPr>
        <p:txBody>
          <a:bodyPr wrap="square" lIns="27432" rIns="27432" tIns="18288" bIns="18288">
            <a:spAutoFit/>
          </a:bodyPr>
          <a:lstStyle/>
          <a:p>
            <a:r>
              <a:rPr sz="900" b="0">
                <a:solidFill>
                  <a:srgbClr val="5A6078"/>
                </a:solidFill>
                <a:latin typeface="Segoe UI"/>
              </a:rPr>
              <a:t>Surface action items, draft replies, and send a Teams reminder.</a:t>
            </a:r>
          </a:p>
        </p:txBody>
      </p:sp>
      <p:sp>
        <p:nvSpPr>
          <p:cNvPr id="21" name="Rounded Rectangle 20"/>
          <p:cNvSpPr/>
          <p:nvPr/>
        </p:nvSpPr>
        <p:spPr>
          <a:xfrm>
            <a:off x="6132576"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2576"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3E8E22"/>
                </a:solidFill>
                <a:latin typeface="Segoe UI"/>
              </a:rPr>
              <a:t>Marketing</a:t>
            </a:r>
          </a:p>
        </p:txBody>
      </p:sp>
      <p:sp>
        <p:nvSpPr>
          <p:cNvPr id="24" name="TextBox 23"/>
          <p:cNvSpPr txBox="1"/>
          <p:nvPr/>
        </p:nvSpPr>
        <p:spPr>
          <a:xfrm>
            <a:off x="6297168" y="1828800"/>
            <a:ext cx="2307336" cy="228600"/>
          </a:xfrm>
          <a:prstGeom prst="rect">
            <a:avLst/>
          </a:prstGeom>
          <a:noFill/>
        </p:spPr>
        <p:txBody>
          <a:bodyPr wrap="square" lIns="27432" rIns="27432" tIns="18288" bIns="18288">
            <a:spAutoFit/>
          </a:bodyPr>
          <a:lstStyle/>
          <a:p>
            <a:r>
              <a:rPr sz="1000" b="1">
                <a:solidFill>
                  <a:srgbClr val="1B1B2C"/>
                </a:solidFill>
                <a:latin typeface="Segoe UI"/>
              </a:rPr>
              <a:t>Research and insights alignment recap</a:t>
            </a:r>
          </a:p>
        </p:txBody>
      </p:sp>
      <p:sp>
        <p:nvSpPr>
          <p:cNvPr id="25" name="TextBox 24"/>
          <p:cNvSpPr txBox="1"/>
          <p:nvPr/>
        </p:nvSpPr>
        <p:spPr>
          <a:xfrm>
            <a:off x="6297168" y="2048256"/>
            <a:ext cx="2307336" cy="301752"/>
          </a:xfrm>
          <a:prstGeom prst="rect">
            <a:avLst/>
          </a:prstGeom>
          <a:noFill/>
        </p:spPr>
        <p:txBody>
          <a:bodyPr wrap="square" lIns="27432" rIns="27432" tIns="18288" bIns="18288">
            <a:spAutoFit/>
          </a:bodyPr>
          <a:lstStyle/>
          <a:p>
            <a:r>
              <a:rPr sz="900" b="0">
                <a:solidFill>
                  <a:srgbClr val="5A6078"/>
                </a:solidFill>
                <a:latin typeface="Segoe UI"/>
              </a:rPr>
              <a:t>Post decisions, open issues, and named next steps to Teams.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GROUPED BY AUDIENCE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Cowork tasks: medium</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397764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703320" cy="274320"/>
          </a:xfrm>
          <a:prstGeom prst="rect">
            <a:avLst/>
          </a:prstGeom>
          <a:noFill/>
        </p:spPr>
        <p:txBody>
          <a:bodyPr wrap="square" lIns="27432" rIns="27432" tIns="18288" bIns="18288">
            <a:spAutoFit/>
          </a:bodyPr>
          <a:lstStyle/>
          <a:p>
            <a:r>
              <a:rPr sz="1300" b="1">
                <a:solidFill>
                  <a:srgbClr val="0E8E92"/>
                </a:solidFill>
                <a:latin typeface="Segoe UI"/>
              </a:rPr>
              <a:t>All teams</a:t>
            </a:r>
          </a:p>
        </p:txBody>
      </p:sp>
      <p:sp>
        <p:nvSpPr>
          <p:cNvPr id="8" name="TextBox 7"/>
          <p:cNvSpPr txBox="1"/>
          <p:nvPr/>
        </p:nvSpPr>
        <p:spPr>
          <a:xfrm>
            <a:off x="713232" y="1828800"/>
            <a:ext cx="3648456" cy="228600"/>
          </a:xfrm>
          <a:prstGeom prst="rect">
            <a:avLst/>
          </a:prstGeom>
          <a:noFill/>
        </p:spPr>
        <p:txBody>
          <a:bodyPr wrap="square" lIns="27432" rIns="27432" tIns="18288" bIns="18288">
            <a:spAutoFit/>
          </a:bodyPr>
          <a:lstStyle/>
          <a:p>
            <a:r>
              <a:rPr sz="1000" b="1">
                <a:solidFill>
                  <a:srgbClr val="1B1B2C"/>
                </a:solidFill>
                <a:latin typeface="Segoe UI"/>
              </a:rPr>
              <a:t>Turn inbox noise into a curated intelligence brief</a:t>
            </a:r>
          </a:p>
        </p:txBody>
      </p:sp>
      <p:sp>
        <p:nvSpPr>
          <p:cNvPr id="9" name="TextBox 8"/>
          <p:cNvSpPr txBox="1"/>
          <p:nvPr/>
        </p:nvSpPr>
        <p:spPr>
          <a:xfrm>
            <a:off x="713232" y="2048256"/>
            <a:ext cx="3648456" cy="301752"/>
          </a:xfrm>
          <a:prstGeom prst="rect">
            <a:avLst/>
          </a:prstGeom>
          <a:noFill/>
        </p:spPr>
        <p:txBody>
          <a:bodyPr wrap="square" lIns="27432" rIns="27432" tIns="18288" bIns="18288">
            <a:spAutoFit/>
          </a:bodyPr>
          <a:lstStyle/>
          <a:p>
            <a:r>
              <a:rPr sz="900" b="0">
                <a:solidFill>
                  <a:srgbClr val="5A6078"/>
                </a:solidFill>
                <a:latin typeface="Segoe UI"/>
              </a:rPr>
              <a:t>Create a weekly trend brief from the publications you follow.</a:t>
            </a:r>
          </a:p>
        </p:txBody>
      </p:sp>
      <p:sp>
        <p:nvSpPr>
          <p:cNvPr id="10" name="Rounded Rectangle 9"/>
          <p:cNvSpPr/>
          <p:nvPr/>
        </p:nvSpPr>
        <p:spPr>
          <a:xfrm>
            <a:off x="4681728" y="1261872"/>
            <a:ext cx="397764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1728"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8888" y="1463040"/>
            <a:ext cx="3703320" cy="274320"/>
          </a:xfrm>
          <a:prstGeom prst="rect">
            <a:avLst/>
          </a:prstGeom>
          <a:noFill/>
        </p:spPr>
        <p:txBody>
          <a:bodyPr wrap="square" lIns="27432" rIns="27432" tIns="18288" bIns="18288">
            <a:spAutoFit/>
          </a:bodyPr>
          <a:lstStyle/>
          <a:p>
            <a:r>
              <a:rPr sz="1300" b="1">
                <a:solidFill>
                  <a:srgbClr val="0E8E92"/>
                </a:solidFill>
                <a:latin typeface="Segoe UI"/>
              </a:rPr>
              <a:t>Marketing</a:t>
            </a:r>
          </a:p>
        </p:txBody>
      </p:sp>
      <p:sp>
        <p:nvSpPr>
          <p:cNvPr id="13" name="TextBox 12"/>
          <p:cNvSpPr txBox="1"/>
          <p:nvPr/>
        </p:nvSpPr>
        <p:spPr>
          <a:xfrm>
            <a:off x="4846320" y="1828800"/>
            <a:ext cx="3648456" cy="228600"/>
          </a:xfrm>
          <a:prstGeom prst="rect">
            <a:avLst/>
          </a:prstGeom>
          <a:noFill/>
        </p:spPr>
        <p:txBody>
          <a:bodyPr wrap="square" lIns="27432" rIns="27432" tIns="18288" bIns="18288">
            <a:spAutoFit/>
          </a:bodyPr>
          <a:lstStyle/>
          <a:p>
            <a:r>
              <a:rPr sz="1000" b="1">
                <a:solidFill>
                  <a:srgbClr val="1B1B2C"/>
                </a:solidFill>
                <a:latin typeface="Segoe UI"/>
              </a:rPr>
              <a:t>Partner and channel activation kit</a:t>
            </a:r>
          </a:p>
        </p:txBody>
      </p:sp>
      <p:sp>
        <p:nvSpPr>
          <p:cNvPr id="14" name="TextBox 13"/>
          <p:cNvSpPr txBox="1"/>
          <p:nvPr/>
        </p:nvSpPr>
        <p:spPr>
          <a:xfrm>
            <a:off x="4846320" y="2048256"/>
            <a:ext cx="3648456" cy="301752"/>
          </a:xfrm>
          <a:prstGeom prst="rect">
            <a:avLst/>
          </a:prstGeom>
          <a:noFill/>
        </p:spPr>
        <p:txBody>
          <a:bodyPr wrap="square" lIns="27432" rIns="27432" tIns="18288" bIns="18288">
            <a:spAutoFit/>
          </a:bodyPr>
          <a:lstStyle/>
          <a:p>
            <a:r>
              <a:rPr sz="900" b="0">
                <a:solidFill>
                  <a:srgbClr val="5A6078"/>
                </a:solidFill>
                <a:latin typeface="Segoe UI"/>
              </a:rPr>
              <a:t>Produce partner-ready and channel-ready kits with a routing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GROUPED BY AUDIENCE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Cowork tasks: heavy</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C73E78"/>
                </a:solidFill>
                <a:latin typeface="Segoe UI"/>
              </a:rPr>
              <a:t>All teams</a:t>
            </a:r>
          </a:p>
        </p:txBody>
      </p:sp>
      <p:sp>
        <p:nvSpPr>
          <p:cNvPr id="8" name="TextBox 7"/>
          <p:cNvSpPr txBox="1"/>
          <p:nvPr/>
        </p:nvSpPr>
        <p:spPr>
          <a:xfrm>
            <a:off x="713232" y="1828800"/>
            <a:ext cx="2307336" cy="384048"/>
          </a:xfrm>
          <a:prstGeom prst="rect">
            <a:avLst/>
          </a:prstGeom>
          <a:noFill/>
        </p:spPr>
        <p:txBody>
          <a:bodyPr wrap="square" lIns="27432" rIns="27432" tIns="18288" bIns="18288">
            <a:spAutoFit/>
          </a:bodyPr>
          <a:lstStyle/>
          <a:p>
            <a:r>
              <a:rPr sz="800" b="1">
                <a:solidFill>
                  <a:srgbClr val="1B1B2C"/>
                </a:solidFill>
                <a:latin typeface="Segoe UI"/>
              </a:rPr>
              <a:t>Prepare a complete out-of-office handoff</a:t>
            </a:r>
          </a:p>
        </p:txBody>
      </p:sp>
      <p:sp>
        <p:nvSpPr>
          <p:cNvPr id="9" name="TextBox 8"/>
          <p:cNvSpPr txBox="1"/>
          <p:nvPr/>
        </p:nvSpPr>
        <p:spPr>
          <a:xfrm>
            <a:off x="713232" y="2139696"/>
            <a:ext cx="2307336" cy="310896"/>
          </a:xfrm>
          <a:prstGeom prst="rect">
            <a:avLst/>
          </a:prstGeom>
          <a:noFill/>
        </p:spPr>
        <p:txBody>
          <a:bodyPr wrap="square" lIns="27432" rIns="27432" tIns="18288" bIns="18288">
            <a:spAutoFit/>
          </a:bodyPr>
          <a:lstStyle/>
          <a:p>
            <a:r>
              <a:rPr sz="700" b="0">
                <a:solidFill>
                  <a:srgbClr val="5A6078"/>
                </a:solidFill>
                <a:latin typeface="Segoe UI"/>
              </a:rPr>
              <a:t>Build a handoff from projects, owners, deadlines, and files.</a:t>
            </a:r>
          </a:p>
        </p:txBody>
      </p:sp>
      <p:sp>
        <p:nvSpPr>
          <p:cNvPr id="10" name="TextBox 9"/>
          <p:cNvSpPr txBox="1"/>
          <p:nvPr/>
        </p:nvSpPr>
        <p:spPr>
          <a:xfrm>
            <a:off x="713232" y="2523744"/>
            <a:ext cx="2307336" cy="384048"/>
          </a:xfrm>
          <a:prstGeom prst="rect">
            <a:avLst/>
          </a:prstGeom>
          <a:noFill/>
        </p:spPr>
        <p:txBody>
          <a:bodyPr wrap="square" lIns="27432" rIns="27432" tIns="18288" bIns="18288">
            <a:spAutoFit/>
          </a:bodyPr>
          <a:lstStyle/>
          <a:p>
            <a:r>
              <a:rPr sz="800" b="1">
                <a:solidFill>
                  <a:srgbClr val="1B1B2C"/>
                </a:solidFill>
                <a:latin typeface="Segoe UI"/>
              </a:rPr>
              <a:t>Analyze and optimize your OneDrive at scale</a:t>
            </a:r>
          </a:p>
        </p:txBody>
      </p:sp>
      <p:sp>
        <p:nvSpPr>
          <p:cNvPr id="11" name="TextBox 10"/>
          <p:cNvSpPr txBox="1"/>
          <p:nvPr/>
        </p:nvSpPr>
        <p:spPr>
          <a:xfrm>
            <a:off x="713232" y="2834639"/>
            <a:ext cx="2307336" cy="310896"/>
          </a:xfrm>
          <a:prstGeom prst="rect">
            <a:avLst/>
          </a:prstGeom>
          <a:noFill/>
        </p:spPr>
        <p:txBody>
          <a:bodyPr wrap="square" lIns="27432" rIns="27432" tIns="18288" bIns="18288">
            <a:spAutoFit/>
          </a:bodyPr>
          <a:lstStyle/>
          <a:p>
            <a:r>
              <a:rPr sz="700" b="0">
                <a:solidFill>
                  <a:srgbClr val="5A6078"/>
                </a:solidFill>
                <a:latin typeface="Segoe UI"/>
              </a:rPr>
              <a:t>Create a catalog with cleanup decisions queued for approval.</a:t>
            </a:r>
          </a:p>
        </p:txBody>
      </p:sp>
      <p:sp>
        <p:nvSpPr>
          <p:cNvPr id="12" name="TextBox 11"/>
          <p:cNvSpPr txBox="1"/>
          <p:nvPr/>
        </p:nvSpPr>
        <p:spPr>
          <a:xfrm>
            <a:off x="713232" y="3218687"/>
            <a:ext cx="2307336" cy="384048"/>
          </a:xfrm>
          <a:prstGeom prst="rect">
            <a:avLst/>
          </a:prstGeom>
          <a:noFill/>
        </p:spPr>
        <p:txBody>
          <a:bodyPr wrap="square" lIns="27432" rIns="27432" tIns="18288" bIns="18288">
            <a:spAutoFit/>
          </a:bodyPr>
          <a:lstStyle/>
          <a:p>
            <a:r>
              <a:rPr sz="800" b="1">
                <a:solidFill>
                  <a:srgbClr val="1B1B2C"/>
                </a:solidFill>
                <a:latin typeface="Segoe UI"/>
              </a:rPr>
              <a:t>Audit and surface against a standard</a:t>
            </a:r>
          </a:p>
        </p:txBody>
      </p:sp>
      <p:sp>
        <p:nvSpPr>
          <p:cNvPr id="13" name="TextBox 12"/>
          <p:cNvSpPr txBox="1"/>
          <p:nvPr/>
        </p:nvSpPr>
        <p:spPr>
          <a:xfrm>
            <a:off x="713232" y="3529583"/>
            <a:ext cx="2307336" cy="310896"/>
          </a:xfrm>
          <a:prstGeom prst="rect">
            <a:avLst/>
          </a:prstGeom>
          <a:noFill/>
        </p:spPr>
        <p:txBody>
          <a:bodyPr wrap="square" lIns="27432" rIns="27432" tIns="18288" bIns="18288">
            <a:spAutoFit/>
          </a:bodyPr>
          <a:lstStyle/>
          <a:p>
            <a:r>
              <a:rPr sz="700" b="0">
                <a:solidFill>
                  <a:srgbClr val="5A6078"/>
                </a:solidFill>
                <a:latin typeface="Segoe UI"/>
              </a:rPr>
              <a:t>Audit files against a policy and return a sortable fix list.</a:t>
            </a:r>
          </a:p>
        </p:txBody>
      </p:sp>
      <p:sp>
        <p:nvSpPr>
          <p:cNvPr id="14" name="TextBox 13"/>
          <p:cNvSpPr txBox="1"/>
          <p:nvPr/>
        </p:nvSpPr>
        <p:spPr>
          <a:xfrm>
            <a:off x="713232" y="3913631"/>
            <a:ext cx="2307336" cy="384048"/>
          </a:xfrm>
          <a:prstGeom prst="rect">
            <a:avLst/>
          </a:prstGeom>
          <a:noFill/>
        </p:spPr>
        <p:txBody>
          <a:bodyPr wrap="square" lIns="27432" rIns="27432" tIns="18288" bIns="18288">
            <a:spAutoFit/>
          </a:bodyPr>
          <a:lstStyle/>
          <a:p>
            <a:r>
              <a:rPr sz="800" b="1">
                <a:solidFill>
                  <a:srgbClr val="1B1B2C"/>
                </a:solidFill>
                <a:latin typeface="Segoe UI"/>
              </a:rPr>
              <a:t>Onboard a new hire with a complete 30-60-90 plan</a:t>
            </a:r>
          </a:p>
        </p:txBody>
      </p:sp>
      <p:sp>
        <p:nvSpPr>
          <p:cNvPr id="15" name="TextBox 14"/>
          <p:cNvSpPr txBox="1"/>
          <p:nvPr/>
        </p:nvSpPr>
        <p:spPr>
          <a:xfrm>
            <a:off x="713232" y="4224527"/>
            <a:ext cx="2307336" cy="310896"/>
          </a:xfrm>
          <a:prstGeom prst="rect">
            <a:avLst/>
          </a:prstGeom>
          <a:noFill/>
        </p:spPr>
        <p:txBody>
          <a:bodyPr wrap="square" lIns="27432" rIns="27432" tIns="18288" bIns="18288">
            <a:spAutoFit/>
          </a:bodyPr>
          <a:lstStyle/>
          <a:p>
            <a:r>
              <a:rPr sz="700" b="0">
                <a:solidFill>
                  <a:srgbClr val="5A6078"/>
                </a:solidFill>
                <a:latin typeface="Segoe UI"/>
              </a:rPr>
              <a:t>Create the plan, getting started dashboard, and check-ins.</a:t>
            </a:r>
          </a:p>
        </p:txBody>
      </p:sp>
      <p:sp>
        <p:nvSpPr>
          <p:cNvPr id="16" name="Rounded Rectangle 15"/>
          <p:cNvSpPr/>
          <p:nvPr/>
        </p:nvSpPr>
        <p:spPr>
          <a:xfrm>
            <a:off x="3340608"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40608"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C73E78"/>
                </a:solidFill>
                <a:latin typeface="Segoe UI"/>
              </a:rPr>
              <a:t>Sales</a:t>
            </a:r>
          </a:p>
        </p:txBody>
      </p:sp>
      <p:sp>
        <p:nvSpPr>
          <p:cNvPr id="19" name="TextBox 18"/>
          <p:cNvSpPr txBox="1"/>
          <p:nvPr/>
        </p:nvSpPr>
        <p:spPr>
          <a:xfrm>
            <a:off x="3505200" y="1828800"/>
            <a:ext cx="2307336" cy="384048"/>
          </a:xfrm>
          <a:prstGeom prst="rect">
            <a:avLst/>
          </a:prstGeom>
          <a:noFill/>
        </p:spPr>
        <p:txBody>
          <a:bodyPr wrap="square" lIns="27432" rIns="27432" tIns="18288" bIns="18288">
            <a:spAutoFit/>
          </a:bodyPr>
          <a:lstStyle/>
          <a:p>
            <a:r>
              <a:rPr sz="800" b="1">
                <a:solidFill>
                  <a:srgbClr val="1B1B2C"/>
                </a:solidFill>
                <a:latin typeface="Segoe UI"/>
              </a:rPr>
              <a:t>Product launch customer pitch</a:t>
            </a:r>
          </a:p>
        </p:txBody>
      </p:sp>
      <p:sp>
        <p:nvSpPr>
          <p:cNvPr id="20" name="TextBox 19"/>
          <p:cNvSpPr txBox="1"/>
          <p:nvPr/>
        </p:nvSpPr>
        <p:spPr>
          <a:xfrm>
            <a:off x="3505200" y="2139696"/>
            <a:ext cx="2307336" cy="310896"/>
          </a:xfrm>
          <a:prstGeom prst="rect">
            <a:avLst/>
          </a:prstGeom>
          <a:noFill/>
        </p:spPr>
        <p:txBody>
          <a:bodyPr wrap="square" lIns="27432" rIns="27432" tIns="18288" bIns="18288">
            <a:spAutoFit/>
          </a:bodyPr>
          <a:lstStyle/>
          <a:p>
            <a:r>
              <a:rPr sz="700" b="0">
                <a:solidFill>
                  <a:srgbClr val="5A6078"/>
                </a:solidFill>
                <a:latin typeface="Segoe UI"/>
              </a:rPr>
              <a:t>Create the comparison, value prop, and customer-ready pitch deck.</a:t>
            </a:r>
          </a:p>
        </p:txBody>
      </p:sp>
      <p:sp>
        <p:nvSpPr>
          <p:cNvPr id="21" name="TextBox 20"/>
          <p:cNvSpPr txBox="1"/>
          <p:nvPr/>
        </p:nvSpPr>
        <p:spPr>
          <a:xfrm>
            <a:off x="3505200" y="2523744"/>
            <a:ext cx="2307336" cy="384048"/>
          </a:xfrm>
          <a:prstGeom prst="rect">
            <a:avLst/>
          </a:prstGeom>
          <a:noFill/>
        </p:spPr>
        <p:txBody>
          <a:bodyPr wrap="square" lIns="27432" rIns="27432" tIns="18288" bIns="18288">
            <a:spAutoFit/>
          </a:bodyPr>
          <a:lstStyle/>
          <a:p>
            <a:r>
              <a:rPr sz="800" b="1">
                <a:solidFill>
                  <a:srgbClr val="1B1B2C"/>
                </a:solidFill>
                <a:latin typeface="Segoe UI"/>
              </a:rPr>
              <a:t>New customer onboarding automation</a:t>
            </a:r>
          </a:p>
        </p:txBody>
      </p:sp>
      <p:sp>
        <p:nvSpPr>
          <p:cNvPr id="22" name="TextBox 21"/>
          <p:cNvSpPr txBox="1"/>
          <p:nvPr/>
        </p:nvSpPr>
        <p:spPr>
          <a:xfrm>
            <a:off x="3505200" y="2834639"/>
            <a:ext cx="2307336" cy="310896"/>
          </a:xfrm>
          <a:prstGeom prst="rect">
            <a:avLst/>
          </a:prstGeom>
          <a:noFill/>
        </p:spPr>
        <p:txBody>
          <a:bodyPr wrap="square" lIns="27432" rIns="27432" tIns="18288" bIns="18288">
            <a:spAutoFit/>
          </a:bodyPr>
          <a:lstStyle/>
          <a:p>
            <a:r>
              <a:rPr sz="700" b="0">
                <a:solidFill>
                  <a:srgbClr val="5A6078"/>
                </a:solidFill>
                <a:latin typeface="Segoe UI"/>
              </a:rPr>
              <a:t>Set up onboarding artifacts, team message, and welcome email.</a:t>
            </a:r>
          </a:p>
        </p:txBody>
      </p:sp>
      <p:sp>
        <p:nvSpPr>
          <p:cNvPr id="23" name="TextBox 22"/>
          <p:cNvSpPr txBox="1"/>
          <p:nvPr/>
        </p:nvSpPr>
        <p:spPr>
          <a:xfrm>
            <a:off x="3505200" y="3218687"/>
            <a:ext cx="2307336" cy="384048"/>
          </a:xfrm>
          <a:prstGeom prst="rect">
            <a:avLst/>
          </a:prstGeom>
          <a:noFill/>
        </p:spPr>
        <p:txBody>
          <a:bodyPr wrap="square" lIns="27432" rIns="27432" tIns="18288" bIns="18288">
            <a:spAutoFit/>
          </a:bodyPr>
          <a:lstStyle/>
          <a:p>
            <a:r>
              <a:rPr sz="800" b="1">
                <a:solidFill>
                  <a:srgbClr val="1B1B2C"/>
                </a:solidFill>
                <a:latin typeface="Segoe UI"/>
              </a:rPr>
              <a:t>Customer adoption materials</a:t>
            </a:r>
          </a:p>
        </p:txBody>
      </p:sp>
      <p:sp>
        <p:nvSpPr>
          <p:cNvPr id="24" name="TextBox 23"/>
          <p:cNvSpPr txBox="1"/>
          <p:nvPr/>
        </p:nvSpPr>
        <p:spPr>
          <a:xfrm>
            <a:off x="3505200" y="3529583"/>
            <a:ext cx="2307336" cy="310896"/>
          </a:xfrm>
          <a:prstGeom prst="rect">
            <a:avLst/>
          </a:prstGeom>
          <a:noFill/>
        </p:spPr>
        <p:txBody>
          <a:bodyPr wrap="square" lIns="27432" rIns="27432" tIns="18288" bIns="18288">
            <a:spAutoFit/>
          </a:bodyPr>
          <a:lstStyle/>
          <a:p>
            <a:r>
              <a:rPr sz="700" b="0">
                <a:solidFill>
                  <a:srgbClr val="5A6078"/>
                </a:solidFill>
                <a:latin typeface="Segoe UI"/>
              </a:rPr>
              <a:t>Build persona-tailored learning paths and rollout order.</a:t>
            </a:r>
          </a:p>
        </p:txBody>
      </p:sp>
      <p:sp>
        <p:nvSpPr>
          <p:cNvPr id="25" name="TextBox 24"/>
          <p:cNvSpPr txBox="1"/>
          <p:nvPr/>
        </p:nvSpPr>
        <p:spPr>
          <a:xfrm>
            <a:off x="3505200" y="3913631"/>
            <a:ext cx="2307336" cy="384048"/>
          </a:xfrm>
          <a:prstGeom prst="rect">
            <a:avLst/>
          </a:prstGeom>
          <a:noFill/>
        </p:spPr>
        <p:txBody>
          <a:bodyPr wrap="square" lIns="27432" rIns="27432" tIns="18288" bIns="18288">
            <a:spAutoFit/>
          </a:bodyPr>
          <a:lstStyle/>
          <a:p>
            <a:r>
              <a:rPr sz="800" b="1">
                <a:solidFill>
                  <a:srgbClr val="1B1B2C"/>
                </a:solidFill>
                <a:latin typeface="Segoe UI"/>
              </a:rPr>
              <a:t>ROI and value selling artifact</a:t>
            </a:r>
          </a:p>
        </p:txBody>
      </p:sp>
      <p:sp>
        <p:nvSpPr>
          <p:cNvPr id="26" name="TextBox 25"/>
          <p:cNvSpPr txBox="1"/>
          <p:nvPr/>
        </p:nvSpPr>
        <p:spPr>
          <a:xfrm>
            <a:off x="3505200" y="4224527"/>
            <a:ext cx="2307336" cy="310896"/>
          </a:xfrm>
          <a:prstGeom prst="rect">
            <a:avLst/>
          </a:prstGeom>
          <a:noFill/>
        </p:spPr>
        <p:txBody>
          <a:bodyPr wrap="square" lIns="27432" rIns="27432" tIns="18288" bIns="18288">
            <a:spAutoFit/>
          </a:bodyPr>
          <a:lstStyle/>
          <a:p>
            <a:r>
              <a:rPr sz="700" b="0">
                <a:solidFill>
                  <a:srgbClr val="5A6078"/>
                </a:solidFill>
                <a:latin typeface="Segoe UI"/>
              </a:rPr>
              <a:t>Produce an executive deck and microsite with use cases and ROI model.</a:t>
            </a:r>
          </a:p>
        </p:txBody>
      </p:sp>
      <p:sp>
        <p:nvSpPr>
          <p:cNvPr id="27" name="Rounded Rectangle 26"/>
          <p:cNvSpPr/>
          <p:nvPr/>
        </p:nvSpPr>
        <p:spPr>
          <a:xfrm>
            <a:off x="6132576" y="1261872"/>
            <a:ext cx="2636520" cy="3456432"/>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32576"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C73E78"/>
                </a:solidFill>
                <a:latin typeface="Segoe UI"/>
              </a:rPr>
              <a:t>Marketing</a:t>
            </a:r>
          </a:p>
        </p:txBody>
      </p:sp>
      <p:sp>
        <p:nvSpPr>
          <p:cNvPr id="30" name="TextBox 29"/>
          <p:cNvSpPr txBox="1"/>
          <p:nvPr/>
        </p:nvSpPr>
        <p:spPr>
          <a:xfrm>
            <a:off x="6297168" y="1828800"/>
            <a:ext cx="2307336" cy="384048"/>
          </a:xfrm>
          <a:prstGeom prst="rect">
            <a:avLst/>
          </a:prstGeom>
          <a:noFill/>
        </p:spPr>
        <p:txBody>
          <a:bodyPr wrap="square" lIns="27432" rIns="27432" tIns="18288" bIns="18288">
            <a:spAutoFit/>
          </a:bodyPr>
          <a:lstStyle/>
          <a:p>
            <a:r>
              <a:rPr sz="800" b="1">
                <a:solidFill>
                  <a:srgbClr val="1B1B2C"/>
                </a:solidFill>
                <a:latin typeface="Segoe UI"/>
              </a:rPr>
              <a:t>Analyst briefing prep and rehearsal routing</a:t>
            </a:r>
          </a:p>
        </p:txBody>
      </p:sp>
      <p:sp>
        <p:nvSpPr>
          <p:cNvPr id="31" name="TextBox 30"/>
          <p:cNvSpPr txBox="1"/>
          <p:nvPr/>
        </p:nvSpPr>
        <p:spPr>
          <a:xfrm>
            <a:off x="6297168" y="2139696"/>
            <a:ext cx="2307336" cy="310896"/>
          </a:xfrm>
          <a:prstGeom prst="rect">
            <a:avLst/>
          </a:prstGeom>
          <a:noFill/>
        </p:spPr>
        <p:txBody>
          <a:bodyPr wrap="square" lIns="27432" rIns="27432" tIns="18288" bIns="18288">
            <a:spAutoFit/>
          </a:bodyPr>
          <a:lstStyle/>
          <a:p>
            <a:r>
              <a:rPr sz="700" b="0">
                <a:solidFill>
                  <a:srgbClr val="5A6078"/>
                </a:solidFill>
                <a:latin typeface="Segoe UI"/>
              </a:rPr>
              <a:t>Build a briefing dashboard and lock rehearsal time.</a:t>
            </a:r>
          </a:p>
        </p:txBody>
      </p:sp>
      <p:sp>
        <p:nvSpPr>
          <p:cNvPr id="32" name="TextBox 31"/>
          <p:cNvSpPr txBox="1"/>
          <p:nvPr/>
        </p:nvSpPr>
        <p:spPr>
          <a:xfrm>
            <a:off x="6297168" y="2523744"/>
            <a:ext cx="2307336" cy="384048"/>
          </a:xfrm>
          <a:prstGeom prst="rect">
            <a:avLst/>
          </a:prstGeom>
          <a:noFill/>
        </p:spPr>
        <p:txBody>
          <a:bodyPr wrap="square" lIns="27432" rIns="27432" tIns="18288" bIns="18288">
            <a:spAutoFit/>
          </a:bodyPr>
          <a:lstStyle/>
          <a:p>
            <a:r>
              <a:rPr sz="800" b="1">
                <a:solidFill>
                  <a:srgbClr val="1B1B2C"/>
                </a:solidFill>
                <a:latin typeface="Segoe UI"/>
              </a:rPr>
              <a:t>Messaging drift audit and remediation routing</a:t>
            </a:r>
          </a:p>
        </p:txBody>
      </p:sp>
      <p:sp>
        <p:nvSpPr>
          <p:cNvPr id="33" name="TextBox 32"/>
          <p:cNvSpPr txBox="1"/>
          <p:nvPr/>
        </p:nvSpPr>
        <p:spPr>
          <a:xfrm>
            <a:off x="6297168" y="2834639"/>
            <a:ext cx="2307336" cy="310896"/>
          </a:xfrm>
          <a:prstGeom prst="rect">
            <a:avLst/>
          </a:prstGeom>
          <a:noFill/>
        </p:spPr>
        <p:txBody>
          <a:bodyPr wrap="square" lIns="27432" rIns="27432" tIns="18288" bIns="18288">
            <a:spAutoFit/>
          </a:bodyPr>
          <a:lstStyle/>
          <a:p>
            <a:r>
              <a:rPr sz="700" b="0">
                <a:solidFill>
                  <a:srgbClr val="5A6078"/>
                </a:solidFill>
                <a:latin typeface="Segoe UI"/>
              </a:rPr>
              <a:t>Flag inconsistencies with severity, fix, and owner.</a:t>
            </a:r>
          </a:p>
        </p:txBody>
      </p:sp>
      <p:sp>
        <p:nvSpPr>
          <p:cNvPr id="34" name="TextBox 33"/>
          <p:cNvSpPr txBox="1"/>
          <p:nvPr/>
        </p:nvSpPr>
        <p:spPr>
          <a:xfrm>
            <a:off x="6297168" y="3218687"/>
            <a:ext cx="2307336" cy="384048"/>
          </a:xfrm>
          <a:prstGeom prst="rect">
            <a:avLst/>
          </a:prstGeom>
          <a:noFill/>
        </p:spPr>
        <p:txBody>
          <a:bodyPr wrap="square" lIns="27432" rIns="27432" tIns="18288" bIns="18288">
            <a:spAutoFit/>
          </a:bodyPr>
          <a:lstStyle/>
          <a:p>
            <a:r>
              <a:rPr sz="800" b="1">
                <a:solidFill>
                  <a:srgbClr val="1B1B2C"/>
                </a:solidFill>
                <a:latin typeface="Segoe UI"/>
              </a:rPr>
              <a:t>Scheduled customer signal activation</a:t>
            </a:r>
          </a:p>
        </p:txBody>
      </p:sp>
      <p:sp>
        <p:nvSpPr>
          <p:cNvPr id="35" name="TextBox 34"/>
          <p:cNvSpPr txBox="1"/>
          <p:nvPr/>
        </p:nvSpPr>
        <p:spPr>
          <a:xfrm>
            <a:off x="6297168" y="3529583"/>
            <a:ext cx="2307336" cy="310896"/>
          </a:xfrm>
          <a:prstGeom prst="rect">
            <a:avLst/>
          </a:prstGeom>
          <a:noFill/>
        </p:spPr>
        <p:txBody>
          <a:bodyPr wrap="square" lIns="27432" rIns="27432" tIns="18288" bIns="18288">
            <a:spAutoFit/>
          </a:bodyPr>
          <a:lstStyle/>
          <a:p>
            <a:r>
              <a:rPr sz="700" b="0">
                <a:solidFill>
                  <a:srgbClr val="5A6078"/>
                </a:solidFill>
                <a:latin typeface="Segoe UI"/>
              </a:rPr>
              <a:t>Create a Friday brief with themes and campaign adjustments.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COPILOT COWORK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Add-on tip: schedule Cowork prompts</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00200"/>
            <a:ext cx="7315200" cy="2240280"/>
          </a:xfrm>
          <a:prstGeom prst="roundRect">
            <a:avLst/>
          </a:prstGeom>
          <a:solidFill>
            <a:srgbClr val="FFFFFF"/>
          </a:solidFill>
          <a:ln>
            <a:solidFill>
              <a:srgbClr val="F6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00200"/>
            <a:ext cx="7315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1901952"/>
            <a:ext cx="1097280" cy="411480"/>
          </a:xfrm>
          <a:prstGeom prst="rect">
            <a:avLst/>
          </a:prstGeom>
          <a:noFill/>
        </p:spPr>
        <p:txBody>
          <a:bodyPr wrap="square" lIns="27432" rIns="27432" tIns="18288" bIns="18288">
            <a:spAutoFit/>
          </a:bodyPr>
          <a:lstStyle/>
          <a:p>
            <a:r>
              <a:rPr sz="2200" b="1">
                <a:solidFill>
                  <a:srgbClr val="3E8E22"/>
                </a:solidFill>
                <a:latin typeface="Segoe UI"/>
              </a:rPr>
              <a:t>Tip</a:t>
            </a:r>
          </a:p>
        </p:txBody>
      </p:sp>
      <p:sp>
        <p:nvSpPr>
          <p:cNvPr id="8" name="TextBox 7"/>
          <p:cNvSpPr txBox="1"/>
          <p:nvPr/>
        </p:nvSpPr>
        <p:spPr>
          <a:xfrm>
            <a:off x="1234440" y="2514600"/>
            <a:ext cx="6583680" cy="868680"/>
          </a:xfrm>
          <a:prstGeom prst="rect">
            <a:avLst/>
          </a:prstGeom>
          <a:noFill/>
        </p:spPr>
        <p:txBody>
          <a:bodyPr wrap="square" lIns="27432" rIns="27432" tIns="18288" bIns="18288">
            <a:spAutoFit/>
          </a:bodyPr>
          <a:lstStyle/>
          <a:p>
            <a:r>
              <a:rPr sz="1700" b="0">
                <a:solidFill>
                  <a:srgbClr val="1B1B2C"/>
                </a:solidFill>
                <a:latin typeface="Segoe UI"/>
              </a:rPr>
              <a:t>Any of these Cowork tasks can be scheduled to run automatically. In Microsoft 365 Copilot, hover a saved prompt and pick "Schedule this prompt", then choose a daily or weekly cadence (requires a Microsoft 365 Copilot licence).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AF5"/>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5A6078"/>
                </a:solidFill>
                <a:latin typeface="Segoe UI"/>
              </a:rPr>
              <a:t>MICROSOFT SOURCES</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1B1B2C"/>
                </a:solidFill>
                <a:latin typeface="Segoe UI"/>
              </a:rPr>
              <a:t>References</a:t>
            </a:r>
          </a:p>
        </p:txBody>
      </p:sp>
      <p:sp>
        <p:nvSpPr>
          <p:cNvPr id="4" name="Rectangle 3"/>
          <p:cNvSpPr/>
          <p:nvPr/>
        </p:nvSpPr>
        <p:spPr>
          <a:xfrm>
            <a:off x="502920" y="1115568"/>
            <a:ext cx="1097280" cy="45720"/>
          </a:xfrm>
          <a:prstGeom prst="rect">
            <a:avLst/>
          </a:prstGeom>
          <a:solidFill>
            <a:srgbClr val="1A6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7680960" cy="3108960"/>
          </a:xfrm>
          <a:prstGeom prst="rect">
            <a:avLst/>
          </a:prstGeom>
          <a:noFill/>
        </p:spPr>
        <p:txBody>
          <a:bodyPr wrap="none" lIns="73152" rIns="73152" tIns="36576">
            <a:spAutoFit/>
          </a:bodyPr>
          <a:lstStyle/>
          <a:p>
            <a:pPr>
              <a:spcAft>
                <a:spcPts val="500"/>
              </a:spcAft>
              <a:defRPr sz="1200">
                <a:solidFill>
                  <a:srgbClr val="1B1B2C"/>
                </a:solidFill>
                <a:latin typeface="Segoe UI"/>
              </a:defRPr>
            </a:pPr>
            <a:r>
              <a:t>• LEARN Decide which Copilot is right for you</a:t>
            </a:r>
          </a:p>
          <a:p>
            <a:pPr>
              <a:spcAft>
                <a:spcPts val="500"/>
              </a:spcAft>
              <a:defRPr sz="1200">
                <a:solidFill>
                  <a:srgbClr val="1B1B2C"/>
                </a:solidFill>
                <a:latin typeface="Segoe UI"/>
              </a:defRPr>
            </a:pPr>
            <a:r>
              <a:t>• LEARN Copilot Cowork overview</a:t>
            </a:r>
          </a:p>
          <a:p>
            <a:pPr>
              <a:spcAft>
                <a:spcPts val="500"/>
              </a:spcAft>
              <a:defRPr sz="1200">
                <a:solidFill>
                  <a:srgbClr val="1B1B2C"/>
                </a:solidFill>
                <a:latin typeface="Segoe UI"/>
              </a:defRPr>
            </a:pPr>
            <a:r>
              <a:t>• LEARN Copilot Cowork common questions</a:t>
            </a:r>
          </a:p>
          <a:p>
            <a:pPr>
              <a:spcAft>
                <a:spcPts val="500"/>
              </a:spcAft>
              <a:defRPr sz="1200">
                <a:solidFill>
                  <a:srgbClr val="1B1B2C"/>
                </a:solidFill>
                <a:latin typeface="Segoe UI"/>
              </a:defRPr>
            </a:pPr>
            <a:r>
              <a:t>• LEARN Researcher agent in Microsoft 365 Copilot</a:t>
            </a:r>
          </a:p>
          <a:p>
            <a:pPr>
              <a:spcAft>
                <a:spcPts val="500"/>
              </a:spcAft>
              <a:defRPr sz="1200">
                <a:solidFill>
                  <a:srgbClr val="1B1B2C"/>
                </a:solidFill>
                <a:latin typeface="Segoe UI"/>
              </a:defRPr>
            </a:pPr>
            <a:r>
              <a:t>• LEARN Agents for Microsoft 365 Copilot Chat</a:t>
            </a:r>
          </a:p>
          <a:p>
            <a:pPr>
              <a:spcAft>
                <a:spcPts val="500"/>
              </a:spcAft>
              <a:defRPr sz="1200">
                <a:solidFill>
                  <a:srgbClr val="1B1B2C"/>
                </a:solidFill>
                <a:latin typeface="Segoe UI"/>
              </a:defRPr>
            </a:pPr>
            <a:r>
              <a:t>• SUPPORT Schedule your most used Copilot prompts</a:t>
            </a:r>
          </a:p>
          <a:p>
            <a:pPr>
              <a:spcAft>
                <a:spcPts val="500"/>
              </a:spcAft>
              <a:defRPr sz="1200">
                <a:solidFill>
                  <a:srgbClr val="1B1B2C"/>
                </a:solidFill>
                <a:latin typeface="Segoe UI"/>
              </a:defRPr>
            </a:pPr>
            <a:r>
              <a:t>• ADOPT Cowork for the AI user (prompt structure)</a:t>
            </a:r>
          </a:p>
          <a:p>
            <a:pPr>
              <a:spcAft>
                <a:spcPts val="500"/>
              </a:spcAft>
              <a:defRPr sz="1200">
                <a:solidFill>
                  <a:srgbClr val="1B1B2C"/>
                </a:solidFill>
                <a:latin typeface="Segoe UI"/>
              </a:defRPr>
            </a:pPr>
            <a:r>
              <a:t>• ADOPT Microsoft Copilot Adoption 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