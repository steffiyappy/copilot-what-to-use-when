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F5F7FF"/>
                </a:solidFill>
                <a:latin typeface="Segoe UI"/>
              </a:rPr>
              <a:t>Copilot, Cowork, Studio &amp; Scout: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AEB8E0"/>
                </a:solidFill>
                <a:latin typeface="Segoe UI"/>
              </a:rPr>
              <a:t>Most tasks work in more than one place. This guide shows the quickest path for everyday work and where to graduate when things get bigger.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00B7C3"/>
                </a:solidFill>
                <a:latin typeface="Segoe UI"/>
              </a:rPr>
              <a:t>Technical decision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The four tools at a glance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Microsoft Learn and microsoft.com.</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Microsoft 365 Copilot</a:t>
            </a:r>
          </a:p>
          <a:p>
            <a:pPr>
              <a:spcAft>
                <a:spcPts val="500"/>
              </a:spcAft>
              <a:defRPr sz="1300">
                <a:solidFill>
                  <a:srgbClr val="F5F7FF"/>
                </a:solidFill>
                <a:latin typeface="Segoe UI"/>
              </a:defRPr>
            </a:pPr>
            <a:r>
              <a:t>• Microsoft 365 Copilot Cowork</a:t>
            </a:r>
          </a:p>
          <a:p>
            <a:pPr>
              <a:spcAft>
                <a:spcPts val="500"/>
              </a:spcAft>
              <a:defRPr sz="1300">
                <a:solidFill>
                  <a:srgbClr val="F5F7FF"/>
                </a:solidFill>
                <a:latin typeface="Segoe UI"/>
              </a:defRPr>
            </a:pPr>
            <a:r>
              <a:t>• Microsoft Copilot Studio</a:t>
            </a:r>
          </a:p>
          <a:p>
            <a:pPr>
              <a:spcAft>
                <a:spcPts val="500"/>
              </a:spcAft>
              <a:defRPr sz="1300">
                <a:solidFill>
                  <a:srgbClr val="F5F7FF"/>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What should I use for each task?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From simplest and fastest to most powerful and automated.</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Quick question, brainstorm, or short reply</a:t>
            </a:r>
          </a:p>
          <a:p>
            <a:pPr>
              <a:spcAft>
                <a:spcPts val="500"/>
              </a:spcAft>
              <a:defRPr sz="1300">
                <a:solidFill>
                  <a:srgbClr val="F5F7FF"/>
                </a:solidFill>
                <a:latin typeface="Segoe UI"/>
              </a:defRPr>
            </a:pPr>
            <a:r>
              <a:t>• Draft or reply in Outlook, summarise a Teams meeting, edit a Word, Excel, or PowerPoint file</a:t>
            </a:r>
          </a:p>
          <a:p>
            <a:pPr>
              <a:spcAft>
                <a:spcPts val="500"/>
              </a:spcAft>
              <a:defRPr sz="1300">
                <a:solidFill>
                  <a:srgbClr val="F5F7FF"/>
                </a:solidFill>
                <a:latin typeface="Segoe UI"/>
              </a:defRPr>
            </a:pPr>
            <a:r>
              <a:t>• Deep, multi-source research with citations and a shareable report</a:t>
            </a:r>
          </a:p>
          <a:p>
            <a:pPr>
              <a:spcAft>
                <a:spcPts val="500"/>
              </a:spcAft>
              <a:defRPr sz="1300">
                <a:solidFill>
                  <a:srgbClr val="F5F7FF"/>
                </a:solidFill>
                <a:latin typeface="Segoe UI"/>
              </a:defRPr>
            </a:pPr>
            <a:r>
              <a:t>• Take real action across M365 (send emails, schedule meetings, post in Teams, organise files)</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One prompt, multiple deliverables (for example: a Word brief, an Excel model, and a deck)</a:t>
            </a:r>
          </a:p>
          <a:p>
            <a:pPr>
              <a:spcAft>
                <a:spcPts val="500"/>
              </a:spcAft>
              <a:defRPr sz="1300">
                <a:solidFill>
                  <a:srgbClr val="F5F7FF"/>
                </a:solidFill>
                <a:latin typeface="Segoe UI"/>
              </a:defRPr>
            </a:pPr>
            <a:r>
              <a:t>• A small, content-focused Q&amp;A bot for yourself or a small team (for example: answer questions from a team SharePoint)</a:t>
            </a:r>
          </a:p>
          <a:p>
            <a:pPr>
              <a:spcAft>
                <a:spcPts val="500"/>
              </a:spcAft>
              <a:defRPr sz="1300">
                <a:solidFill>
                  <a:srgbClr val="F5F7FF"/>
                </a:solidFill>
                <a:latin typeface="Segoe UI"/>
              </a:defRPr>
            </a:pPr>
            <a:r>
              <a:t>• A repeated, role-specific process for a whole department or external customers (for example: dealer onboarding, customer service, IT helpdesk triage, sales assistant on CRM)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Which Copilot for each app's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Same app, different power. Some Copilot options live inside the app; others act on its files and signals from their own surface.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How to ask Cowork well</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Verbatim from the Microsoft Adoption AI user guidance.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The five-part prompt structure for Cowork</a:t>
            </a:r>
          </a:p>
          <a:p>
            <a:pPr>
              <a:spcAft>
                <a:spcPts val="500"/>
              </a:spcAft>
              <a:defRPr sz="1300">
                <a:solidFill>
                  <a:srgbClr val="F5F7FF"/>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Scenarios by department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How the tools play together in real work, across the functions most teams have.</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Monday pipeline review</a:t>
            </a:r>
          </a:p>
          <a:p>
            <a:pPr>
              <a:spcAft>
                <a:spcPts val="500"/>
              </a:spcAft>
              <a:defRPr sz="1300">
                <a:solidFill>
                  <a:srgbClr val="F5F7FF"/>
                </a:solidFill>
                <a:latin typeface="Segoe UI"/>
              </a:defRPr>
            </a:pPr>
            <a:r>
              <a:t>• Campaign launch pack</a:t>
            </a:r>
          </a:p>
          <a:p>
            <a:pPr>
              <a:spcAft>
                <a:spcPts val="500"/>
              </a:spcAft>
              <a:defRPr sz="1300">
                <a:solidFill>
                  <a:srgbClr val="F5F7FF"/>
                </a:solidFill>
                <a:latin typeface="Segoe UI"/>
              </a:defRPr>
            </a:pPr>
            <a:r>
              <a:t>• Month-end variance pack</a:t>
            </a:r>
          </a:p>
          <a:p>
            <a:pPr>
              <a:spcAft>
                <a:spcPts val="500"/>
              </a:spcAft>
              <a:defRPr sz="1300">
                <a:solidFill>
                  <a:srgbClr val="F5F7FF"/>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Internal helpdesk triage</a:t>
            </a:r>
          </a:p>
          <a:p>
            <a:pPr>
              <a:spcAft>
                <a:spcPts val="500"/>
              </a:spcAft>
              <a:defRPr sz="1300">
                <a:solidFill>
                  <a:srgbClr val="F5F7FF"/>
                </a:solidFill>
                <a:latin typeface="Segoe UI"/>
              </a:defRPr>
            </a:pPr>
            <a:r>
              <a:t>• Supplier and inventory risk</a:t>
            </a:r>
          </a:p>
          <a:p>
            <a:pPr>
              <a:spcAft>
                <a:spcPts val="500"/>
              </a:spcAft>
              <a:defRPr sz="1300">
                <a:solidFill>
                  <a:srgbClr val="F5F7FF"/>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Before building your own agent, check this order</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AEB8E0"/>
                </a:solidFill>
                <a:latin typeface="Segoe UI"/>
              </a:rPr>
              <a:t>Building should be the last step, not the first.</a:t>
            </a:r>
          </a:p>
        </p:txBody>
      </p:sp>
      <p:sp>
        <p:nvSpPr>
          <p:cNvPr id="6" name="Rounded Rectangle 5"/>
          <p:cNvSpPr/>
          <p:nvPr/>
        </p:nvSpPr>
        <p:spPr>
          <a:xfrm>
            <a:off x="54864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F5F7FF"/>
                </a:solidFill>
                <a:latin typeface="Segoe UI"/>
              </a:defRPr>
            </a:pPr>
            <a:r>
              <a:t>• Can a saved or scheduled prompt do it?</a:t>
            </a:r>
          </a:p>
          <a:p>
            <a:pPr>
              <a:spcAft>
                <a:spcPts val="500"/>
              </a:spcAft>
              <a:defRPr sz="1300">
                <a:solidFill>
                  <a:srgbClr val="F5F7FF"/>
                </a:solidFill>
                <a:latin typeface="Segoe UI"/>
              </a:defRPr>
            </a:pPr>
            <a:r>
              <a:t>• Is there already a ready Microsoft agent?</a:t>
            </a:r>
          </a:p>
          <a:p>
            <a:pPr>
              <a:spcAft>
                <a:spcPts val="500"/>
              </a:spcAft>
              <a:defRPr sz="1300">
                <a:solidFill>
                  <a:srgbClr val="F5F7FF"/>
                </a:solidFill>
                <a:latin typeface="Segoe UI"/>
              </a:defRPr>
            </a:pPr>
            <a:r>
              <a:t>• Does Cowork already cover the full process?</a:t>
            </a:r>
          </a:p>
          <a:p>
            <a:pPr>
              <a:spcAft>
                <a:spcPts val="500"/>
              </a:spcAft>
              <a:defRPr sz="1300">
                <a:solidFill>
                  <a:srgbClr val="F5F7FF"/>
                </a:solidFill>
                <a:latin typeface="Segoe UI"/>
              </a:defRPr>
            </a:pPr>
            <a:r>
              <a:t>• Use Agent Builder or Copilot Studio</a:t>
            </a:r>
          </a:p>
        </p:txBody>
      </p:sp>
      <p:sp>
        <p:nvSpPr>
          <p:cNvPr id="9" name="Rounded Rectangle 8"/>
          <p:cNvSpPr/>
          <p:nvPr/>
        </p:nvSpPr>
        <p:spPr>
          <a:xfrm>
            <a:off x="4709160" y="1783080"/>
            <a:ext cx="3886200" cy="260604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F5F7FF"/>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AEB8E0"/>
                </a:solidFill>
                <a:latin typeface="Segoe UI"/>
              </a:rPr>
              <a:t>Pick the simplest Copilot surface that can finish the job with the right level of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 medium,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AEB8E0"/>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AEB8E0"/>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light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AEB8E0"/>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AEB8E0"/>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F5F7FF"/>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AEB8E0"/>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F5F7FF"/>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AEB8E0"/>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F5F7FF"/>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AEB8E0"/>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F5F7FF"/>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AEB8E0"/>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medium</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F5F7FF"/>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AEB8E0"/>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F5F7FF"/>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AEB8E0"/>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Cowork tasks: heavy</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F5F7FF"/>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AEB8E0"/>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F5F7FF"/>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AEB8E0"/>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F5F7FF"/>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F5F7FF"/>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AEB8E0"/>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F5F7FF"/>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AEB8E0"/>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F5F7FF"/>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AEB8E0"/>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F5F7FF"/>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AEB8E0"/>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F5F7FF"/>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AEB8E0"/>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F5F7FF"/>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AEB8E0"/>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F5F7FF"/>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AEB8E0"/>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Rebalance your week and protect focus time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Take control of a fragmented calendar before it takes control of your week.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rebalanced schedule that protects focus time, prioritizes high-impact meetings, and resolves conflicts, without manually negotiating your own availability.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REBALANCE YOUR WEEK AND PROTECT FOCUS TIME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Help me organize my week. Review my Outlook calendar. First, show me a summary: Total meetings and hours spent, where I have focus time (2+ hours), and days with the most meetings. Before taking changes, ask clarifying questions: my manager and management chain, note if they are on a meeting, how many attendees, what I'm trying to accomplish this week, how to prioritize conflicts, personal commitments, and which meetings to...</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Calendar -&gt; Summarize meeting load + focus time</a:t>
            </a:r>
          </a:p>
          <a:p>
            <a:pPr>
              <a:spcAft>
                <a:spcPts val="500"/>
              </a:spcAft>
              <a:defRPr sz="1000">
                <a:solidFill>
                  <a:srgbClr val="F5F7FF"/>
                </a:solidFill>
                <a:latin typeface="Segoe UI"/>
              </a:defRPr>
            </a:pPr>
            <a:r>
              <a:t>• Clarify -&gt; Weekly goals + constraints</a:t>
            </a:r>
          </a:p>
          <a:p>
            <a:pPr>
              <a:spcAft>
                <a:spcPts val="500"/>
              </a:spcAft>
              <a:defRPr sz="1000">
                <a:solidFill>
                  <a:srgbClr val="F5F7FF"/>
                </a:solidFill>
                <a:latin typeface="Segoe UI"/>
              </a:defRPr>
            </a:pPr>
            <a:r>
              <a:t>• Evaluate -&gt; Meeting impact + conflicts</a:t>
            </a:r>
          </a:p>
          <a:p>
            <a:pPr>
              <a:spcAft>
                <a:spcPts val="500"/>
              </a:spcAft>
              <a:defRPr sz="1000">
                <a:solidFill>
                  <a:srgbClr val="F5F7FF"/>
                </a:solidFill>
                <a:latin typeface="Segoe UI"/>
              </a:defRPr>
            </a:pPr>
            <a:r>
              <a:t>• Propose -&gt; Accept / decline / reschedule</a:t>
            </a:r>
          </a:p>
          <a:p>
            <a:pPr>
              <a:spcAft>
                <a:spcPts val="500"/>
              </a:spcAft>
              <a:defRPr sz="1000">
                <a:solidFill>
                  <a:srgbClr val="F5F7FF"/>
                </a:solidFill>
                <a:latin typeface="Segoe UI"/>
              </a:defRPr>
            </a:pPr>
            <a:r>
              <a:t>• Recommend -&gt; Add focus blocks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rebalanced schedule that protects focus time, prioritizes high-impact meetings, and resolves conflicts, without manually negotiating...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LIGHT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Wrap up projects and organize all related work</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3E8E22"/>
                </a:solidFill>
                <a:latin typeface="Segoe UI"/>
              </a:rPr>
              <a:t>Light</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Quick, single-purpose handoff. Cowork pulls from one or two sources and returns a ready-to-use artifact in minutes.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Close out a project with a clean, shareable archive, not a scattered trail of files.</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single OneDrive folder with the project's deliverables and references, shared with the team so the work stays findable and easy to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WRAP UP PROJECTS AND ORGANIZE ALL RELATED 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just wrapped up the [Project Name] project. Find all files in my OneDrive related to this project, docs, decks, spreadsheets. Create a new folder called "[Project Name], Archive" and move everything into it. Share the archive folder with the [Project Name] team so they have a clean reference. Then build a lightweight HTML recap page for the archive, project outcomes, key contributors, links to the headline deliverables,...</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Locate project files</a:t>
            </a:r>
          </a:p>
          <a:p>
            <a:pPr>
              <a:spcAft>
                <a:spcPts val="500"/>
              </a:spcAft>
              <a:defRPr sz="1000">
                <a:solidFill>
                  <a:srgbClr val="F5F7FF"/>
                </a:solidFill>
                <a:latin typeface="Segoe UI"/>
              </a:defRPr>
            </a:pPr>
            <a:r>
              <a:t>• Classify -&gt; Docs / decks / spreadsheets</a:t>
            </a:r>
          </a:p>
          <a:p>
            <a:pPr>
              <a:spcAft>
                <a:spcPts val="500"/>
              </a:spcAft>
              <a:defRPr sz="1000">
                <a:solidFill>
                  <a:srgbClr val="F5F7FF"/>
                </a:solidFill>
                <a:latin typeface="Segoe UI"/>
              </a:defRPr>
            </a:pPr>
            <a:r>
              <a:t>• Create -&gt; Archive folder</a:t>
            </a:r>
          </a:p>
          <a:p>
            <a:pPr>
              <a:spcAft>
                <a:spcPts val="500"/>
              </a:spcAft>
              <a:defRPr sz="1000">
                <a:solidFill>
                  <a:srgbClr val="F5F7FF"/>
                </a:solidFill>
                <a:latin typeface="Segoe UI"/>
              </a:defRPr>
            </a:pPr>
            <a:r>
              <a:t>• Move -&gt; Related artifacts</a:t>
            </a:r>
          </a:p>
          <a:p>
            <a:pPr>
              <a:spcAft>
                <a:spcPts val="500"/>
              </a:spcAft>
              <a:defRPr sz="1000">
                <a:solidFill>
                  <a:srgbClr val="F5F7FF"/>
                </a:solidFill>
                <a:latin typeface="Segoe UI"/>
              </a:defRPr>
            </a:pPr>
            <a:r>
              <a:t>• Share -&gt; Archive folder</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single OneDrive folder with the project's deliverables and references, shared with the team so the work stays findable and easy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Turn inbox noise into a curated intelligence brief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Cut through a week of newsletters to the stories that actually matter to your work.</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curated weekly brief that surfaces meaningful trends across the publications you follow, without the time spent reading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TURN INBOX NOISE INTO A CURATED INTELLIGENCE BRIEF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Search my inbox for all newsletters, digests, and industry publications received in the past 7 days. Then write a polished, article-style weekly brief covering four sections: (1) [Company] internal newsletters, (2) AI &amp; tech news, (3) World affairs/news publications, and (4) [Your industry], weaving the key stories and themes from each into flowing narrative paragraphs, not bullet lists. Exclude personal or consumer...</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Inbox -&gt; Identify newsletters + digests</a:t>
            </a:r>
          </a:p>
          <a:p>
            <a:pPr>
              <a:spcAft>
                <a:spcPts val="500"/>
              </a:spcAft>
              <a:defRPr sz="1000">
                <a:solidFill>
                  <a:srgbClr val="F5F7FF"/>
                </a:solidFill>
                <a:latin typeface="Segoe UI"/>
              </a:defRPr>
            </a:pPr>
            <a:r>
              <a:t>• Categorize -&gt; Internal / AI / news / industry</a:t>
            </a:r>
          </a:p>
          <a:p>
            <a:pPr>
              <a:spcAft>
                <a:spcPts val="500"/>
              </a:spcAft>
              <a:defRPr sz="1000">
                <a:solidFill>
                  <a:srgbClr val="F5F7FF"/>
                </a:solidFill>
                <a:latin typeface="Segoe UI"/>
              </a:defRPr>
            </a:pPr>
            <a:r>
              <a:t>• Filter -&gt; Exclude consumer content</a:t>
            </a:r>
          </a:p>
          <a:p>
            <a:pPr>
              <a:spcAft>
                <a:spcPts val="500"/>
              </a:spcAft>
              <a:defRPr sz="1000">
                <a:solidFill>
                  <a:srgbClr val="F5F7FF"/>
                </a:solidFill>
                <a:latin typeface="Segoe UI"/>
              </a:defRPr>
            </a:pPr>
            <a:r>
              <a:t>• Synthesize -&gt; Narrative brief</a:t>
            </a:r>
          </a:p>
          <a:p>
            <a:pPr>
              <a:spcAft>
                <a:spcPts val="500"/>
              </a:spcAft>
              <a:defRPr sz="1000">
                <a:solidFill>
                  <a:srgbClr val="F5F7FF"/>
                </a:solidFill>
                <a:latin typeface="Segoe UI"/>
              </a:defRPr>
            </a:pPr>
            <a:r>
              <a:t>• Compile -&gt; Inline article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curated weekly brief that surfaces meaningful trends across the publications you follow, without the time spent reading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MEDIUM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Partner and channel activation kit</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0E8E92"/>
                </a:solidFill>
                <a:latin typeface="Segoe UI"/>
              </a:rPr>
              <a:t>Medium</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Recurring multi-step work. Cowork reasons across several sources and produces one or more finished deliverables you would normally build by hand.</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Adapt the [Product/Campaign Name] launch materials for partners and channel teams and route them for review.</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partner-ready and channel-ready activation kit across Word and Excel, plus a routing plan so partner, field, and channel marketing can move fast.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PARTNER AND CHANNEL ACTIVATION KIT</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[Product/Campaign Name] is moving into partner and channel activation. I need the launch materials adapted so partner marketing and the channel teams can execute without translation. Source: Latest launch materials in [OneDrive Folder] Approved messaging in [Messaging Doc] Prior partner-facing communications for tone reference Create the following: Partner one-pager (Word) Co-marketing talking points (Word) Partner FAQ...</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[Folder] -&gt; Read the launch materials</a:t>
            </a:r>
          </a:p>
          <a:p>
            <a:pPr>
              <a:spcAft>
                <a:spcPts val="500"/>
              </a:spcAft>
              <a:defRPr sz="1000">
                <a:solidFill>
                  <a:srgbClr val="F5F7FF"/>
                </a:solidFill>
                <a:latin typeface="Segoe UI"/>
              </a:defRPr>
            </a:pPr>
            <a:r>
              <a:t>• Messaging Doc -&gt; Ground every adaptation in approved positioning</a:t>
            </a:r>
          </a:p>
          <a:p>
            <a:pPr>
              <a:spcAft>
                <a:spcPts val="500"/>
              </a:spcAft>
              <a:defRPr sz="1000">
                <a:solidFill>
                  <a:srgbClr val="F5F7FF"/>
                </a:solidFill>
                <a:latin typeface="Segoe UI"/>
              </a:defRPr>
            </a:pPr>
            <a:r>
              <a:t>• Adapt -&gt; One-pager · talking points · FAQ</a:t>
            </a:r>
          </a:p>
          <a:p>
            <a:pPr>
              <a:spcAft>
                <a:spcPts val="500"/>
              </a:spcAft>
              <a:defRPr sz="1000">
                <a:solidFill>
                  <a:srgbClr val="F5F7FF"/>
                </a:solidFill>
                <a:latin typeface="Segoe UI"/>
              </a:defRPr>
            </a:pPr>
            <a:r>
              <a:t>• Adapt -&gt; Email template · social pack</a:t>
            </a:r>
          </a:p>
          <a:p>
            <a:pPr>
              <a:spcAft>
                <a:spcPts val="500"/>
              </a:spcAft>
              <a:defRPr sz="1000">
                <a:solidFill>
                  <a:srgbClr val="F5F7FF"/>
                </a:solidFill>
                <a:latin typeface="Segoe UI"/>
              </a:defRPr>
            </a:pPr>
            <a:r>
              <a:t>• Org directory -&gt; Identify partner and channel owners</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partner-ready and channel-ready activation kit across Word and Excel, plus a routing plan so partner, field, and channel marketing can...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Prepare a complete out-of-office handoff</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Step away from your laptop knowing nothing in flight will stall while you are out.</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 handover document built from your real work, projects, owners, deadlines, and supporting files, so coverage stays clear and execution keeps moving.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PREPARE A COMPLETE OUT-OF-OFFICE HANDOFF</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I am about to go out of office for x week(s) beginning this coming [date]. Build an out-of-office tracker to cover off on all ongoing projects and tasks that will require things to move forward while I am gone. This should cover all team meetings from this week, all emails, and all Teams messages (both in meeting chats, individual chats, and group chats). Please also analyze my calendar for next week, and any projects that...</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Meetings (this week) -&gt; Identify active projects + stakeholders</a:t>
            </a:r>
          </a:p>
          <a:p>
            <a:pPr>
              <a:spcAft>
                <a:spcPts val="500"/>
              </a:spcAft>
              <a:defRPr sz="1000">
                <a:solidFill>
                  <a:srgbClr val="F5F7FF"/>
                </a:solidFill>
                <a:latin typeface="Segoe UI"/>
              </a:defRPr>
            </a:pPr>
            <a:r>
              <a:t>• Email threads -&gt; Extract open requests + dependencies</a:t>
            </a:r>
          </a:p>
          <a:p>
            <a:pPr>
              <a:spcAft>
                <a:spcPts val="500"/>
              </a:spcAft>
              <a:defRPr sz="1000">
                <a:solidFill>
                  <a:srgbClr val="F5F7FF"/>
                </a:solidFill>
                <a:latin typeface="Segoe UI"/>
              </a:defRPr>
            </a:pPr>
            <a:r>
              <a:t>• Teams chats -&gt; Capture in-flight tasks</a:t>
            </a:r>
          </a:p>
          <a:p>
            <a:pPr>
              <a:spcAft>
                <a:spcPts val="500"/>
              </a:spcAft>
              <a:defRPr sz="1000">
                <a:solidFill>
                  <a:srgbClr val="F5F7FF"/>
                </a:solidFill>
                <a:latin typeface="Segoe UI"/>
              </a:defRPr>
            </a:pPr>
            <a:r>
              <a:t>• Calendar (next week) -&gt; Detect upcoming deadlines</a:t>
            </a:r>
          </a:p>
          <a:p>
            <a:pPr>
              <a:spcAft>
                <a:spcPts val="500"/>
              </a:spcAft>
              <a:defRPr sz="1000">
                <a:solidFill>
                  <a:srgbClr val="F5F7FF"/>
                </a:solidFill>
                <a:latin typeface="Segoe UI"/>
              </a:defRPr>
            </a:pPr>
            <a:r>
              <a:t>• Org directory -&gt; Match internal team coverage</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 handover document built from your real work, projects, owners, deadlines, and supporting files, so coverage stays clear and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COWORK HEAVY TASK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Analyze and optimize your OneDrive at scale</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7863840" cy="26974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17320"/>
            <a:ext cx="786384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0784"/>
            <a:ext cx="1325880" cy="384048"/>
          </a:xfrm>
          <a:prstGeom prst="rect">
            <a:avLst/>
          </a:prstGeom>
          <a:noFill/>
        </p:spPr>
        <p:txBody>
          <a:bodyPr wrap="square" lIns="27432" rIns="27432" tIns="18288" bIns="18288">
            <a:spAutoFit/>
          </a:bodyPr>
          <a:lstStyle/>
          <a:p>
            <a:pPr algn="ctr"/>
            <a:r>
              <a:rPr sz="2000" b="1">
                <a:solidFill>
                  <a:srgbClr val="C73E78"/>
                </a:solidFill>
                <a:latin typeface="Segoe UI"/>
              </a:rPr>
              <a:t>Heavy</a:t>
            </a:r>
          </a:p>
        </p:txBody>
      </p:sp>
      <p:sp>
        <p:nvSpPr>
          <p:cNvPr id="8" name="TextBox 7"/>
          <p:cNvSpPr txBox="1"/>
          <p:nvPr/>
        </p:nvSpPr>
        <p:spPr>
          <a:xfrm>
            <a:off x="2423160" y="1627632"/>
            <a:ext cx="5577840" cy="658368"/>
          </a:xfrm>
          <a:prstGeom prst="rect">
            <a:avLst/>
          </a:prstGeom>
          <a:noFill/>
        </p:spPr>
        <p:txBody>
          <a:bodyPr wrap="square" lIns="27432" rIns="27432" tIns="18288" bIns="18288">
            <a:spAutoFit/>
          </a:bodyPr>
          <a:lstStyle/>
          <a:p>
            <a:r>
              <a:rPr sz="1300" b="0">
                <a:solidFill>
                  <a:srgbClr val="AEB8E0"/>
                </a:solidFill>
                <a:latin typeface="Segoe UI"/>
              </a:rPr>
              <a:t>Multi-part work you would block out serious time for. Cowork pulls from across your tools, does the deep thinking, and delivers a full set of artifacts.</a:t>
            </a:r>
          </a:p>
        </p:txBody>
      </p:sp>
      <p:sp>
        <p:nvSpPr>
          <p:cNvPr id="9" name="TextBox 8"/>
          <p:cNvSpPr txBox="1"/>
          <p:nvPr/>
        </p:nvSpPr>
        <p:spPr>
          <a:xfrm>
            <a:off x="914400" y="2560320"/>
            <a:ext cx="1005840" cy="237744"/>
          </a:xfrm>
          <a:prstGeom prst="rect">
            <a:avLst/>
          </a:prstGeom>
          <a:noFill/>
        </p:spPr>
        <p:txBody>
          <a:bodyPr wrap="square" lIns="27432" rIns="27432" tIns="18288" bIns="18288">
            <a:spAutoFit/>
          </a:bodyPr>
          <a:lstStyle/>
          <a:p>
            <a:r>
              <a:rPr sz="1300" b="1">
                <a:solidFill>
                  <a:srgbClr val="F5F7FF"/>
                </a:solidFill>
                <a:latin typeface="Segoe UI"/>
              </a:rPr>
              <a:t>Goal</a:t>
            </a:r>
          </a:p>
        </p:txBody>
      </p:sp>
      <p:sp>
        <p:nvSpPr>
          <p:cNvPr id="10" name="TextBox 9"/>
          <p:cNvSpPr txBox="1"/>
          <p:nvPr/>
        </p:nvSpPr>
        <p:spPr>
          <a:xfrm>
            <a:off x="1874519" y="2542032"/>
            <a:ext cx="6263640" cy="384048"/>
          </a:xfrm>
          <a:prstGeom prst="rect">
            <a:avLst/>
          </a:prstGeom>
          <a:noFill/>
        </p:spPr>
        <p:txBody>
          <a:bodyPr wrap="square" lIns="27432" rIns="27432" tIns="18288" bIns="18288">
            <a:spAutoFit/>
          </a:bodyPr>
          <a:lstStyle/>
          <a:p>
            <a:r>
              <a:rPr sz="1200" b="0">
                <a:solidFill>
                  <a:srgbClr val="F5F7FF"/>
                </a:solidFill>
                <a:latin typeface="Segoe UI"/>
              </a:rPr>
              <a:t>Turn a sprawling OneDrive into a structured catalog you can actually act on.</a:t>
            </a:r>
          </a:p>
        </p:txBody>
      </p:sp>
      <p:sp>
        <p:nvSpPr>
          <p:cNvPr id="11" name="TextBox 10"/>
          <p:cNvSpPr txBox="1"/>
          <p:nvPr/>
        </p:nvSpPr>
        <p:spPr>
          <a:xfrm>
            <a:off x="914400" y="3218688"/>
            <a:ext cx="1234440" cy="237744"/>
          </a:xfrm>
          <a:prstGeom prst="rect">
            <a:avLst/>
          </a:prstGeom>
          <a:noFill/>
        </p:spPr>
        <p:txBody>
          <a:bodyPr wrap="square" lIns="27432" rIns="27432" tIns="18288" bIns="18288">
            <a:spAutoFit/>
          </a:bodyPr>
          <a:lstStyle/>
          <a:p>
            <a:r>
              <a:rPr sz="1300" b="1">
                <a:solidFill>
                  <a:srgbClr val="F5F7FF"/>
                </a:solidFill>
                <a:latin typeface="Segoe UI"/>
              </a:rPr>
              <a:t>Outcome</a:t>
            </a:r>
          </a:p>
        </p:txBody>
      </p:sp>
      <p:sp>
        <p:nvSpPr>
          <p:cNvPr id="12" name="TextBox 11"/>
          <p:cNvSpPr txBox="1"/>
          <p:nvPr/>
        </p:nvSpPr>
        <p:spPr>
          <a:xfrm>
            <a:off x="1874519" y="3182112"/>
            <a:ext cx="6263640" cy="438912"/>
          </a:xfrm>
          <a:prstGeom prst="rect">
            <a:avLst/>
          </a:prstGeom>
          <a:noFill/>
        </p:spPr>
        <p:txBody>
          <a:bodyPr wrap="square" lIns="27432" rIns="27432" tIns="18288" bIns="18288">
            <a:spAutoFit/>
          </a:bodyPr>
          <a:lstStyle/>
          <a:p>
            <a:r>
              <a:rPr sz="1200" b="0">
                <a:solidFill>
                  <a:srgbClr val="F5F7FF"/>
                </a:solidFill>
                <a:latin typeface="Segoe UI"/>
              </a:rPr>
              <a:t>An organization plan and visual overview of your files, with cleanup decisions queued up for your approval.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ANALYZE AND OPTIMIZE YOUR ONEDRIVE AT SCALE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Goal, outcome, prompt, flow</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298448"/>
            <a:ext cx="3886200"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98448"/>
            <a:ext cx="38862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Prompt to give Cowork</a:t>
            </a:r>
          </a:p>
        </p:txBody>
      </p:sp>
      <p:sp>
        <p:nvSpPr>
          <p:cNvPr id="8" name="TextBox 7"/>
          <p:cNvSpPr txBox="1"/>
          <p:nvPr/>
        </p:nvSpPr>
        <p:spPr>
          <a:xfrm>
            <a:off x="749808" y="1883664"/>
            <a:ext cx="3383280" cy="2240280"/>
          </a:xfrm>
          <a:prstGeom prst="rect">
            <a:avLst/>
          </a:prstGeom>
          <a:noFill/>
        </p:spPr>
        <p:txBody>
          <a:bodyPr wrap="square" lIns="27432" rIns="27432" tIns="18288" bIns="18288">
            <a:spAutoFit/>
          </a:bodyPr>
          <a:lstStyle/>
          <a:p>
            <a:r>
              <a:rPr sz="900" b="0">
                <a:solidFill>
                  <a:srgbClr val="AEB8E0"/>
                </a:solidFill>
                <a:latin typeface="Segoe UI"/>
              </a:rPr>
              <a:t>Analyze my OneDrive. Catalog and categorize all of the files. Create a dynamic HTML presentation showing the disposition of the files, age, relevancy, customer, product etc. The presentation should be no more than five scrolling screens with an executive overview with animated interactivity. The sixth screen should be recommendations. Create a plan to optimize my files and reorganize them. The plan should include folders and...</a:t>
            </a:r>
          </a:p>
        </p:txBody>
      </p:sp>
      <p:sp>
        <p:nvSpPr>
          <p:cNvPr id="9" name="Rounded Rectangle 8"/>
          <p:cNvSpPr/>
          <p:nvPr/>
        </p:nvSpPr>
        <p:spPr>
          <a:xfrm>
            <a:off x="4663440" y="1298448"/>
            <a:ext cx="3977639" cy="3273552"/>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63440" y="1298448"/>
            <a:ext cx="3977639"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10328" y="1554480"/>
            <a:ext cx="3383280" cy="256032"/>
          </a:xfrm>
          <a:prstGeom prst="rect">
            <a:avLst/>
          </a:prstGeom>
          <a:noFill/>
        </p:spPr>
        <p:txBody>
          <a:bodyPr wrap="square" lIns="27432" rIns="27432" tIns="18288" bIns="18288">
            <a:spAutoFit/>
          </a:bodyPr>
          <a:lstStyle/>
          <a:p>
            <a:r>
              <a:rPr sz="1300" b="1">
                <a:solidFill>
                  <a:srgbClr val="F5F7FF"/>
                </a:solidFill>
                <a:latin typeface="Segoe UI"/>
              </a:rPr>
              <a:t>Execution flow</a:t>
            </a:r>
          </a:p>
        </p:txBody>
      </p:sp>
      <p:sp>
        <p:nvSpPr>
          <p:cNvPr id="12" name="TextBox 11"/>
          <p:cNvSpPr txBox="1"/>
          <p:nvPr/>
        </p:nvSpPr>
        <p:spPr>
          <a:xfrm>
            <a:off x="4892040" y="1874519"/>
            <a:ext cx="3429000" cy="2148840"/>
          </a:xfrm>
          <a:prstGeom prst="rect">
            <a:avLst/>
          </a:prstGeom>
          <a:noFill/>
        </p:spPr>
        <p:txBody>
          <a:bodyPr wrap="none" lIns="73152" rIns="73152" tIns="36576">
            <a:spAutoFit/>
          </a:bodyPr>
          <a:lstStyle/>
          <a:p>
            <a:pPr>
              <a:spcAft>
                <a:spcPts val="500"/>
              </a:spcAft>
              <a:defRPr sz="1000">
                <a:solidFill>
                  <a:srgbClr val="F5F7FF"/>
                </a:solidFill>
                <a:latin typeface="Segoe UI"/>
              </a:defRPr>
            </a:pPr>
            <a:r>
              <a:t>• OneDrive -&gt; Scan file inventory</a:t>
            </a:r>
          </a:p>
          <a:p>
            <a:pPr>
              <a:spcAft>
                <a:spcPts val="500"/>
              </a:spcAft>
              <a:defRPr sz="1000">
                <a:solidFill>
                  <a:srgbClr val="F5F7FF"/>
                </a:solidFill>
                <a:latin typeface="Segoe UI"/>
              </a:defRPr>
            </a:pPr>
            <a:r>
              <a:t>• Catalog -&gt; Age + relevance</a:t>
            </a:r>
          </a:p>
          <a:p>
            <a:pPr>
              <a:spcAft>
                <a:spcPts val="500"/>
              </a:spcAft>
              <a:defRPr sz="1000">
                <a:solidFill>
                  <a:srgbClr val="F5F7FF"/>
                </a:solidFill>
                <a:latin typeface="Segoe UI"/>
              </a:defRPr>
            </a:pPr>
            <a:r>
              <a:t>• Categorize -&gt; Customer / product</a:t>
            </a:r>
          </a:p>
          <a:p>
            <a:pPr>
              <a:spcAft>
                <a:spcPts val="500"/>
              </a:spcAft>
              <a:defRPr sz="1000">
                <a:solidFill>
                  <a:srgbClr val="F5F7FF"/>
                </a:solidFill>
                <a:latin typeface="Segoe UI"/>
              </a:defRPr>
            </a:pPr>
            <a:r>
              <a:t>• Visualize -&gt; HTML dashboard</a:t>
            </a:r>
          </a:p>
          <a:p>
            <a:pPr>
              <a:spcAft>
                <a:spcPts val="500"/>
              </a:spcAft>
              <a:defRPr sz="1000">
                <a:solidFill>
                  <a:srgbClr val="F5F7FF"/>
                </a:solidFill>
                <a:latin typeface="Segoe UI"/>
              </a:defRPr>
            </a:pPr>
            <a:r>
              <a:t>• Recommend -&gt; Optimization plan</a:t>
            </a:r>
          </a:p>
        </p:txBody>
      </p:sp>
      <p:sp>
        <p:nvSpPr>
          <p:cNvPr id="13" name="TextBox 12"/>
          <p:cNvSpPr txBox="1"/>
          <p:nvPr/>
        </p:nvSpPr>
        <p:spPr>
          <a:xfrm>
            <a:off x="4910328" y="4133087"/>
            <a:ext cx="3337560" cy="310896"/>
          </a:xfrm>
          <a:prstGeom prst="rect">
            <a:avLst/>
          </a:prstGeom>
          <a:noFill/>
        </p:spPr>
        <p:txBody>
          <a:bodyPr wrap="square" lIns="27432" rIns="27432" tIns="18288" bIns="18288">
            <a:spAutoFit/>
          </a:bodyPr>
          <a:lstStyle/>
          <a:p>
            <a:r>
              <a:rPr sz="1000" b="0">
                <a:solidFill>
                  <a:srgbClr val="AEB8E0"/>
                </a:solidFill>
                <a:latin typeface="Segoe UI"/>
              </a:rPr>
              <a:t>An organization plan and visual overview of your files, with cleanup decisions queued up for your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Add-on tip: schedule Cowork prompts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1600200"/>
            <a:ext cx="7315200" cy="2240280"/>
          </a:xfrm>
          <a:prstGeom prst="roundRect">
            <a:avLst/>
          </a:prstGeom>
          <a:solidFill>
            <a:srgbClr val="1B2241"/>
          </a:solidFill>
          <a:ln>
            <a:solidFill>
              <a:srgbClr val="161E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600200"/>
            <a:ext cx="7315200" cy="64008"/>
          </a:xfrm>
          <a:prstGeom prst="rect">
            <a:avLst/>
          </a:prstGeom>
          <a:solidFill>
            <a:srgbClr val="73B8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1901952"/>
            <a:ext cx="1097280" cy="411480"/>
          </a:xfrm>
          <a:prstGeom prst="rect">
            <a:avLst/>
          </a:prstGeom>
          <a:noFill/>
        </p:spPr>
        <p:txBody>
          <a:bodyPr wrap="square" lIns="27432" rIns="27432" tIns="18288" bIns="18288">
            <a:spAutoFit/>
          </a:bodyPr>
          <a:lstStyle/>
          <a:p>
            <a:r>
              <a:rPr sz="2200" b="1">
                <a:solidFill>
                  <a:srgbClr val="73B82E"/>
                </a:solidFill>
                <a:latin typeface="Segoe UI"/>
              </a:rPr>
              <a:t>Tip</a:t>
            </a:r>
          </a:p>
        </p:txBody>
      </p:sp>
      <p:sp>
        <p:nvSpPr>
          <p:cNvPr id="8" name="TextBox 7"/>
          <p:cNvSpPr txBox="1"/>
          <p:nvPr/>
        </p:nvSpPr>
        <p:spPr>
          <a:xfrm>
            <a:off x="1234440" y="2514600"/>
            <a:ext cx="6583680" cy="868680"/>
          </a:xfrm>
          <a:prstGeom prst="rect">
            <a:avLst/>
          </a:prstGeom>
          <a:noFill/>
        </p:spPr>
        <p:txBody>
          <a:bodyPr wrap="square" lIns="27432" rIns="27432" tIns="18288" bIns="18288">
            <a:spAutoFit/>
          </a:bodyPr>
          <a:lstStyle/>
          <a:p>
            <a:r>
              <a:rPr sz="1700" b="0">
                <a:solidFill>
                  <a:srgbClr val="F5F7FF"/>
                </a:solidFill>
                <a:latin typeface="Segoe UI"/>
              </a:rPr>
              <a:t>Any of these Cowork tasks can be scheduled to run automatically. In Microsoft 365 Copilot, hover a saved prompt and pick "Schedule this prompt", then choose a daily or weekly cadence (requires a Microsoft 365 Copilot licence).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430"/>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AEB8E0"/>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F5F7FF"/>
                </a:solidFill>
                <a:latin typeface="Segoe UI"/>
              </a:rPr>
              <a:t>References</a:t>
            </a:r>
          </a:p>
        </p:txBody>
      </p:sp>
      <p:sp>
        <p:nvSpPr>
          <p:cNvPr id="4" name="Rectangle 3"/>
          <p:cNvSpPr/>
          <p:nvPr/>
        </p:nvSpPr>
        <p:spPr>
          <a:xfrm>
            <a:off x="502920" y="1115568"/>
            <a:ext cx="1097280" cy="45720"/>
          </a:xfrm>
          <a:prstGeom prst="rect">
            <a:avLst/>
          </a:prstGeom>
          <a:solidFill>
            <a:srgbClr val="00B7C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F5F7FF"/>
                </a:solidFill>
                <a:latin typeface="Segoe UI"/>
              </a:defRPr>
            </a:pPr>
            <a:r>
              <a:t>• learn.microsoft.com/microsoft-365/copilot/which-copilot-for-your-organization</a:t>
            </a:r>
          </a:p>
          <a:p>
            <a:pPr>
              <a:spcAft>
                <a:spcPts val="500"/>
              </a:spcAft>
              <a:defRPr sz="1200">
                <a:solidFill>
                  <a:srgbClr val="F5F7FF"/>
                </a:solidFill>
                <a:latin typeface="Segoe UI"/>
              </a:defRPr>
            </a:pPr>
            <a:r>
              <a:t>• learn.microsoft.com/microsoft-365/copilot/cowork</a:t>
            </a:r>
          </a:p>
          <a:p>
            <a:pPr>
              <a:spcAft>
                <a:spcPts val="500"/>
              </a:spcAft>
              <a:defRPr sz="1200">
                <a:solidFill>
                  <a:srgbClr val="F5F7FF"/>
                </a:solidFill>
                <a:latin typeface="Segoe UI"/>
              </a:defRPr>
            </a:pPr>
            <a:r>
              <a:t>• learn.microsoft.com/microsoft-365/copilot/cowork/cowork-faq</a:t>
            </a:r>
          </a:p>
          <a:p>
            <a:pPr>
              <a:spcAft>
                <a:spcPts val="500"/>
              </a:spcAft>
              <a:defRPr sz="1200">
                <a:solidFill>
                  <a:srgbClr val="F5F7FF"/>
                </a:solidFill>
                <a:latin typeface="Segoe UI"/>
              </a:defRPr>
            </a:pPr>
            <a:r>
              <a:t>• learn.microsoft.com/microsoft-copilot-studio/fundamentals-what-is-copilot-studio</a:t>
            </a:r>
          </a:p>
          <a:p>
            <a:pPr>
              <a:spcAft>
                <a:spcPts val="500"/>
              </a:spcAft>
              <a:defRPr sz="1200">
                <a:solidFill>
                  <a:srgbClr val="F5F7FF"/>
                </a:solidFill>
                <a:latin typeface="Segoe UI"/>
              </a:defRPr>
            </a:pPr>
            <a:r>
              <a:t>• learn.microsoft.com/microsoft-365/copilot/extensibility/copilot-studio-experience</a:t>
            </a:r>
          </a:p>
          <a:p>
            <a:pPr>
              <a:spcAft>
                <a:spcPts val="500"/>
              </a:spcAft>
              <a:defRPr sz="1200">
                <a:solidFill>
                  <a:srgbClr val="F5F7FF"/>
                </a:solidFill>
                <a:latin typeface="Segoe UI"/>
              </a:defRPr>
            </a:pPr>
            <a:r>
              <a:t>• learn.microsoft.com/microsoft-365/copilot/researcher-agent</a:t>
            </a:r>
          </a:p>
          <a:p>
            <a:pPr>
              <a:spcAft>
                <a:spcPts val="500"/>
              </a:spcAft>
              <a:defRPr sz="1200">
                <a:solidFill>
                  <a:srgbClr val="F5F7FF"/>
                </a:solidFill>
                <a:latin typeface="Segoe UI"/>
              </a:defRPr>
            </a:pPr>
            <a:r>
              <a:t>• learn.microsoft.com/copilot/agents</a:t>
            </a:r>
          </a:p>
          <a:p>
            <a:pPr>
              <a:spcAft>
                <a:spcPts val="500"/>
              </a:spcAft>
              <a:defRPr sz="1200">
                <a:solidFill>
                  <a:srgbClr val="F5F7FF"/>
                </a:solidFill>
                <a:latin typeface="Segoe UI"/>
              </a:defRPr>
            </a:pPr>
            <a:r>
              <a:t>• learn.microsoft.com/microsoft-scout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