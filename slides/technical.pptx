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0B7C3"/>
                </a:solidFill>
                <a:latin typeface="Segoe UI"/>
              </a:rPr>
              <a:t>Technical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51560"/>
            <a:ext cx="7772400" cy="10058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3600" b="1">
                <a:solidFill>
                  <a:srgbClr val="F2F5FF"/>
                </a:solidFill>
                <a:latin typeface="Segoe UI"/>
              </a:rPr>
              <a:t>Copilot, Cowork, Studio, and Scout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148840"/>
            <a:ext cx="7315200" cy="6400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600" b="0">
                <a:solidFill>
                  <a:srgbClr val="AEB8E0"/>
                </a:solidFill>
                <a:latin typeface="Segoe UI"/>
              </a:rPr>
              <a:t>A dense technical guide for IT, makers, admins, and agent builders.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46120"/>
            <a:ext cx="2240280" cy="100584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64008" cy="100584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335584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Choose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3685031"/>
            <a:ext cx="196596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AEB8E0"/>
                </a:solidFill>
                <a:latin typeface="Segoe UI"/>
              </a:rPr>
              <a:t>Pick by audience and depth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246120"/>
            <a:ext cx="2240280" cy="100584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3246120"/>
            <a:ext cx="64008" cy="1005840"/>
          </a:xfrm>
          <a:prstGeom prst="rect">
            <a:avLst/>
          </a:prstGeom>
          <a:solidFill>
            <a:srgbClr val="8B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335584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Decide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3685031"/>
            <a:ext cx="196596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AEB8E0"/>
                </a:solidFill>
                <a:latin typeface="Segoe UI"/>
              </a:rPr>
              <a:t>Use the smallest sufficient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3246120"/>
            <a:ext cx="2240280" cy="100584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52160" y="3246120"/>
            <a:ext cx="64008" cy="1005840"/>
          </a:xfrm>
          <a:prstGeom prst="rect">
            <a:avLst/>
          </a:prstGeom>
          <a:solidFill>
            <a:srgbClr val="73B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16752" y="335584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3685031"/>
            <a:ext cx="196596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AEB8E0"/>
                </a:solidFill>
                <a:latin typeface="Segoe UI"/>
              </a:rPr>
              <a:t>Move from answer to outcome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0B7C3"/>
                </a:solidFill>
                <a:latin typeface="Segoe UI"/>
              </a:rPr>
              <a:t>Section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86384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2500" b="1">
                <a:solidFill>
                  <a:srgbClr val="F2F5FF"/>
                </a:solidFill>
                <a:latin typeface="Segoe UI"/>
              </a:rPr>
              <a:t>1. Tool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17320"/>
            <a:ext cx="475488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M365 Copilot: chat, in-app Copilot, ready agents, and search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Cowork: action-taking AI coworker with approvals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Studio: low-code agents, connectors, workflows, and governance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Scout: proactive Autopilot with its own governed identity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0" y="1463040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1463040"/>
            <a:ext cx="64008" cy="50292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33872" y="157276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Chat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2121408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2121408"/>
            <a:ext cx="64008" cy="502920"/>
          </a:xfrm>
          <a:prstGeom prst="rect">
            <a:avLst/>
          </a:prstGeom>
          <a:solidFill>
            <a:srgbClr val="8B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2231136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779776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0" y="2779776"/>
            <a:ext cx="64008" cy="502920"/>
          </a:xfrm>
          <a:prstGeom prst="rect">
            <a:avLst/>
          </a:prstGeom>
          <a:solidFill>
            <a:srgbClr val="73B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3872" y="2889504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Ready agents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0" y="3438144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0" y="3438144"/>
            <a:ext cx="64008" cy="50292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33872" y="3547872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Cowork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0B7C3"/>
                </a:solidFill>
                <a:latin typeface="Segoe UI"/>
              </a:rPr>
              <a:t>Section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86384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2500" b="1">
                <a:solidFill>
                  <a:srgbClr val="F2F5FF"/>
                </a:solidFill>
                <a:latin typeface="Segoe UI"/>
              </a:rPr>
              <a:t>2. Task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17320"/>
            <a:ext cx="475488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Fastest path: Copilot Chat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Best for open file work: in-app Copilot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Best for deep analysis: ready agents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Best for process execution: Cowork, Studio, or Scout depending on pattern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0" y="1463040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1463040"/>
            <a:ext cx="64008" cy="50292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33872" y="157276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Chat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2121408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2121408"/>
            <a:ext cx="64008" cy="502920"/>
          </a:xfrm>
          <a:prstGeom prst="rect">
            <a:avLst/>
          </a:prstGeom>
          <a:solidFill>
            <a:srgbClr val="8B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2231136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779776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0" y="2779776"/>
            <a:ext cx="64008" cy="502920"/>
          </a:xfrm>
          <a:prstGeom prst="rect">
            <a:avLst/>
          </a:prstGeom>
          <a:solidFill>
            <a:srgbClr val="73B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3872" y="2889504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Ready agents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0" y="3438144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0" y="3438144"/>
            <a:ext cx="64008" cy="50292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33872" y="3547872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Cowork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0B7C3"/>
                </a:solidFill>
                <a:latin typeface="Segoe UI"/>
              </a:rPr>
              <a:t>Section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86384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2500" b="1">
                <a:solidFill>
                  <a:srgbClr val="F2F5FF"/>
                </a:solidFill>
                <a:latin typeface="Segoe UI"/>
              </a:rPr>
              <a:t>3. App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17320"/>
            <a:ext cx="475488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Excel: in-app edits, Analyst, or Cowork generated workbook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Word: open document work, Researcher report, or Cowork brief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Outlook and Teams: draft, recap, send, schedule, or proactive watch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PowerPoint: polish a deck or generate the full pack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0" y="1463040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1463040"/>
            <a:ext cx="64008" cy="50292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33872" y="157276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Chat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2121408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2121408"/>
            <a:ext cx="64008" cy="502920"/>
          </a:xfrm>
          <a:prstGeom prst="rect">
            <a:avLst/>
          </a:prstGeom>
          <a:solidFill>
            <a:srgbClr val="8B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2231136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779776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0" y="2779776"/>
            <a:ext cx="64008" cy="502920"/>
          </a:xfrm>
          <a:prstGeom prst="rect">
            <a:avLst/>
          </a:prstGeom>
          <a:solidFill>
            <a:srgbClr val="73B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3872" y="2889504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Ready agents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0" y="3438144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0" y="3438144"/>
            <a:ext cx="64008" cy="50292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33872" y="3547872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Cowork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0B7C3"/>
                </a:solidFill>
                <a:latin typeface="Segoe UI"/>
              </a:rPr>
              <a:t>Section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86384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2500" b="1">
                <a:solidFill>
                  <a:srgbClr val="F2F5FF"/>
                </a:solidFill>
                <a:latin typeface="Segoe UI"/>
              </a:rPr>
              <a:t>4. Prompt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17320"/>
            <a:ext cx="475488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Outcome, inputs, definition of done, constraints, approval scope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Useful for Cowork because action scope matters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Specific prompts reduce ambiguity and approvals are clearer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Default checkpointing keeps the user in 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0" y="1463040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1463040"/>
            <a:ext cx="64008" cy="50292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33872" y="157276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Chat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2121408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2121408"/>
            <a:ext cx="64008" cy="502920"/>
          </a:xfrm>
          <a:prstGeom prst="rect">
            <a:avLst/>
          </a:prstGeom>
          <a:solidFill>
            <a:srgbClr val="8B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2231136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779776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0" y="2779776"/>
            <a:ext cx="64008" cy="502920"/>
          </a:xfrm>
          <a:prstGeom prst="rect">
            <a:avLst/>
          </a:prstGeom>
          <a:solidFill>
            <a:srgbClr val="73B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3872" y="2889504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Ready agents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0" y="3438144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0" y="3438144"/>
            <a:ext cx="64008" cy="50292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33872" y="3547872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Cowork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0B7C3"/>
                </a:solidFill>
                <a:latin typeface="Segoe UI"/>
              </a:rPr>
              <a:t>Section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86384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2500" b="1">
                <a:solidFill>
                  <a:srgbClr val="F2F5FF"/>
                </a:solidFill>
                <a:latin typeface="Segoe UI"/>
              </a:rPr>
              <a:t>5. Functional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17320"/>
            <a:ext cx="475488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Sales, marketing, finance, legal, procurement, HR, IT, operations, service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Each scenario maps the job to the smallest sufficient tool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The page keeps matrix detail visible for IT and makers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References anchor claims in Microsoft-authored 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0" y="1463040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1463040"/>
            <a:ext cx="64008" cy="50292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33872" y="157276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Chat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2121408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2121408"/>
            <a:ext cx="64008" cy="502920"/>
          </a:xfrm>
          <a:prstGeom prst="rect">
            <a:avLst/>
          </a:prstGeom>
          <a:solidFill>
            <a:srgbClr val="8B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2231136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779776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0" y="2779776"/>
            <a:ext cx="64008" cy="502920"/>
          </a:xfrm>
          <a:prstGeom prst="rect">
            <a:avLst/>
          </a:prstGeom>
          <a:solidFill>
            <a:srgbClr val="73B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3872" y="2889504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Ready agents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0" y="3438144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0" y="3438144"/>
            <a:ext cx="64008" cy="50292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33872" y="3547872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Cowork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0B7C3"/>
                </a:solidFill>
                <a:latin typeface="Segoe UI"/>
              </a:rPr>
              <a:t>Section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86384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2500" b="1">
                <a:solidFill>
                  <a:srgbClr val="F2F5FF"/>
                </a:solidFill>
                <a:latin typeface="Segoe UI"/>
              </a:rPr>
              <a:t>6. Build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17320"/>
            <a:ext cx="475488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Saved or scheduled prompt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Ready Microsoft agent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Copilot Cowork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2F5FF"/>
                </a:solidFill>
                <a:latin typeface="Segoe UI"/>
              </a:rPr>
              <a:t>• Agent Builder or Copilot Studio, then Scout when continuous proactive work is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0" y="1463040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1463040"/>
            <a:ext cx="64008" cy="50292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33872" y="157276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Chat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2121408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2121408"/>
            <a:ext cx="64008" cy="502920"/>
          </a:xfrm>
          <a:prstGeom prst="rect">
            <a:avLst/>
          </a:prstGeom>
          <a:solidFill>
            <a:srgbClr val="8B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2231136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779776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0" y="2779776"/>
            <a:ext cx="64008" cy="502920"/>
          </a:xfrm>
          <a:prstGeom prst="rect">
            <a:avLst/>
          </a:prstGeom>
          <a:solidFill>
            <a:srgbClr val="73B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3872" y="2889504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Ready agents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0" y="3438144"/>
            <a:ext cx="2651760" cy="502920"/>
          </a:xfrm>
          <a:prstGeom prst="roundRect">
            <a:avLst/>
          </a:prstGeom>
          <a:solidFill>
            <a:srgbClr val="172046"/>
          </a:solidFill>
          <a:ln>
            <a:solidFill>
              <a:srgbClr val="2C3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0" y="3438144"/>
            <a:ext cx="64008" cy="50292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33872" y="3547872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F2F5FF"/>
                </a:solidFill>
                <a:latin typeface="Segoe UI"/>
              </a:rPr>
              <a:t>Cowork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