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ctrTitle"/>
          </p:nvPr>
        </p:nvSpPr>
        <p:spPr>
          <a:xfrm>
            <a:off x="640080" y="868680"/>
            <a:ext cx="6995160" cy="1234440"/>
          </a:xfrm>
        </p:spPr>
        <p:txBody>
          <a:bodyPr/>
          <a:lstStyle/>
          <a:p>
            <a:r>
              <a:rPr sz="2600" b="1">
                <a:solidFill>
                  <a:srgbClr val="F5F7FF"/>
                </a:solidFill>
                <a:latin typeface="Segoe UI"/>
              </a:rPr>
              <a:t>Microsoft 365 Copilot &amp; Cowork: what to use when</a:t>
            </a:r>
          </a:p>
        </p:txBody>
      </p:sp>
      <p:sp>
        <p:nvSpPr>
          <p:cNvPr id="3" name="Subtitle 2"/>
          <p:cNvSpPr>
            <a:spLocks noGrp="1"/>
          </p:cNvSpPr>
          <p:nvPr>
            <p:ph type="subTitle" idx="1"/>
          </p:nvPr>
        </p:nvSpPr>
        <p:spPr>
          <a:xfrm>
            <a:off x="658368" y="2212848"/>
            <a:ext cx="7726679" cy="1005840"/>
          </a:xfrm>
        </p:spPr>
        <p:txBody>
          <a:bodyPr/>
          <a:lstStyle/>
          <a:p>
            <a:r>
              <a:rPr sz="1400">
                <a:solidFill>
                  <a:srgbClr val="AEB8E0"/>
                </a:solidFill>
                <a:latin typeface="Segoe UI"/>
              </a:rPr>
              <a:t>Microsoft 365 Copilot is your everyday AI assistant. Copilot Cowork is the AI coworker that does the work for you. This guide shows the quickest path for everyday work and when to bring Cowork in. Every claim is grounded in Microsoft Learn or microsoft.com, with links at the bottom.</a:t>
            </a:r>
          </a:p>
        </p:txBody>
      </p:sp>
      <p:sp>
        <p:nvSpPr>
          <p:cNvPr id="4" name="Oval 3"/>
          <p:cNvSpPr/>
          <p:nvPr/>
        </p:nvSpPr>
        <p:spPr>
          <a:xfrm>
            <a:off x="7680960" y="-365760"/>
            <a:ext cx="2011680" cy="201168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00B7C3"/>
                </a:solidFill>
                <a:latin typeface="Segoe UI"/>
              </a:rPr>
              <a:t>Technical decision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The two tools at a glance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01</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Microsoft Learn and microsoft.com.</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Microsoft 365 Copilot</a:t>
            </a:r>
          </a:p>
          <a:p>
            <a:pPr>
              <a:spcAft>
                <a:spcPts val="500"/>
              </a:spcAft>
              <a:defRPr sz="1300">
                <a:solidFill>
                  <a:srgbClr val="F5F7FF"/>
                </a:solidFill>
                <a:latin typeface="Segoe UI"/>
              </a:defRPr>
            </a:pPr>
            <a:r>
              <a:t>• Microsoft 365 Copilot Cowork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What should I use for each task?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02</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From simplest and fastest to most powerful and automated.</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Quick question, brainstorm, or short reply</a:t>
            </a:r>
          </a:p>
          <a:p>
            <a:pPr>
              <a:spcAft>
                <a:spcPts val="500"/>
              </a:spcAft>
              <a:defRPr sz="1300">
                <a:solidFill>
                  <a:srgbClr val="F5F7FF"/>
                </a:solidFill>
                <a:latin typeface="Segoe UI"/>
              </a:defRPr>
            </a:pPr>
            <a:r>
              <a:t>• Draft or reply in Outlook, summarise a Teams meeting, edit a Word, Excel, or PowerPoint file</a:t>
            </a:r>
          </a:p>
          <a:p>
            <a:pPr>
              <a:spcAft>
                <a:spcPts val="500"/>
              </a:spcAft>
              <a:defRPr sz="1300">
                <a:solidFill>
                  <a:srgbClr val="F5F7FF"/>
                </a:solidFill>
                <a:latin typeface="Segoe UI"/>
              </a:defRPr>
            </a:pPr>
            <a:r>
              <a:t>• Deep, multi-source research with citations and a shareable report</a:t>
            </a:r>
          </a:p>
          <a:p>
            <a:pPr>
              <a:spcAft>
                <a:spcPts val="500"/>
              </a:spcAft>
              <a:defRPr sz="1300">
                <a:solidFill>
                  <a:srgbClr val="F5F7FF"/>
                </a:solidFill>
                <a:latin typeface="Segoe UI"/>
              </a:defRPr>
            </a:pPr>
            <a:r>
              <a:t>• Take real action across M365 (send emails, schedule meetings, post in Teams, organise files)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One prompt, multiple deliverables (for example: a Word brief, an Excel model, and a deck)</a:t>
            </a:r>
          </a:p>
          <a:p>
            <a:pPr>
              <a:spcAft>
                <a:spcPts val="500"/>
              </a:spcAft>
              <a:defRPr sz="1300">
                <a:solidFill>
                  <a:srgbClr val="F5F7FF"/>
                </a:solidFill>
                <a:latin typeface="Segoe UI"/>
              </a:defRPr>
            </a:pPr>
            <a:r>
              <a:t>• Proactive daily briefing before the workday starts</a:t>
            </a:r>
          </a:p>
          <a:p>
            <a:pPr>
              <a:spcAft>
                <a:spcPts val="500"/>
              </a:spcAft>
              <a:defRPr sz="1300">
                <a:solidFill>
                  <a:srgbClr val="F5F7FF"/>
                </a:solidFill>
                <a:latin typeface="Segoe UI"/>
              </a:defRPr>
            </a:pPr>
            <a:r>
              <a:t>• Run prompts on a recurring schedule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Which Copilot for each app's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03</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Same app, different power. Some Copilot options live inside the app; others act on its files and signals from their own surface.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How to ask Cowork well</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04</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the Microsoft Adoption AI user guidance.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The five-part prompt structure for Cowork</a:t>
            </a:r>
          </a:p>
          <a:p>
            <a:pPr>
              <a:spcAft>
                <a:spcPts val="500"/>
              </a:spcAft>
              <a:defRPr sz="1300">
                <a:solidFill>
                  <a:srgbClr val="F5F7FF"/>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Scenarios by department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05</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How the tools play together in real work, across the functions most teams have.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Monday pipeline review</a:t>
            </a:r>
          </a:p>
          <a:p>
            <a:pPr>
              <a:spcAft>
                <a:spcPts val="500"/>
              </a:spcAft>
              <a:defRPr sz="1300">
                <a:solidFill>
                  <a:srgbClr val="F5F7FF"/>
                </a:solidFill>
                <a:latin typeface="Segoe UI"/>
              </a:defRPr>
            </a:pPr>
            <a:r>
              <a:t>• Campaign launch pack</a:t>
            </a:r>
          </a:p>
          <a:p>
            <a:pPr>
              <a:spcAft>
                <a:spcPts val="500"/>
              </a:spcAft>
              <a:defRPr sz="1300">
                <a:solidFill>
                  <a:srgbClr val="F5F7FF"/>
                </a:solidFill>
                <a:latin typeface="Segoe UI"/>
              </a:defRPr>
            </a:pPr>
            <a:r>
              <a:t>• Month-end variance pack</a:t>
            </a:r>
          </a:p>
          <a:p>
            <a:pPr>
              <a:spcAft>
                <a:spcPts val="500"/>
              </a:spcAft>
              <a:defRPr sz="1300">
                <a:solidFill>
                  <a:srgbClr val="F5F7FF"/>
                </a:solidFill>
                <a:latin typeface="Segoe UI"/>
              </a:defRPr>
            </a:pPr>
            <a:r>
              <a:t>• Contract redline against your playbook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RFP shortlist and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Before you ask Cowork to build it, check this order</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SECTION 06</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Lean on what is already there before you reach for a bigger tool.</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Can a saved or scheduled prompt do it?</a:t>
            </a:r>
          </a:p>
          <a:p>
            <a:pPr>
              <a:spcAft>
                <a:spcPts val="500"/>
              </a:spcAft>
              <a:defRPr sz="1300">
                <a:solidFill>
                  <a:srgbClr val="F5F7FF"/>
                </a:solidFill>
                <a:latin typeface="Segoe UI"/>
              </a:defRPr>
            </a:pPr>
            <a:r>
              <a:t>• Is there already a ready Microsoft agent?</a:t>
            </a:r>
          </a:p>
          <a:p>
            <a:pPr>
              <a:spcAft>
                <a:spcPts val="500"/>
              </a:spcAft>
              <a:defRPr sz="1300">
                <a:solidFill>
                  <a:srgbClr val="F5F7FF"/>
                </a:solidFill>
                <a:latin typeface="Segoe UI"/>
              </a:defRPr>
            </a:pPr>
            <a:r>
              <a:t>• Does Cowork already cover the full process?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light, medium,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AEB8E0"/>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light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AEB8E0"/>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AEB8E0"/>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F5F7FF"/>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AEB8E0"/>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F5F7FF"/>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AEB8E0"/>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AEB8E0"/>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AEB8E0"/>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medium</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F5F7FF"/>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AEB8E0"/>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F5F7FF"/>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AEB8E0"/>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Cowork tasks: heavy</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F5F7FF"/>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AEB8E0"/>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F5F7FF"/>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AEB8E0"/>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F5F7FF"/>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F5F7FF"/>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AEB8E0"/>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F5F7FF"/>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AEB8E0"/>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F5F7FF"/>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AEB8E0"/>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F5F7FF"/>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F5F7FF"/>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AEB8E0"/>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F5F7FF"/>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AEB8E0"/>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Rebalance your week and protect focus time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Take control of a fragmented calendar before it takes control of your week.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REBALANCE YOUR WEEK AND PROTECT FOCUS TIME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Calendar -&gt; Summarize meeting load + focus time</a:t>
            </a:r>
          </a:p>
          <a:p>
            <a:pPr>
              <a:spcAft>
                <a:spcPts val="500"/>
              </a:spcAft>
              <a:defRPr sz="1000">
                <a:solidFill>
                  <a:srgbClr val="F5F7FF"/>
                </a:solidFill>
                <a:latin typeface="Segoe UI"/>
              </a:defRPr>
            </a:pPr>
            <a:r>
              <a:t>• Clarify -&gt; Weekly goals + constraints</a:t>
            </a:r>
          </a:p>
          <a:p>
            <a:pPr>
              <a:spcAft>
                <a:spcPts val="500"/>
              </a:spcAft>
              <a:defRPr sz="1000">
                <a:solidFill>
                  <a:srgbClr val="F5F7FF"/>
                </a:solidFill>
                <a:latin typeface="Segoe UI"/>
              </a:defRPr>
            </a:pPr>
            <a:r>
              <a:t>• Evaluate -&gt; Meeting impact + conflicts</a:t>
            </a:r>
          </a:p>
          <a:p>
            <a:pPr>
              <a:spcAft>
                <a:spcPts val="500"/>
              </a:spcAft>
              <a:defRPr sz="1000">
                <a:solidFill>
                  <a:srgbClr val="F5F7FF"/>
                </a:solidFill>
                <a:latin typeface="Segoe UI"/>
              </a:defRPr>
            </a:pPr>
            <a:r>
              <a:t>• Propose -&gt; Accept / decline / reschedule</a:t>
            </a:r>
          </a:p>
          <a:p>
            <a:pPr>
              <a:spcAft>
                <a:spcPts val="500"/>
              </a:spcAft>
              <a:defRPr sz="1000">
                <a:solidFill>
                  <a:srgbClr val="F5F7FF"/>
                </a:solidFill>
                <a:latin typeface="Segoe UI"/>
              </a:defRPr>
            </a:pPr>
            <a:r>
              <a:t>• Recommend -&gt; Add focus blocks</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You can schedule this to run automatically by starting your prompt with "Create a skill where this occurs every Monday morning."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Wrap up projects and organize all related work</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Close out a project with a clean, shareable archive, not a scattered trail of files.</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WRAP UP PROJECTS AND ORGANIZE ALL RELATED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Locate project files</a:t>
            </a:r>
          </a:p>
          <a:p>
            <a:pPr>
              <a:spcAft>
                <a:spcPts val="500"/>
              </a:spcAft>
              <a:defRPr sz="1000">
                <a:solidFill>
                  <a:srgbClr val="F5F7FF"/>
                </a:solidFill>
                <a:latin typeface="Segoe UI"/>
              </a:defRPr>
            </a:pPr>
            <a:r>
              <a:t>• Classify -&gt; Docs / decks / spreadsheets</a:t>
            </a:r>
          </a:p>
          <a:p>
            <a:pPr>
              <a:spcAft>
                <a:spcPts val="500"/>
              </a:spcAft>
              <a:defRPr sz="1000">
                <a:solidFill>
                  <a:srgbClr val="F5F7FF"/>
                </a:solidFill>
                <a:latin typeface="Segoe UI"/>
              </a:defRPr>
            </a:pPr>
            <a:r>
              <a:t>• Create -&gt; Archive folder</a:t>
            </a:r>
          </a:p>
          <a:p>
            <a:pPr>
              <a:spcAft>
                <a:spcPts val="500"/>
              </a:spcAft>
              <a:defRPr sz="1000">
                <a:solidFill>
                  <a:srgbClr val="F5F7FF"/>
                </a:solidFill>
                <a:latin typeface="Segoe UI"/>
              </a:defRPr>
            </a:pPr>
            <a:r>
              <a:t>• Move -&gt; Related artifacts</a:t>
            </a:r>
          </a:p>
          <a:p>
            <a:pPr>
              <a:spcAft>
                <a:spcPts val="500"/>
              </a:spcAft>
              <a:defRPr sz="1000">
                <a:solidFill>
                  <a:srgbClr val="F5F7FF"/>
                </a:solidFill>
                <a:latin typeface="Segoe UI"/>
              </a:defRPr>
            </a:pPr>
            <a:r>
              <a:t>• Share -&gt; Archive folder</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single OneDrive folder with the project's deliverables and references, shared with the team so the work stays findable and easy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Turn inbox noise into a curated intelligence brief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Cut through a week of newsletters to the stories that actually matter to your work.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TURN INBOX NOISE INTO A CURATED INTELLIGENCE BRIEF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Inbox -&gt; Identify newsletters + digests</a:t>
            </a:r>
          </a:p>
          <a:p>
            <a:pPr>
              <a:spcAft>
                <a:spcPts val="500"/>
              </a:spcAft>
              <a:defRPr sz="1000">
                <a:solidFill>
                  <a:srgbClr val="F5F7FF"/>
                </a:solidFill>
                <a:latin typeface="Segoe UI"/>
              </a:defRPr>
            </a:pPr>
            <a:r>
              <a:t>• Categorize -&gt; Internal / AI / news / industry</a:t>
            </a:r>
          </a:p>
          <a:p>
            <a:pPr>
              <a:spcAft>
                <a:spcPts val="500"/>
              </a:spcAft>
              <a:defRPr sz="1000">
                <a:solidFill>
                  <a:srgbClr val="F5F7FF"/>
                </a:solidFill>
                <a:latin typeface="Segoe UI"/>
              </a:defRPr>
            </a:pPr>
            <a:r>
              <a:t>• Filter -&gt; Exclude consumer content</a:t>
            </a:r>
          </a:p>
          <a:p>
            <a:pPr>
              <a:spcAft>
                <a:spcPts val="500"/>
              </a:spcAft>
              <a:defRPr sz="1000">
                <a:solidFill>
                  <a:srgbClr val="F5F7FF"/>
                </a:solidFill>
                <a:latin typeface="Segoe UI"/>
              </a:defRPr>
            </a:pPr>
            <a:r>
              <a:t>• Synthesize -&gt; Narrative brief</a:t>
            </a:r>
          </a:p>
          <a:p>
            <a:pPr>
              <a:spcAft>
                <a:spcPts val="500"/>
              </a:spcAft>
              <a:defRPr sz="1000">
                <a:solidFill>
                  <a:srgbClr val="F5F7FF"/>
                </a:solidFill>
                <a:latin typeface="Segoe UI"/>
              </a:defRPr>
            </a:pPr>
            <a:r>
              <a:t>• Compile -&gt; Inline article</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This task features a scheduled prompt, which tells Cowork you want it to run automatically on a recurring basis. To create a scheduled prompt, simply describe what...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Partner and channel activation kit</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Adapt the [Product/Campaign Name] launch materials for partners and channel teams and route them for review.</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PARTNER AND CHANNEL ACTIVATION KIT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[Folder] -&gt; Read the launch materials</a:t>
            </a:r>
          </a:p>
          <a:p>
            <a:pPr>
              <a:spcAft>
                <a:spcPts val="500"/>
              </a:spcAft>
              <a:defRPr sz="1000">
                <a:solidFill>
                  <a:srgbClr val="F5F7FF"/>
                </a:solidFill>
                <a:latin typeface="Segoe UI"/>
              </a:defRPr>
            </a:pPr>
            <a:r>
              <a:t>• Messaging Doc -&gt; Ground every adaptation in approved positioning</a:t>
            </a:r>
          </a:p>
          <a:p>
            <a:pPr>
              <a:spcAft>
                <a:spcPts val="500"/>
              </a:spcAft>
              <a:defRPr sz="1000">
                <a:solidFill>
                  <a:srgbClr val="F5F7FF"/>
                </a:solidFill>
                <a:latin typeface="Segoe UI"/>
              </a:defRPr>
            </a:pPr>
            <a:r>
              <a:t>• Adapt -&gt; One-pager · talking points · FAQ</a:t>
            </a:r>
          </a:p>
          <a:p>
            <a:pPr>
              <a:spcAft>
                <a:spcPts val="500"/>
              </a:spcAft>
              <a:defRPr sz="1000">
                <a:solidFill>
                  <a:srgbClr val="F5F7FF"/>
                </a:solidFill>
                <a:latin typeface="Segoe UI"/>
              </a:defRPr>
            </a:pPr>
            <a:r>
              <a:t>• Adapt -&gt; Email template · social pack</a:t>
            </a:r>
          </a:p>
          <a:p>
            <a:pPr>
              <a:spcAft>
                <a:spcPts val="500"/>
              </a:spcAft>
              <a:defRPr sz="1000">
                <a:solidFill>
                  <a:srgbClr val="F5F7FF"/>
                </a:solidFill>
                <a:latin typeface="Segoe UI"/>
              </a:defRPr>
            </a:pPr>
            <a:r>
              <a:t>• Org directory -&gt; Identify partner and channel owners</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partner-ready and channel-ready activation kit across Word and Excel, plus a routing plan so partner, field, and channel marketing can...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Prepare a complete out-of-office handoff</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Step away from your laptop knowing nothing in flight will stall while you are out.</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PREPARE A COMPLETE OUT-OF-OFFICE HANDOFF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Meetings (this week) -&gt; Identify active projects + stakeholders</a:t>
            </a:r>
          </a:p>
          <a:p>
            <a:pPr>
              <a:spcAft>
                <a:spcPts val="500"/>
              </a:spcAft>
              <a:defRPr sz="1000">
                <a:solidFill>
                  <a:srgbClr val="F5F7FF"/>
                </a:solidFill>
                <a:latin typeface="Segoe UI"/>
              </a:defRPr>
            </a:pPr>
            <a:r>
              <a:t>• Email threads -&gt; Extract open requests + dependencies</a:t>
            </a:r>
          </a:p>
          <a:p>
            <a:pPr>
              <a:spcAft>
                <a:spcPts val="500"/>
              </a:spcAft>
              <a:defRPr sz="1000">
                <a:solidFill>
                  <a:srgbClr val="F5F7FF"/>
                </a:solidFill>
                <a:latin typeface="Segoe UI"/>
              </a:defRPr>
            </a:pPr>
            <a:r>
              <a:t>• Teams chats -&gt; Capture in-flight tasks</a:t>
            </a:r>
          </a:p>
          <a:p>
            <a:pPr>
              <a:spcAft>
                <a:spcPts val="500"/>
              </a:spcAft>
              <a:defRPr sz="1000">
                <a:solidFill>
                  <a:srgbClr val="F5F7FF"/>
                </a:solidFill>
                <a:latin typeface="Segoe UI"/>
              </a:defRPr>
            </a:pPr>
            <a:r>
              <a:t>• Calendar (next week) -&gt; Detect upcoming deadlines</a:t>
            </a:r>
          </a:p>
          <a:p>
            <a:pPr>
              <a:spcAft>
                <a:spcPts val="500"/>
              </a:spcAft>
              <a:defRPr sz="1000">
                <a:solidFill>
                  <a:srgbClr val="F5F7FF"/>
                </a:solidFill>
                <a:latin typeface="Segoe UI"/>
              </a:defRPr>
            </a:pPr>
            <a:r>
              <a:t>• Org directory -&gt; Match internal team coverage</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handover document built from your real work, projects, owners, deadlines, and supporting files, so coverage stays clear and execution...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Analyze and optimize your OneDrive at scale</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Turn a sprawling OneDrive into a structured catalog you can actually act on.</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Goal, outcome, prompt, flow</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ANALYZE AND OPTIMIZE YOUR ONEDRIVE AT SCALE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Scan file inventory</a:t>
            </a:r>
          </a:p>
          <a:p>
            <a:pPr>
              <a:spcAft>
                <a:spcPts val="500"/>
              </a:spcAft>
              <a:defRPr sz="1000">
                <a:solidFill>
                  <a:srgbClr val="F5F7FF"/>
                </a:solidFill>
                <a:latin typeface="Segoe UI"/>
              </a:defRPr>
            </a:pPr>
            <a:r>
              <a:t>• Catalog -&gt; Age + relevance</a:t>
            </a:r>
          </a:p>
          <a:p>
            <a:pPr>
              <a:spcAft>
                <a:spcPts val="500"/>
              </a:spcAft>
              <a:defRPr sz="1000">
                <a:solidFill>
                  <a:srgbClr val="F5F7FF"/>
                </a:solidFill>
                <a:latin typeface="Segoe UI"/>
              </a:defRPr>
            </a:pPr>
            <a:r>
              <a:t>• Categorize -&gt; Customer / product</a:t>
            </a:r>
          </a:p>
          <a:p>
            <a:pPr>
              <a:spcAft>
                <a:spcPts val="500"/>
              </a:spcAft>
              <a:defRPr sz="1000">
                <a:solidFill>
                  <a:srgbClr val="F5F7FF"/>
                </a:solidFill>
                <a:latin typeface="Segoe UI"/>
              </a:defRPr>
            </a:pPr>
            <a:r>
              <a:t>• Visualize -&gt; HTML dashboard</a:t>
            </a:r>
          </a:p>
          <a:p>
            <a:pPr>
              <a:spcAft>
                <a:spcPts val="500"/>
              </a:spcAft>
              <a:defRPr sz="1000">
                <a:solidFill>
                  <a:srgbClr val="F5F7FF"/>
                </a:solidFill>
                <a:latin typeface="Segoe UI"/>
              </a:defRPr>
            </a:pPr>
            <a:r>
              <a:t>• Recommend -&gt; Optimization plan</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An organization plan and visual overview of your files, with cleanup decisions queued up for your approval.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Add-on tip: schedule Cowork prompts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73B82E"/>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F5F7FF"/>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itle 1"/>
          <p:cNvSpPr>
            <a:spLocks noGrp="1"/>
          </p:cNvSpPr>
          <p:nvPr>
            <p:ph type="title"/>
          </p:nvPr>
        </p:nvSpPr>
        <p:spPr>
          <a:xfrm>
            <a:off x="502920" y="384048"/>
            <a:ext cx="8138160" cy="713232"/>
          </a:xfrm>
        </p:spPr>
        <p:txBody>
          <a:bodyPr wrap="square" lIns="27432" rIns="27432" tIns="0" bIns="0"/>
          <a:lstStyle/>
          <a:p>
            <a:pPr algn="l"/>
            <a:r>
              <a:rPr sz="2200" b="1">
                <a:solidFill>
                  <a:srgbClr val="F5F7FF"/>
                </a:solidFill>
                <a:latin typeface="Segoe UI"/>
              </a:rPr>
              <a:t>References</a:t>
            </a:r>
          </a:p>
        </p:txBody>
      </p:sp>
      <p:sp>
        <p:nvSpPr>
          <p:cNvPr id="3" name="TextBox 2"/>
          <p:cNvSpPr txBox="1"/>
          <p:nvPr/>
        </p:nvSpPr>
        <p:spPr>
          <a:xfrm>
            <a:off x="502920" y="201168"/>
            <a:ext cx="6400800" cy="201168"/>
          </a:xfrm>
          <a:prstGeom prst="rect">
            <a:avLst/>
          </a:prstGeom>
          <a:noFill/>
        </p:spPr>
        <p:txBody>
          <a:bodyPr wrap="square" lIns="27432" rIns="27432" tIns="18288" bIns="18288">
            <a:spAutoFit/>
          </a:bodyPr>
          <a:lstStyle/>
          <a:p>
            <a:r>
              <a:rPr sz="900" b="1">
                <a:solidFill>
                  <a:srgbClr val="AEB8E0"/>
                </a:solidFill>
                <a:latin typeface="Segoe UI"/>
              </a:rPr>
              <a:t>MICROSOFT SOURCES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none" lIns="73152" rIns="73152" tIns="36576">
            <a:spAutoFit/>
          </a:bodyPr>
          <a:lstStyle/>
          <a:p>
            <a:pPr>
              <a:spcAft>
                <a:spcPts val="500"/>
              </a:spcAft>
              <a:defRPr sz="1200">
                <a:solidFill>
                  <a:srgbClr val="F5F7FF"/>
                </a:solidFill>
                <a:latin typeface="Segoe UI"/>
              </a:defRPr>
            </a:pPr>
            <a:r>
              <a:t>• learn.microsoft.com/microsoft-365/copilot/which-copilot-for-your-organization</a:t>
            </a:r>
          </a:p>
          <a:p>
            <a:pPr>
              <a:spcAft>
                <a:spcPts val="500"/>
              </a:spcAft>
              <a:defRPr sz="1200">
                <a:solidFill>
                  <a:srgbClr val="F5F7FF"/>
                </a:solidFill>
                <a:latin typeface="Segoe UI"/>
              </a:defRPr>
            </a:pPr>
            <a:r>
              <a:t>• learn.microsoft.com/microsoft-365/copilot/cowork</a:t>
            </a:r>
          </a:p>
          <a:p>
            <a:pPr>
              <a:spcAft>
                <a:spcPts val="500"/>
              </a:spcAft>
              <a:defRPr sz="1200">
                <a:solidFill>
                  <a:srgbClr val="F5F7FF"/>
                </a:solidFill>
                <a:latin typeface="Segoe UI"/>
              </a:defRPr>
            </a:pPr>
            <a:r>
              <a:t>• learn.microsoft.com/microsoft-365/copilot/cowork/cowork-faq</a:t>
            </a:r>
          </a:p>
          <a:p>
            <a:pPr>
              <a:spcAft>
                <a:spcPts val="500"/>
              </a:spcAft>
              <a:defRPr sz="1200">
                <a:solidFill>
                  <a:srgbClr val="F5F7FF"/>
                </a:solidFill>
                <a:latin typeface="Segoe UI"/>
              </a:defRPr>
            </a:pPr>
            <a:r>
              <a:t>• learn.microsoft.com/microsoft-365/copilot/researcher-agent</a:t>
            </a:r>
          </a:p>
          <a:p>
            <a:pPr>
              <a:spcAft>
                <a:spcPts val="500"/>
              </a:spcAft>
              <a:defRPr sz="1200">
                <a:solidFill>
                  <a:srgbClr val="F5F7FF"/>
                </a:solidFill>
                <a:latin typeface="Segoe UI"/>
              </a:defRPr>
            </a:pPr>
            <a:r>
              <a:t>• learn.microsoft.com/copilot/agents</a:t>
            </a:r>
          </a:p>
          <a:p>
            <a:pPr>
              <a:spcAft>
                <a:spcPts val="500"/>
              </a:spcAft>
              <a:defRPr sz="1200">
                <a:solidFill>
                  <a:srgbClr val="F5F7FF"/>
                </a:solidFill>
                <a:latin typeface="Segoe UI"/>
              </a:defRPr>
            </a:pPr>
            <a:r>
              <a:t>• support.microsoft.com/microsoft-365-copilot/schedule-your-most-used-copilot-prompts</a:t>
            </a:r>
          </a:p>
          <a:p>
            <a:pPr>
              <a:spcAft>
                <a:spcPts val="500"/>
              </a:spcAft>
              <a:defRPr sz="1200">
                <a:solidFill>
                  <a:srgbClr val="F5F7FF"/>
                </a:solidFill>
                <a:latin typeface="Segoe UI"/>
              </a:defRPr>
            </a:pPr>
            <a:r>
              <a:t>• adoption.microsoft.com/copilot/cowork/ai-user</a:t>
            </a:r>
          </a:p>
          <a:p>
            <a:pPr>
              <a:spcAft>
                <a:spcPts val="500"/>
              </a:spcAft>
              <a:defRPr sz="1200">
                <a:solidFill>
                  <a:srgbClr val="F5F7FF"/>
                </a:solidFill>
                <a:latin typeface="Segoe UI"/>
              </a:defRPr>
            </a:pPr>
            <a:r>
              <a:t>• adoption.microsoft.com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