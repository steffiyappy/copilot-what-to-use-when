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Oval 1"/>
          <p:cNvSpPr/>
          <p:nvPr/>
        </p:nvSpPr>
        <p:spPr>
          <a:xfrm>
            <a:off x="7680960" y="-365760"/>
            <a:ext cx="2011680" cy="2011680"/>
          </a:xfrm>
          <a:prstGeom prst="ellipse">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6995160" cy="1234440"/>
          </a:xfrm>
          <a:prstGeom prst="rect">
            <a:avLst/>
          </a:prstGeom>
          <a:noFill/>
        </p:spPr>
        <p:txBody>
          <a:bodyPr wrap="square" lIns="27432" rIns="27432" tIns="18288" bIns="18288">
            <a:spAutoFit/>
          </a:bodyPr>
          <a:lstStyle/>
          <a:p>
            <a:r>
              <a:rPr sz="2600" b="1">
                <a:solidFill>
                  <a:srgbClr val="1B1B2C"/>
                </a:solidFill>
                <a:latin typeface="Segoe UI"/>
              </a:rPr>
              <a:t>Copilot, Cowork, Studio &amp; Scout: what to use when</a:t>
            </a:r>
          </a:p>
        </p:txBody>
      </p:sp>
      <p:sp>
        <p:nvSpPr>
          <p:cNvPr id="4" name="TextBox 3"/>
          <p:cNvSpPr txBox="1"/>
          <p:nvPr/>
        </p:nvSpPr>
        <p:spPr>
          <a:xfrm>
            <a:off x="658368" y="2212848"/>
            <a:ext cx="7726679" cy="1005840"/>
          </a:xfrm>
          <a:prstGeom prst="rect">
            <a:avLst/>
          </a:prstGeom>
          <a:noFill/>
        </p:spPr>
        <p:txBody>
          <a:bodyPr wrap="square" lIns="27432" rIns="27432" tIns="18288" bIns="18288">
            <a:spAutoFit/>
          </a:bodyPr>
          <a:lstStyle/>
          <a:p>
            <a:r>
              <a:rPr sz="1400" b="0">
                <a:solidFill>
                  <a:srgbClr val="5A6078"/>
                </a:solidFill>
                <a:latin typeface="Segoe UI"/>
              </a:rPr>
              <a:t>Most tasks work in more than one tool. This is the simplest way to pick the right one and graduate as the work gets bigger. Every claim is grounded in Microsoft Learn or microsoft.com, with links at the bottom.</a:t>
            </a: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1A6FD6"/>
                </a:solidFill>
                <a:latin typeface="Segoe UI"/>
              </a:rPr>
              <a:t>Warm customer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01</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At a glance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Pick by how the work shows up: a question, a process, a repeated team task, or something that needs to run on its own.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Microsoft 365 Copilot</a:t>
            </a:r>
          </a:p>
          <a:p>
            <a:pPr>
              <a:spcAft>
                <a:spcPts val="500"/>
              </a:spcAft>
              <a:defRPr sz="1300">
                <a:solidFill>
                  <a:srgbClr val="1B1B2C"/>
                </a:solidFill>
                <a:latin typeface="Segoe UI"/>
              </a:defRPr>
            </a:pPr>
            <a:r>
              <a:t>• Copilot Cowork</a:t>
            </a:r>
          </a:p>
          <a:p>
            <a:pPr>
              <a:spcAft>
                <a:spcPts val="500"/>
              </a:spcAft>
              <a:defRPr sz="1300">
                <a:solidFill>
                  <a:srgbClr val="1B1B2C"/>
                </a:solidFill>
                <a:latin typeface="Segoe UI"/>
              </a:defRPr>
            </a:pPr>
            <a:r>
              <a:t>• Copilot Studio</a:t>
            </a:r>
          </a:p>
          <a:p>
            <a:pPr>
              <a:spcAft>
                <a:spcPts val="500"/>
              </a:spcAft>
              <a:defRPr sz="1300">
                <a:solidFill>
                  <a:srgbClr val="1B1B2C"/>
                </a:solidFill>
                <a:latin typeface="Segoe UI"/>
              </a:defRPr>
            </a:pPr>
            <a:r>
              <a:t>• Microsoft Scout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02</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Pick by the job to be done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One recommendation per task, with a note when something else also works.</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Quick question, brainstorm, or short reply</a:t>
            </a:r>
          </a:p>
          <a:p>
            <a:pPr>
              <a:spcAft>
                <a:spcPts val="500"/>
              </a:spcAft>
              <a:defRPr sz="1300">
                <a:solidFill>
                  <a:srgbClr val="1B1B2C"/>
                </a:solidFill>
                <a:latin typeface="Segoe UI"/>
              </a:defRPr>
            </a:pPr>
            <a:r>
              <a:t>• Draft or reply in Outlook, summarise a Teams meeting, edit a document</a:t>
            </a:r>
          </a:p>
          <a:p>
            <a:pPr>
              <a:spcAft>
                <a:spcPts val="500"/>
              </a:spcAft>
              <a:defRPr sz="1300">
                <a:solidFill>
                  <a:srgbClr val="1B1B2C"/>
                </a:solidFill>
                <a:latin typeface="Segoe UI"/>
              </a:defRPr>
            </a:pPr>
            <a:r>
              <a:t>• Deep, multi-source research with citations</a:t>
            </a:r>
          </a:p>
          <a:p>
            <a:pPr>
              <a:spcAft>
                <a:spcPts val="500"/>
              </a:spcAft>
              <a:defRPr sz="1300">
                <a:solidFill>
                  <a:srgbClr val="1B1B2C"/>
                </a:solidFill>
                <a:latin typeface="Segoe UI"/>
              </a:defRPr>
            </a:pPr>
            <a:r>
              <a:t>• Take real action across M365 (send, schedule, create, post)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One prompt, multiple deliverables (brief, model, deck)</a:t>
            </a:r>
          </a:p>
          <a:p>
            <a:pPr>
              <a:spcAft>
                <a:spcPts val="500"/>
              </a:spcAft>
              <a:defRPr sz="1300">
                <a:solidFill>
                  <a:srgbClr val="1B1B2C"/>
                </a:solidFill>
                <a:latin typeface="Segoe UI"/>
              </a:defRPr>
            </a:pPr>
            <a:r>
              <a:t>• A small Q&amp;A bot for yourself or a small team</a:t>
            </a:r>
          </a:p>
          <a:p>
            <a:pPr>
              <a:spcAft>
                <a:spcPts val="500"/>
              </a:spcAft>
              <a:defRPr sz="1300">
                <a:solidFill>
                  <a:srgbClr val="1B1B2C"/>
                </a:solidFill>
                <a:latin typeface="Segoe UI"/>
              </a:defRPr>
            </a:pPr>
            <a:r>
              <a:t>• A repeated, team-wide process with workflows and approvals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03</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Same app, different power</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When the work involves an M365 app, you have more than one Copilot option. Some live inside the app, others act on its files and signals from their own surface. Pick by how much heavy lifting you need.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04</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How to ask Cowork well</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vague prompt forces Cowork to guess. Five small parts make the difference.</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A vague prompt forces Cowork to guess. Five small parts make the difference.</a:t>
            </a:r>
          </a:p>
          <a:p>
            <a:pPr>
              <a:spcAft>
                <a:spcPts val="500"/>
              </a:spcAft>
              <a:defRPr sz="1300">
                <a:solidFill>
                  <a:srgbClr val="1B1B2C"/>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05</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How these tools play together in real 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picture of the right tool for typical jobs in each function.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Monday pipeline review</a:t>
            </a:r>
          </a:p>
          <a:p>
            <a:pPr>
              <a:spcAft>
                <a:spcPts val="500"/>
              </a:spcAft>
              <a:defRPr sz="1300">
                <a:solidFill>
                  <a:srgbClr val="1B1B2C"/>
                </a:solidFill>
                <a:latin typeface="Segoe UI"/>
              </a:defRPr>
            </a:pPr>
            <a:r>
              <a:t>• Campaign launch pack</a:t>
            </a:r>
          </a:p>
          <a:p>
            <a:pPr>
              <a:spcAft>
                <a:spcPts val="500"/>
              </a:spcAft>
              <a:defRPr sz="1300">
                <a:solidFill>
                  <a:srgbClr val="1B1B2C"/>
                </a:solidFill>
                <a:latin typeface="Segoe UI"/>
              </a:defRPr>
            </a:pPr>
            <a:r>
              <a:t>• Month-end variance pack</a:t>
            </a:r>
          </a:p>
          <a:p>
            <a:pPr>
              <a:spcAft>
                <a:spcPts val="500"/>
              </a:spcAft>
              <a:defRPr sz="1300">
                <a:solidFill>
                  <a:srgbClr val="1B1B2C"/>
                </a:solidFill>
                <a:latin typeface="Segoe UI"/>
              </a:defRPr>
            </a:pPr>
            <a:r>
              <a:t>• New-hire 30-day onboarding journey</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Internal helpdesk triage</a:t>
            </a:r>
          </a:p>
          <a:p>
            <a:pPr>
              <a:spcAft>
                <a:spcPts val="500"/>
              </a:spcAft>
              <a:defRPr sz="1300">
                <a:solidFill>
                  <a:srgbClr val="1B1B2C"/>
                </a:solidFill>
                <a:latin typeface="Segoe UI"/>
              </a:defRPr>
            </a:pPr>
            <a:r>
              <a:t>• Supplier and inventory risk</a:t>
            </a:r>
          </a:p>
          <a:p>
            <a:pPr>
              <a:spcAft>
                <a:spcPts val="500"/>
              </a:spcAft>
              <a:defRPr sz="1300">
                <a:solidFill>
                  <a:srgbClr val="1B1B2C"/>
                </a:solidFill>
                <a:latin typeface="Segoe UI"/>
              </a:defRPr>
            </a:pPr>
            <a:r>
              <a:t>• Top 30 query bot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06</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Check this order first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Building your own agent should be the last step, not the first.</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Can a saved prompt do it?</a:t>
            </a:r>
          </a:p>
          <a:p>
            <a:pPr>
              <a:spcAft>
                <a:spcPts val="500"/>
              </a:spcAft>
              <a:defRPr sz="1300">
                <a:solidFill>
                  <a:srgbClr val="1B1B2C"/>
                </a:solidFill>
                <a:latin typeface="Segoe UI"/>
              </a:defRPr>
            </a:pPr>
            <a:r>
              <a:t>• Is there a ready Microsoft agent?</a:t>
            </a:r>
          </a:p>
          <a:p>
            <a:pPr>
              <a:spcAft>
                <a:spcPts val="500"/>
              </a:spcAft>
              <a:defRPr sz="1300">
                <a:solidFill>
                  <a:srgbClr val="1B1B2C"/>
                </a:solidFill>
                <a:latin typeface="Segoe UI"/>
              </a:defRPr>
            </a:pPr>
            <a:r>
              <a:t>• Does Cowork already cover it?</a:t>
            </a:r>
          </a:p>
          <a:p>
            <a:pPr>
              <a:spcAft>
                <a:spcPts val="500"/>
              </a:spcAft>
              <a:defRPr sz="1300">
                <a:solidFill>
                  <a:srgbClr val="1B1B2C"/>
                </a:solidFill>
                <a:latin typeface="Segoe UI"/>
              </a:defRPr>
            </a:pPr>
            <a:r>
              <a:t>• Agent Builder or Copilot Studio</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Simplest: Can a saved prompt do it?</a:t>
            </a:r>
          </a:p>
          <a:p>
            <a:pPr>
              <a:spcAft>
                <a:spcPts val="500"/>
              </a:spcAft>
              <a:defRPr sz="1300">
                <a:solidFill>
                  <a:srgbClr val="1B1B2C"/>
                </a:solidFill>
                <a:latin typeface="Segoe UI"/>
              </a:defRPr>
            </a:pPr>
            <a:r>
              <a:t>• Reuse: Is there a ready Microsoft agent?</a:t>
            </a:r>
          </a:p>
          <a:p>
            <a:pPr>
              <a:spcAft>
                <a:spcPts val="500"/>
              </a:spcAft>
              <a:defRPr sz="1300">
                <a:solidFill>
                  <a:srgbClr val="1B1B2C"/>
                </a:solidFill>
                <a:latin typeface="Segoe UI"/>
              </a:defRPr>
            </a:pPr>
            <a:r>
              <a:t>• Scale on demand: Does Cowork already cover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light, medium, heavy</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5A6078"/>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light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5A6078"/>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5A6078"/>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1B1B2C"/>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5A6078"/>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1B1B2C"/>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5A6078"/>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5A6078"/>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5A6078"/>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medium</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1B1B2C"/>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5A6078"/>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1B1B2C"/>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5A6078"/>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heavy</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1B1B2C"/>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5A6078"/>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1B1B2C"/>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5A6078"/>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1B1B2C"/>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1B1B2C"/>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5A6078"/>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1B1B2C"/>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5A6078"/>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1B1B2C"/>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5A6078"/>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1B1B2C"/>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1B1B2C"/>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5A6078"/>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1B1B2C"/>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5A6078"/>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Add-on tip: schedule Cowork prompts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3E8E22"/>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1B1B2C"/>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MICROSOFT SOURCES</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References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1B1B2C"/>
                </a:solidFill>
                <a:latin typeface="Segoe UI"/>
              </a:defRPr>
            </a:pPr>
            <a:r>
              <a:t>• LEARN Decide which Copilot is right for you</a:t>
            </a:r>
          </a:p>
          <a:p>
            <a:pPr>
              <a:spcAft>
                <a:spcPts val="500"/>
              </a:spcAft>
              <a:defRPr sz="1200">
                <a:solidFill>
                  <a:srgbClr val="1B1B2C"/>
                </a:solidFill>
                <a:latin typeface="Segoe UI"/>
              </a:defRPr>
            </a:pPr>
            <a:r>
              <a:t>• LEARN Copilot Cowork overview</a:t>
            </a:r>
          </a:p>
          <a:p>
            <a:pPr>
              <a:spcAft>
                <a:spcPts val="500"/>
              </a:spcAft>
              <a:defRPr sz="1200">
                <a:solidFill>
                  <a:srgbClr val="1B1B2C"/>
                </a:solidFill>
                <a:latin typeface="Segoe UI"/>
              </a:defRPr>
            </a:pPr>
            <a:r>
              <a:t>• LEARN Copilot Cowork common questions</a:t>
            </a:r>
          </a:p>
          <a:p>
            <a:pPr>
              <a:spcAft>
                <a:spcPts val="500"/>
              </a:spcAft>
              <a:defRPr sz="1200">
                <a:solidFill>
                  <a:srgbClr val="1B1B2C"/>
                </a:solidFill>
                <a:latin typeface="Segoe UI"/>
              </a:defRPr>
            </a:pPr>
            <a:r>
              <a:t>• LEARN Microsoft Copilot Studio overview</a:t>
            </a:r>
          </a:p>
          <a:p>
            <a:pPr>
              <a:spcAft>
                <a:spcPts val="500"/>
              </a:spcAft>
              <a:defRPr sz="1200">
                <a:solidFill>
                  <a:srgbClr val="1B1B2C"/>
                </a:solidFill>
                <a:latin typeface="Segoe UI"/>
              </a:defRPr>
            </a:pPr>
            <a:r>
              <a:t>• LEARN Agent Builder vs Copilot Studio</a:t>
            </a:r>
          </a:p>
          <a:p>
            <a:pPr>
              <a:spcAft>
                <a:spcPts val="500"/>
              </a:spcAft>
              <a:defRPr sz="1200">
                <a:solidFill>
                  <a:srgbClr val="1B1B2C"/>
                </a:solidFill>
                <a:latin typeface="Segoe UI"/>
              </a:defRPr>
            </a:pPr>
            <a:r>
              <a:t>• LEARN Researcher agent in Microsoft 365 Copilot</a:t>
            </a:r>
          </a:p>
          <a:p>
            <a:pPr>
              <a:spcAft>
                <a:spcPts val="500"/>
              </a:spcAft>
              <a:defRPr sz="1200">
                <a:solidFill>
                  <a:srgbClr val="1B1B2C"/>
                </a:solidFill>
                <a:latin typeface="Segoe UI"/>
              </a:defRPr>
            </a:pPr>
            <a:r>
              <a:t>• LEARN Agents for Microsoft 365 Copilot Chat</a:t>
            </a:r>
          </a:p>
          <a:p>
            <a:pPr>
              <a:spcAft>
                <a:spcPts val="500"/>
              </a:spcAft>
              <a:defRPr sz="1200">
                <a:solidFill>
                  <a:srgbClr val="1B1B2C"/>
                </a:solidFill>
                <a:latin typeface="Segoe UI"/>
              </a:defRPr>
            </a:pPr>
            <a:r>
              <a:t>• LEARN Microsoft Scout setup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